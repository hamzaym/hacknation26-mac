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[0:00-0:15] Open cold. 'This is Haggl. You upload a hospital bill, and an AI picks up the phone, calls the billing department, and negotiates it down on a real call while you go touch grass. It is live right now at hagglfor.me. Let me show you why that matters, then show you it working.'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[0:15-0:50] 'None of this is a billing accident. 220 billion dollars of medical debt. Hospitals charge 3.4 times their own costs. Private plans pay 254 percent of Medicare for identical care. And roughly 85 million in-network claims got denied last year alone. Here is the part that should make you mad: when people actually negotiate, 93 percent get the bill reduced. Sixty-four percent never even ask. The fight works. Nobody fights.'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[0:50-1:15] 'Four steps, zero phone anxiety. Vision reads every line and code on the bill and the EOB. The engine finds the errors and arms the statutes. Then Haggl places a real call to patient financial services and negotiates the balance down live, while you do literally anything else.'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[1:15-1:45] 'Two lanes, one loop. You upload, confirm the plan, watch live if you want to, and get the report. In between, Haggl parses and flags with vision, builds a deterministic dossier and ladder, places the real calls with a voice that can only speak tool-served numbers, and audits every claim after the call. Every dashed line is a handoff you can see in the product.'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[1:45-2:45] The money beat. 'Watch the number move. It starts at 4,287. The agent finds a duplicate X-ray and it drops to 3,875, which reconciles the bill against the EOB exactly. It cites the hospital's own benchmark and the rep counters at 2,400. It offers a paid-in-full settlement and closes at 1,650, under the ceiling the code set. Sixty-two percent off, one live call, every step caused by a flag the engine computed.'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[2:45-3:20] 'This is the part judges should push on. Code computes every number, threshold, and legal claim, walks the ladder, sets the floors and targets, and audits the call afterward. The model just listens and talks. It cannot say a number it was not served. And the number it serves is devastating because it is the hospital's own: their posted cash price is 2,633. Their own insurers pay 999. Both public, both on the call.'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[3:20-3:50] 'We tell this story on purpose. A tool-less version of our agent once invented a CPT code on a real call. That is why the honesty boundary exists: four webhook tools, numbers only from tools, and a computed audit that reconciles every claim after every call. We did not build a demo that cannot fail. We built a system that catches it when it does.'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[3:50-4:15] 'The stack is deliberately boring and the data is deliberately real. Next.js, FastAPI, Supabase realtime, ElevenLabs on the phone over Twilio, OpenAI vision for parsing. Benchmarks run on Mass General's real published price file, 159,000 rows. And everything specific to medical bills is one YAML file. Moving quotes, contractors, auto repair: same engine, different config.'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[4:15-4:40] 'Pricing is simple: a quarter of what we actually save you, capped at two thousand per bill. Nothing upfront, nothing if we save you nothing. On Maya's bill the math is right there: we saved 2,637, our fee is 659.25, she keeps 1,977.75. You see that exact math before you ever pay anything.'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[4:40-5:00] Close. 'Four of us built this: product and engine, UX, data, personas and voice. The QR codes go to our LinkedIns. It is live right now, it places real calls, and it already settled Maya's bill for 62 percent off. Your medical bill just met its match. hagglfor.me.'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463040" cy="365760"/>
          </a:xfrm>
          <a:prstGeom prst="rect">
            <a:avLst/>
          </a:prstGeom>
          <a:noFill/>
        </p:spPr>
        <p:txBody>
          <a:bodyPr wrap="square" anchor="t" lIns="0" rIns="0" tIns="0" bIns="0">
            <a:spAutoFit/>
          </a:bodyPr>
          <a:lstStyle/>
          <a:p>
            <a:pPr algn="l">
              <a:lnSpc>
                <a:spcPct val="100000"/>
              </a:lnSpc>
            </a:pPr>
            <a:r>
              <a:rPr sz="1700" b="1" lang="en-US">
                <a:solidFill>
                  <a:srgbClr val="1A1410"/>
                </a:solidFill>
                <a:latin typeface="Avenir Next"/>
              </a:rPr>
              <a:t>Haggl</a:t>
            </a:r>
          </a:p>
        </p:txBody>
      </p:sp>
      <p:sp>
        <p:nvSpPr>
          <p:cNvPr id="4" name="Rounded Rectangle 3"/>
          <p:cNvSpPr/>
          <p:nvPr/>
        </p:nvSpPr>
        <p:spPr>
          <a:xfrm rot="20520000">
            <a:off x="580644" y="461772"/>
            <a:ext cx="192024" cy="50292"/>
          </a:xfrm>
          <a:prstGeom prst="roundRect">
            <a:avLst>
              <a:gd name="adj" fmla="val 50000"/>
            </a:avLst>
          </a:prstGeom>
          <a:solidFill>
            <a:srgbClr val="E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881360" y="365760"/>
            <a:ext cx="1005840" cy="274320"/>
          </a:xfrm>
          <a:prstGeom prst="rect">
            <a:avLst/>
          </a:prstGeom>
          <a:noFill/>
        </p:spPr>
        <p:txBody>
          <a:bodyPr wrap="square" anchor="t" lIns="0" rIns="0" tIns="0" bIns="0">
            <a:spAutoFit/>
          </a:bodyPr>
          <a:lstStyle/>
          <a:p>
            <a:pPr algn="r">
              <a:lnSpc>
                <a:spcPct val="100000"/>
              </a:lnSpc>
            </a:pPr>
            <a:r>
              <a:rPr sz="1100" b="1" lang="en-US">
                <a:solidFill>
                  <a:srgbClr val="1A1410"/>
                </a:solidFill>
                <a:latin typeface="Menlo"/>
              </a:rPr>
              <a:t>01</a:t>
            </a:r>
            <a:r>
              <a:rPr sz="1100" b="0" lang="en-US">
                <a:solidFill>
                  <a:srgbClr val="A69C91"/>
                </a:solidFill>
                <a:latin typeface="Menlo"/>
              </a:rPr>
              <a:t> / 10</a:t>
            </a:r>
          </a:p>
        </p:txBody>
      </p:sp>
      <p:sp>
        <p:nvSpPr>
          <p:cNvPr id="6" name="Rectangle 5"/>
          <p:cNvSpPr/>
          <p:nvPr/>
        </p:nvSpPr>
        <p:spPr>
          <a:xfrm>
            <a:off x="0" y="6807200"/>
            <a:ext cx="1219169" cy="50800"/>
          </a:xfrm>
          <a:prstGeom prst="rect">
            <a:avLst/>
          </a:prstGeom>
          <a:solidFill>
            <a:srgbClr val="E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960120"/>
            <a:ext cx="2788920" cy="310896"/>
          </a:xfrm>
          <a:prstGeom prst="roundRect">
            <a:avLst>
              <a:gd name="adj" fmla="val 50000"/>
            </a:avLst>
          </a:prstGeom>
          <a:solidFill>
            <a:srgbClr val="1A14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32688" y="1083564"/>
            <a:ext cx="64008" cy="64008"/>
          </a:xfrm>
          <a:prstGeom prst="roundRect">
            <a:avLst>
              <a:gd name="adj" fmla="val 50000"/>
            </a:avLst>
          </a:prstGeom>
          <a:solidFill>
            <a:srgbClr val="E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1019556"/>
            <a:ext cx="2606040" cy="219456"/>
          </a:xfrm>
          <a:prstGeom prst="rect">
            <a:avLst/>
          </a:prstGeom>
          <a:noFill/>
        </p:spPr>
        <p:txBody>
          <a:bodyPr wrap="none" anchor="t" lIns="0" rIns="0" tIns="0" bIns="0">
            <a:spAutoFit/>
          </a:bodyPr>
          <a:lstStyle/>
          <a:p>
            <a:pPr algn="l">
              <a:lnSpc>
                <a:spcPct val="100000"/>
              </a:lnSpc>
            </a:pPr>
            <a:r>
              <a:rPr sz="950" b="0" lang="en-US">
                <a:solidFill>
                  <a:srgbClr val="FCE3D8"/>
                </a:solidFill>
                <a:latin typeface="Menlo"/>
              </a:rPr>
              <a:t>AI voice agent · real phone calls</a:t>
            </a:r>
          </a:p>
        </p:txBody>
      </p:sp>
      <p:sp>
        <p:nvSpPr>
          <p:cNvPr id="10" name="TextBox 9"/>
          <p:cNvSpPr txBox="1"/>
          <p:nvPr/>
        </p:nvSpPr>
        <p:spPr>
          <a:xfrm>
            <a:off x="749808" y="1417320"/>
            <a:ext cx="6858000" cy="1737360"/>
          </a:xfrm>
          <a:prstGeom prst="rect">
            <a:avLst/>
          </a:prstGeom>
          <a:noFill/>
        </p:spPr>
        <p:txBody>
          <a:bodyPr wrap="square" anchor="t" lIns="0" rIns="0" tIns="0" bIns="0">
            <a:spAutoFit/>
          </a:bodyPr>
          <a:lstStyle/>
          <a:p>
            <a:pPr algn="l">
              <a:lnSpc>
                <a:spcPct val="100000"/>
              </a:lnSpc>
            </a:pPr>
            <a:r>
              <a:rPr sz="10400" b="1" lang="en-US">
                <a:solidFill>
                  <a:srgbClr val="1A1410"/>
                </a:solidFill>
                <a:latin typeface="Avenir Next"/>
              </a:rPr>
              <a:t>Haggl</a:t>
            </a:r>
          </a:p>
        </p:txBody>
      </p:sp>
      <p:sp>
        <p:nvSpPr>
          <p:cNvPr id="11" name="Rounded Rectangle 10"/>
          <p:cNvSpPr/>
          <p:nvPr/>
        </p:nvSpPr>
        <p:spPr>
          <a:xfrm rot="20520000">
            <a:off x="896112" y="2487168"/>
            <a:ext cx="777240" cy="192024"/>
          </a:xfrm>
          <a:prstGeom prst="roundRect">
            <a:avLst>
              <a:gd name="adj" fmla="val 50000"/>
            </a:avLst>
          </a:prstGeom>
          <a:solidFill>
            <a:srgbClr val="E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310128"/>
            <a:ext cx="8778240" cy="1097280"/>
          </a:xfrm>
          <a:prstGeom prst="rect">
            <a:avLst/>
          </a:prstGeom>
          <a:noFill/>
        </p:spPr>
        <p:txBody>
          <a:bodyPr wrap="square" anchor="t" lIns="0" rIns="0" tIns="0" bIns="0">
            <a:spAutoFit/>
          </a:bodyPr>
          <a:lstStyle/>
          <a:p>
            <a:pPr algn="l">
              <a:lnSpc>
                <a:spcPct val="115000"/>
              </a:lnSpc>
            </a:pPr>
            <a:r>
              <a:rPr sz="2500" b="1" lang="en-US">
                <a:solidFill>
                  <a:srgbClr val="1A1410"/>
                </a:solidFill>
                <a:latin typeface="Avenir Next"/>
              </a:rPr>
              <a:t>an AI advocate that reads your hospital bill</a:t>
            </a:r>
          </a:p>
          <a:p>
            <a:pPr algn="l">
              <a:lnSpc>
                <a:spcPct val="115000"/>
              </a:lnSpc>
            </a:pPr>
            <a:r>
              <a:rPr sz="2500" b="1" lang="en-US">
                <a:solidFill>
                  <a:srgbClr val="1A1410"/>
                </a:solidFill>
                <a:latin typeface="Avenir Next"/>
              </a:rPr>
              <a:t>and talks the price </a:t>
            </a:r>
            <a:r>
              <a:rPr sz="2500" b="1" lang="en-US">
                <a:solidFill>
                  <a:srgbClr val="EF6B45"/>
                </a:solidFill>
                <a:latin typeface="Avenir Next"/>
              </a:rPr>
              <a:t>down</a:t>
            </a:r>
            <a:r>
              <a:rPr sz="2500" b="1" lang="en-US">
                <a:solidFill>
                  <a:srgbClr val="1A1410"/>
                </a:solidFill>
                <a:latin typeface="Avenir Next"/>
              </a:rPr>
              <a:t> on a live call.</a:t>
            </a:r>
          </a:p>
        </p:txBody>
      </p:sp>
      <p:sp>
        <p:nvSpPr>
          <p:cNvPr id="13" name="TextBox 12"/>
          <p:cNvSpPr txBox="1"/>
          <p:nvPr/>
        </p:nvSpPr>
        <p:spPr>
          <a:xfrm>
            <a:off x="822960" y="6126480"/>
            <a:ext cx="2743200" cy="274320"/>
          </a:xfrm>
          <a:prstGeom prst="rect">
            <a:avLst/>
          </a:prstGeom>
          <a:noFill/>
        </p:spPr>
        <p:txBody>
          <a:bodyPr wrap="square" anchor="t" lIns="0" rIns="0" tIns="0" bIns="0">
            <a:spAutoFit/>
          </a:bodyPr>
          <a:lstStyle/>
          <a:p>
            <a:pPr algn="l">
              <a:lnSpc>
                <a:spcPct val="100000"/>
              </a:lnSpc>
            </a:pPr>
            <a:r>
              <a:rPr sz="1300" b="0" lang="en-US">
                <a:solidFill>
                  <a:srgbClr val="6B6058"/>
                </a:solidFill>
                <a:latin typeface="Menlo"/>
              </a:rPr>
              <a:t>hagglfor.me</a:t>
            </a:r>
          </a:p>
        </p:txBody>
      </p:sp>
      <p:sp>
        <p:nvSpPr>
          <p:cNvPr id="14" name="TextBox 13"/>
          <p:cNvSpPr txBox="1"/>
          <p:nvPr/>
        </p:nvSpPr>
        <p:spPr>
          <a:xfrm>
            <a:off x="7818120" y="4224528"/>
            <a:ext cx="3877056" cy="228600"/>
          </a:xfrm>
          <a:prstGeom prst="rect">
            <a:avLst/>
          </a:prstGeom>
          <a:noFill/>
        </p:spPr>
        <p:txBody>
          <a:bodyPr wrap="square" anchor="t" lIns="0" rIns="0" tIns="0" bIns="0">
            <a:spAutoFit/>
          </a:bodyPr>
          <a:lstStyle/>
          <a:p>
            <a:pPr algn="ctr">
              <a:lnSpc>
                <a:spcPct val="100000"/>
              </a:lnSpc>
            </a:pPr>
            <a:r>
              <a:rPr sz="900" b="0" lang="en-US">
                <a:solidFill>
                  <a:srgbClr val="EF6B45"/>
                </a:solidFill>
                <a:latin typeface="Menlo"/>
              </a:rPr>
              <a:t>FIND US ON LINKEDIN</a:t>
            </a:r>
          </a:p>
        </p:txBody>
      </p:sp>
      <p:pic>
        <p:nvPicPr>
          <p:cNvPr id="15" name="Picture 14" descr="hamza.png"/>
          <p:cNvPicPr>
            <a:picLocks noChangeAspect="1"/>
          </p:cNvPicPr>
          <p:nvPr/>
        </p:nvPicPr>
        <p:blipFill>
          <a:blip r:embed="rId2"/>
          <a:stretch>
            <a:fillRect/>
          </a:stretch>
        </p:blipFill>
        <p:spPr>
          <a:xfrm>
            <a:off x="7818120" y="4553712"/>
            <a:ext cx="777240" cy="777240"/>
          </a:xfrm>
          <a:prstGeom prst="rect">
            <a:avLst/>
          </a:prstGeom>
        </p:spPr>
      </p:pic>
      <p:sp>
        <p:nvSpPr>
          <p:cNvPr id="16" name="TextBox 15"/>
          <p:cNvSpPr txBox="1"/>
          <p:nvPr/>
        </p:nvSpPr>
        <p:spPr>
          <a:xfrm>
            <a:off x="7635240" y="5367528"/>
            <a:ext cx="1143000" cy="228600"/>
          </a:xfrm>
          <a:prstGeom prst="rect">
            <a:avLst/>
          </a:prstGeom>
          <a:noFill/>
        </p:spPr>
        <p:txBody>
          <a:bodyPr wrap="square" anchor="t" lIns="0" rIns="0" tIns="0" bIns="0">
            <a:spAutoFit/>
          </a:bodyPr>
          <a:lstStyle/>
          <a:p>
            <a:pPr algn="ctr">
              <a:lnSpc>
                <a:spcPct val="100000"/>
              </a:lnSpc>
            </a:pPr>
            <a:r>
              <a:rPr sz="900" b="0" lang="en-US">
                <a:solidFill>
                  <a:srgbClr val="6B6058"/>
                </a:solidFill>
                <a:latin typeface="Menlo"/>
              </a:rPr>
              <a:t>Hamza</a:t>
            </a:r>
          </a:p>
        </p:txBody>
      </p:sp>
      <p:pic>
        <p:nvPicPr>
          <p:cNvPr id="17" name="Picture 16" descr="susy.png"/>
          <p:cNvPicPr>
            <a:picLocks noChangeAspect="1"/>
          </p:cNvPicPr>
          <p:nvPr/>
        </p:nvPicPr>
        <p:blipFill>
          <a:blip r:embed="rId3"/>
          <a:stretch>
            <a:fillRect/>
          </a:stretch>
        </p:blipFill>
        <p:spPr>
          <a:xfrm>
            <a:off x="8851392" y="4553712"/>
            <a:ext cx="777240" cy="777240"/>
          </a:xfrm>
          <a:prstGeom prst="rect">
            <a:avLst/>
          </a:prstGeom>
        </p:spPr>
      </p:pic>
      <p:sp>
        <p:nvSpPr>
          <p:cNvPr id="18" name="TextBox 17"/>
          <p:cNvSpPr txBox="1"/>
          <p:nvPr/>
        </p:nvSpPr>
        <p:spPr>
          <a:xfrm>
            <a:off x="8668512" y="5367528"/>
            <a:ext cx="1143000" cy="228600"/>
          </a:xfrm>
          <a:prstGeom prst="rect">
            <a:avLst/>
          </a:prstGeom>
          <a:noFill/>
        </p:spPr>
        <p:txBody>
          <a:bodyPr wrap="square" anchor="t" lIns="0" rIns="0" tIns="0" bIns="0">
            <a:spAutoFit/>
          </a:bodyPr>
          <a:lstStyle/>
          <a:p>
            <a:pPr algn="ctr">
              <a:lnSpc>
                <a:spcPct val="100000"/>
              </a:lnSpc>
            </a:pPr>
            <a:r>
              <a:rPr sz="900" b="0" lang="en-US">
                <a:solidFill>
                  <a:srgbClr val="6B6058"/>
                </a:solidFill>
                <a:latin typeface="Menlo"/>
              </a:rPr>
              <a:t>Susy</a:t>
            </a:r>
          </a:p>
        </p:txBody>
      </p:sp>
      <p:pic>
        <p:nvPicPr>
          <p:cNvPr id="19" name="Picture 18" descr="jay.png"/>
          <p:cNvPicPr>
            <a:picLocks noChangeAspect="1"/>
          </p:cNvPicPr>
          <p:nvPr/>
        </p:nvPicPr>
        <p:blipFill>
          <a:blip r:embed="rId4"/>
          <a:stretch>
            <a:fillRect/>
          </a:stretch>
        </p:blipFill>
        <p:spPr>
          <a:xfrm>
            <a:off x="9884664" y="4553712"/>
            <a:ext cx="777240" cy="777240"/>
          </a:xfrm>
          <a:prstGeom prst="rect">
            <a:avLst/>
          </a:prstGeom>
        </p:spPr>
      </p:pic>
      <p:sp>
        <p:nvSpPr>
          <p:cNvPr id="20" name="TextBox 19"/>
          <p:cNvSpPr txBox="1"/>
          <p:nvPr/>
        </p:nvSpPr>
        <p:spPr>
          <a:xfrm>
            <a:off x="9701784" y="5367528"/>
            <a:ext cx="1143000" cy="228600"/>
          </a:xfrm>
          <a:prstGeom prst="rect">
            <a:avLst/>
          </a:prstGeom>
          <a:noFill/>
        </p:spPr>
        <p:txBody>
          <a:bodyPr wrap="square" anchor="t" lIns="0" rIns="0" tIns="0" bIns="0">
            <a:spAutoFit/>
          </a:bodyPr>
          <a:lstStyle/>
          <a:p>
            <a:pPr algn="ctr">
              <a:lnSpc>
                <a:spcPct val="100000"/>
              </a:lnSpc>
            </a:pPr>
            <a:r>
              <a:rPr sz="900" b="0" lang="en-US">
                <a:solidFill>
                  <a:srgbClr val="6B6058"/>
                </a:solidFill>
                <a:latin typeface="Menlo"/>
              </a:rPr>
              <a:t>Jay</a:t>
            </a:r>
          </a:p>
        </p:txBody>
      </p:sp>
      <p:pic>
        <p:nvPicPr>
          <p:cNvPr id="21" name="Picture 20" descr="karshin.png"/>
          <p:cNvPicPr>
            <a:picLocks noChangeAspect="1"/>
          </p:cNvPicPr>
          <p:nvPr/>
        </p:nvPicPr>
        <p:blipFill>
          <a:blip r:embed="rId5"/>
          <a:stretch>
            <a:fillRect/>
          </a:stretch>
        </p:blipFill>
        <p:spPr>
          <a:xfrm>
            <a:off x="10917936" y="4553712"/>
            <a:ext cx="777240" cy="777240"/>
          </a:xfrm>
          <a:prstGeom prst="rect">
            <a:avLst/>
          </a:prstGeom>
        </p:spPr>
      </p:pic>
      <p:sp>
        <p:nvSpPr>
          <p:cNvPr id="22" name="TextBox 21"/>
          <p:cNvSpPr txBox="1"/>
          <p:nvPr/>
        </p:nvSpPr>
        <p:spPr>
          <a:xfrm>
            <a:off x="10735056" y="5367528"/>
            <a:ext cx="1143000" cy="228600"/>
          </a:xfrm>
          <a:prstGeom prst="rect">
            <a:avLst/>
          </a:prstGeom>
          <a:noFill/>
        </p:spPr>
        <p:txBody>
          <a:bodyPr wrap="square" anchor="t" lIns="0" rIns="0" tIns="0" bIns="0">
            <a:spAutoFit/>
          </a:bodyPr>
          <a:lstStyle/>
          <a:p>
            <a:pPr algn="ctr">
              <a:lnSpc>
                <a:spcPct val="100000"/>
              </a:lnSpc>
            </a:pPr>
            <a:r>
              <a:rPr sz="900" b="0" lang="en-US">
                <a:solidFill>
                  <a:srgbClr val="6B6058"/>
                </a:solidFill>
                <a:latin typeface="Menlo"/>
              </a:rPr>
              <a:t>Kar Shin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463040" cy="365760"/>
          </a:xfrm>
          <a:prstGeom prst="rect">
            <a:avLst/>
          </a:prstGeom>
          <a:noFill/>
        </p:spPr>
        <p:txBody>
          <a:bodyPr wrap="square" anchor="t" lIns="0" rIns="0" tIns="0" bIns="0">
            <a:spAutoFit/>
          </a:bodyPr>
          <a:lstStyle/>
          <a:p>
            <a:pPr algn="l">
              <a:lnSpc>
                <a:spcPct val="100000"/>
              </a:lnSpc>
            </a:pPr>
            <a:r>
              <a:rPr sz="1700" b="1" lang="en-US">
                <a:solidFill>
                  <a:srgbClr val="1A1410"/>
                </a:solidFill>
                <a:latin typeface="Avenir Next"/>
              </a:rPr>
              <a:t>Haggl</a:t>
            </a:r>
          </a:p>
        </p:txBody>
      </p:sp>
      <p:sp>
        <p:nvSpPr>
          <p:cNvPr id="4" name="Rounded Rectangle 3"/>
          <p:cNvSpPr/>
          <p:nvPr/>
        </p:nvSpPr>
        <p:spPr>
          <a:xfrm rot="20520000">
            <a:off x="580644" y="461772"/>
            <a:ext cx="192024" cy="50292"/>
          </a:xfrm>
          <a:prstGeom prst="roundRect">
            <a:avLst>
              <a:gd name="adj" fmla="val 50000"/>
            </a:avLst>
          </a:prstGeom>
          <a:solidFill>
            <a:srgbClr val="E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881360" y="365760"/>
            <a:ext cx="1005840" cy="274320"/>
          </a:xfrm>
          <a:prstGeom prst="rect">
            <a:avLst/>
          </a:prstGeom>
          <a:noFill/>
        </p:spPr>
        <p:txBody>
          <a:bodyPr wrap="square" anchor="t" lIns="0" rIns="0" tIns="0" bIns="0">
            <a:spAutoFit/>
          </a:bodyPr>
          <a:lstStyle/>
          <a:p>
            <a:pPr algn="r">
              <a:lnSpc>
                <a:spcPct val="100000"/>
              </a:lnSpc>
            </a:pPr>
            <a:r>
              <a:rPr sz="1100" b="1" lang="en-US">
                <a:solidFill>
                  <a:srgbClr val="1A1410"/>
                </a:solidFill>
                <a:latin typeface="Menlo"/>
              </a:rPr>
              <a:t>02</a:t>
            </a:r>
            <a:r>
              <a:rPr sz="1100" b="0" lang="en-US">
                <a:solidFill>
                  <a:srgbClr val="A69C91"/>
                </a:solidFill>
                <a:latin typeface="Menlo"/>
              </a:rPr>
              <a:t> / 10</a:t>
            </a:r>
          </a:p>
        </p:txBody>
      </p:sp>
      <p:sp>
        <p:nvSpPr>
          <p:cNvPr id="6" name="Rectangle 5"/>
          <p:cNvSpPr/>
          <p:nvPr/>
        </p:nvSpPr>
        <p:spPr>
          <a:xfrm>
            <a:off x="0" y="6807200"/>
            <a:ext cx="2438339" cy="50800"/>
          </a:xfrm>
          <a:prstGeom prst="rect">
            <a:avLst/>
          </a:prstGeom>
          <a:solidFill>
            <a:srgbClr val="E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777240"/>
            <a:ext cx="8229600" cy="274320"/>
          </a:xfrm>
          <a:prstGeom prst="rect">
            <a:avLst/>
          </a:prstGeom>
          <a:noFill/>
        </p:spPr>
        <p:txBody>
          <a:bodyPr wrap="square" anchor="t" lIns="0" rIns="0" tIns="0" bIns="0">
            <a:spAutoFit/>
          </a:bodyPr>
          <a:lstStyle/>
          <a:p>
            <a:pPr algn="l">
              <a:lnSpc>
                <a:spcPct val="100000"/>
              </a:lnSpc>
            </a:pPr>
            <a:r>
              <a:rPr sz="1100" b="0" lang="en-US">
                <a:solidFill>
                  <a:srgbClr val="EF6B45"/>
                </a:solidFill>
                <a:latin typeface="Menlo"/>
              </a:rPr>
              <a:t>THE PROBLEM</a:t>
            </a:r>
          </a:p>
        </p:txBody>
      </p:sp>
      <p:sp>
        <p:nvSpPr>
          <p:cNvPr id="8" name="TextBox 7"/>
          <p:cNvSpPr txBox="1"/>
          <p:nvPr/>
        </p:nvSpPr>
        <p:spPr>
          <a:xfrm>
            <a:off x="822960" y="1097280"/>
            <a:ext cx="10058400" cy="1371600"/>
          </a:xfrm>
          <a:prstGeom prst="rect">
            <a:avLst/>
          </a:prstGeom>
          <a:noFill/>
        </p:spPr>
        <p:txBody>
          <a:bodyPr wrap="square" anchor="t" lIns="0" rIns="0" tIns="0" bIns="0">
            <a:spAutoFit/>
          </a:bodyPr>
          <a:lstStyle/>
          <a:p>
            <a:pPr algn="l">
              <a:lnSpc>
                <a:spcPct val="105000"/>
              </a:lnSpc>
            </a:pPr>
            <a:r>
              <a:rPr sz="3800" b="1" lang="en-US">
                <a:solidFill>
                  <a:srgbClr val="1A1410"/>
                </a:solidFill>
                <a:latin typeface="Avenir Next"/>
              </a:rPr>
              <a:t>The prices aren't fixed.</a:t>
            </a:r>
          </a:p>
          <a:p>
            <a:pPr algn="l">
              <a:lnSpc>
                <a:spcPct val="105000"/>
              </a:lnSpc>
            </a:pPr>
            <a:r>
              <a:rPr sz="3800" b="1" lang="en-US">
                <a:solidFill>
                  <a:srgbClr val="1A1410"/>
                </a:solidFill>
                <a:latin typeface="Avenir Next"/>
              </a:rPr>
              <a:t>Almost nobody asks.</a:t>
            </a:r>
          </a:p>
        </p:txBody>
      </p:sp>
      <p:sp>
        <p:nvSpPr>
          <p:cNvPr id="9" name="TextBox 8"/>
          <p:cNvSpPr txBox="1"/>
          <p:nvPr/>
        </p:nvSpPr>
        <p:spPr>
          <a:xfrm>
            <a:off x="822960" y="2395728"/>
            <a:ext cx="2542032" cy="566928"/>
          </a:xfrm>
          <a:prstGeom prst="rect">
            <a:avLst/>
          </a:prstGeom>
          <a:noFill/>
        </p:spPr>
        <p:txBody>
          <a:bodyPr wrap="square" anchor="t" lIns="0" rIns="0" tIns="0" bIns="0">
            <a:spAutoFit/>
          </a:bodyPr>
          <a:lstStyle/>
          <a:p>
            <a:pPr algn="l">
              <a:lnSpc>
                <a:spcPct val="100000"/>
              </a:lnSpc>
            </a:pPr>
            <a:r>
              <a:rPr sz="3600" b="0" lang="en-US">
                <a:solidFill>
                  <a:srgbClr val="1A1410"/>
                </a:solidFill>
                <a:latin typeface="Menlo"/>
              </a:rPr>
              <a:t>$220B</a:t>
            </a:r>
          </a:p>
        </p:txBody>
      </p:sp>
      <p:sp>
        <p:nvSpPr>
          <p:cNvPr id="10" name="Rounded Rectangle 9"/>
          <p:cNvSpPr/>
          <p:nvPr/>
        </p:nvSpPr>
        <p:spPr>
          <a:xfrm>
            <a:off x="841248" y="2999232"/>
            <a:ext cx="347472" cy="41148"/>
          </a:xfrm>
          <a:prstGeom prst="roundRect">
            <a:avLst>
              <a:gd name="adj" fmla="val 50000"/>
            </a:avLst>
          </a:prstGeom>
          <a:solidFill>
            <a:srgbClr val="E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154680"/>
            <a:ext cx="2542032" cy="777240"/>
          </a:xfrm>
          <a:prstGeom prst="rect">
            <a:avLst/>
          </a:prstGeom>
          <a:noFill/>
        </p:spPr>
        <p:txBody>
          <a:bodyPr wrap="square" anchor="t" lIns="0" rIns="0" tIns="0" bIns="0">
            <a:spAutoFit/>
          </a:bodyPr>
          <a:lstStyle/>
          <a:p>
            <a:pPr algn="l">
              <a:lnSpc>
                <a:spcPct val="125000"/>
              </a:lnSpc>
            </a:pPr>
            <a:r>
              <a:rPr sz="1150" b="0" lang="en-US">
                <a:solidFill>
                  <a:srgbClr val="6B6058"/>
                </a:solidFill>
                <a:latin typeface="Avenir Next"/>
              </a:rPr>
              <a:t>in medical debt held by Americans today</a:t>
            </a:r>
          </a:p>
        </p:txBody>
      </p:sp>
      <p:sp>
        <p:nvSpPr>
          <p:cNvPr id="12" name="TextBox 11"/>
          <p:cNvSpPr txBox="1"/>
          <p:nvPr/>
        </p:nvSpPr>
        <p:spPr>
          <a:xfrm>
            <a:off x="822960" y="3950208"/>
            <a:ext cx="2542032" cy="411480"/>
          </a:xfrm>
          <a:prstGeom prst="rect">
            <a:avLst/>
          </a:prstGeom>
          <a:noFill/>
        </p:spPr>
        <p:txBody>
          <a:bodyPr wrap="square" anchor="t" lIns="0" rIns="0" tIns="0" bIns="0">
            <a:spAutoFit/>
          </a:bodyPr>
          <a:lstStyle/>
          <a:p>
            <a:pPr algn="l">
              <a:lnSpc>
                <a:spcPct val="120000"/>
              </a:lnSpc>
            </a:pPr>
            <a:r>
              <a:rPr sz="800" b="0" lang="en-US">
                <a:solidFill>
                  <a:srgbClr val="A69C91"/>
                </a:solidFill>
                <a:latin typeface="Menlo"/>
              </a:rPr>
              <a:t>KFF, 2025</a:t>
            </a:r>
          </a:p>
        </p:txBody>
      </p:sp>
      <p:sp>
        <p:nvSpPr>
          <p:cNvPr id="13" name="TextBox 12"/>
          <p:cNvSpPr txBox="1"/>
          <p:nvPr/>
        </p:nvSpPr>
        <p:spPr>
          <a:xfrm>
            <a:off x="3657600" y="2395728"/>
            <a:ext cx="2542032" cy="566928"/>
          </a:xfrm>
          <a:prstGeom prst="rect">
            <a:avLst/>
          </a:prstGeom>
          <a:noFill/>
        </p:spPr>
        <p:txBody>
          <a:bodyPr wrap="square" anchor="t" lIns="0" rIns="0" tIns="0" bIns="0">
            <a:spAutoFit/>
          </a:bodyPr>
          <a:lstStyle/>
          <a:p>
            <a:pPr algn="l">
              <a:lnSpc>
                <a:spcPct val="100000"/>
              </a:lnSpc>
            </a:pPr>
            <a:r>
              <a:rPr sz="3600" b="0" lang="en-US">
                <a:solidFill>
                  <a:srgbClr val="1A1410"/>
                </a:solidFill>
                <a:latin typeface="Menlo"/>
              </a:rPr>
              <a:t>3.4×</a:t>
            </a:r>
          </a:p>
        </p:txBody>
      </p:sp>
      <p:sp>
        <p:nvSpPr>
          <p:cNvPr id="14" name="Rounded Rectangle 13"/>
          <p:cNvSpPr/>
          <p:nvPr/>
        </p:nvSpPr>
        <p:spPr>
          <a:xfrm>
            <a:off x="3675888" y="2999232"/>
            <a:ext cx="347472" cy="41148"/>
          </a:xfrm>
          <a:prstGeom prst="roundRect">
            <a:avLst>
              <a:gd name="adj" fmla="val 50000"/>
            </a:avLst>
          </a:prstGeom>
          <a:solidFill>
            <a:srgbClr val="E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0" y="3154680"/>
            <a:ext cx="2542032" cy="777240"/>
          </a:xfrm>
          <a:prstGeom prst="rect">
            <a:avLst/>
          </a:prstGeom>
          <a:noFill/>
        </p:spPr>
        <p:txBody>
          <a:bodyPr wrap="square" anchor="t" lIns="0" rIns="0" tIns="0" bIns="0">
            <a:spAutoFit/>
          </a:bodyPr>
          <a:lstStyle/>
          <a:p>
            <a:pPr algn="l">
              <a:lnSpc>
                <a:spcPct val="125000"/>
              </a:lnSpc>
            </a:pPr>
            <a:r>
              <a:rPr sz="1150" b="0" lang="en-US">
                <a:solidFill>
                  <a:srgbClr val="6B6058"/>
                </a:solidFill>
                <a:latin typeface="Avenir Next"/>
              </a:rPr>
              <a:t>average hospital markup over Medicare cost, up to 12.6× at outliers</a:t>
            </a:r>
          </a:p>
        </p:txBody>
      </p:sp>
      <p:sp>
        <p:nvSpPr>
          <p:cNvPr id="16" name="TextBox 15"/>
          <p:cNvSpPr txBox="1"/>
          <p:nvPr/>
        </p:nvSpPr>
        <p:spPr>
          <a:xfrm>
            <a:off x="3657600" y="3950208"/>
            <a:ext cx="2542032" cy="411480"/>
          </a:xfrm>
          <a:prstGeom prst="rect">
            <a:avLst/>
          </a:prstGeom>
          <a:noFill/>
        </p:spPr>
        <p:txBody>
          <a:bodyPr wrap="square" anchor="t" lIns="0" rIns="0" tIns="0" bIns="0">
            <a:spAutoFit/>
          </a:bodyPr>
          <a:lstStyle/>
          <a:p>
            <a:pPr algn="l">
              <a:lnSpc>
                <a:spcPct val="120000"/>
              </a:lnSpc>
            </a:pPr>
            <a:r>
              <a:rPr sz="800" b="0" lang="en-US">
                <a:solidFill>
                  <a:srgbClr val="A69C91"/>
                </a:solidFill>
                <a:latin typeface="Menlo"/>
              </a:rPr>
              <a:t>Bai &amp; Anderson, Health Affairs 2015</a:t>
            </a:r>
          </a:p>
        </p:txBody>
      </p:sp>
      <p:sp>
        <p:nvSpPr>
          <p:cNvPr id="17" name="TextBox 16"/>
          <p:cNvSpPr txBox="1"/>
          <p:nvPr/>
        </p:nvSpPr>
        <p:spPr>
          <a:xfrm>
            <a:off x="6492240" y="2395728"/>
            <a:ext cx="2542032" cy="566928"/>
          </a:xfrm>
          <a:prstGeom prst="rect">
            <a:avLst/>
          </a:prstGeom>
          <a:noFill/>
        </p:spPr>
        <p:txBody>
          <a:bodyPr wrap="square" anchor="t" lIns="0" rIns="0" tIns="0" bIns="0">
            <a:spAutoFit/>
          </a:bodyPr>
          <a:lstStyle/>
          <a:p>
            <a:pPr algn="l">
              <a:lnSpc>
                <a:spcPct val="100000"/>
              </a:lnSpc>
            </a:pPr>
            <a:r>
              <a:rPr sz="3600" b="0" lang="en-US">
                <a:solidFill>
                  <a:srgbClr val="1A1410"/>
                </a:solidFill>
                <a:latin typeface="Menlo"/>
              </a:rPr>
              <a:t>254%</a:t>
            </a:r>
          </a:p>
        </p:txBody>
      </p:sp>
      <p:sp>
        <p:nvSpPr>
          <p:cNvPr id="18" name="Rounded Rectangle 17"/>
          <p:cNvSpPr/>
          <p:nvPr/>
        </p:nvSpPr>
        <p:spPr>
          <a:xfrm>
            <a:off x="6510528" y="2999232"/>
            <a:ext cx="347472" cy="41148"/>
          </a:xfrm>
          <a:prstGeom prst="roundRect">
            <a:avLst>
              <a:gd name="adj" fmla="val 50000"/>
            </a:avLst>
          </a:prstGeom>
          <a:solidFill>
            <a:srgbClr val="E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154680"/>
            <a:ext cx="2542032" cy="777240"/>
          </a:xfrm>
          <a:prstGeom prst="rect">
            <a:avLst/>
          </a:prstGeom>
          <a:noFill/>
        </p:spPr>
        <p:txBody>
          <a:bodyPr wrap="square" anchor="t" lIns="0" rIns="0" tIns="0" bIns="0">
            <a:spAutoFit/>
          </a:bodyPr>
          <a:lstStyle/>
          <a:p>
            <a:pPr algn="l">
              <a:lnSpc>
                <a:spcPct val="125000"/>
              </a:lnSpc>
            </a:pPr>
            <a:r>
              <a:rPr sz="1150" b="0" lang="en-US">
                <a:solidFill>
                  <a:srgbClr val="6B6058"/>
                </a:solidFill>
                <a:latin typeface="Avenir Next"/>
              </a:rPr>
              <a:t>of Medicare rates, on average, paid by private insurers for the same care</a:t>
            </a:r>
          </a:p>
        </p:txBody>
      </p:sp>
      <p:sp>
        <p:nvSpPr>
          <p:cNvPr id="20" name="TextBox 19"/>
          <p:cNvSpPr txBox="1"/>
          <p:nvPr/>
        </p:nvSpPr>
        <p:spPr>
          <a:xfrm>
            <a:off x="6492240" y="3950208"/>
            <a:ext cx="2542032" cy="411480"/>
          </a:xfrm>
          <a:prstGeom prst="rect">
            <a:avLst/>
          </a:prstGeom>
          <a:noFill/>
        </p:spPr>
        <p:txBody>
          <a:bodyPr wrap="square" anchor="t" lIns="0" rIns="0" tIns="0" bIns="0">
            <a:spAutoFit/>
          </a:bodyPr>
          <a:lstStyle/>
          <a:p>
            <a:pPr algn="l">
              <a:lnSpc>
                <a:spcPct val="120000"/>
              </a:lnSpc>
            </a:pPr>
            <a:r>
              <a:rPr sz="800" b="0" lang="en-US">
                <a:solidFill>
                  <a:srgbClr val="A69C91"/>
                </a:solidFill>
                <a:latin typeface="Menlo"/>
              </a:rPr>
              <a:t>RAND Hospital Price Transparency Study, 2024</a:t>
            </a:r>
          </a:p>
        </p:txBody>
      </p:sp>
      <p:sp>
        <p:nvSpPr>
          <p:cNvPr id="21" name="TextBox 20"/>
          <p:cNvSpPr txBox="1"/>
          <p:nvPr/>
        </p:nvSpPr>
        <p:spPr>
          <a:xfrm>
            <a:off x="9326880" y="2395728"/>
            <a:ext cx="2542032" cy="566928"/>
          </a:xfrm>
          <a:prstGeom prst="rect">
            <a:avLst/>
          </a:prstGeom>
          <a:noFill/>
        </p:spPr>
        <p:txBody>
          <a:bodyPr wrap="square" anchor="t" lIns="0" rIns="0" tIns="0" bIns="0">
            <a:spAutoFit/>
          </a:bodyPr>
          <a:lstStyle/>
          <a:p>
            <a:pPr algn="l">
              <a:lnSpc>
                <a:spcPct val="100000"/>
              </a:lnSpc>
            </a:pPr>
            <a:r>
              <a:rPr sz="3600" b="0" lang="en-US">
                <a:solidFill>
                  <a:srgbClr val="EF6B45"/>
                </a:solidFill>
                <a:latin typeface="Menlo"/>
              </a:rPr>
              <a:t>49–80%</a:t>
            </a:r>
          </a:p>
        </p:txBody>
      </p:sp>
      <p:sp>
        <p:nvSpPr>
          <p:cNvPr id="22" name="Rounded Rectangle 21"/>
          <p:cNvSpPr/>
          <p:nvPr/>
        </p:nvSpPr>
        <p:spPr>
          <a:xfrm>
            <a:off x="9345168" y="2999232"/>
            <a:ext cx="347472" cy="41148"/>
          </a:xfrm>
          <a:prstGeom prst="roundRect">
            <a:avLst>
              <a:gd name="adj" fmla="val 50000"/>
            </a:avLst>
          </a:prstGeom>
          <a:solidFill>
            <a:srgbClr val="E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0" y="3154680"/>
            <a:ext cx="2542032" cy="777240"/>
          </a:xfrm>
          <a:prstGeom prst="rect">
            <a:avLst/>
          </a:prstGeom>
          <a:noFill/>
        </p:spPr>
        <p:txBody>
          <a:bodyPr wrap="square" anchor="t" lIns="0" rIns="0" tIns="0" bIns="0">
            <a:spAutoFit/>
          </a:bodyPr>
          <a:lstStyle/>
          <a:p>
            <a:pPr algn="l">
              <a:lnSpc>
                <a:spcPct val="125000"/>
              </a:lnSpc>
            </a:pPr>
            <a:r>
              <a:rPr sz="1150" b="0" lang="en-US">
                <a:solidFill>
                  <a:srgbClr val="6B6058"/>
                </a:solidFill>
                <a:latin typeface="Avenir Next"/>
              </a:rPr>
              <a:t>of medical bills are estimated to contain errors</a:t>
            </a:r>
          </a:p>
        </p:txBody>
      </p:sp>
      <p:sp>
        <p:nvSpPr>
          <p:cNvPr id="24" name="TextBox 23"/>
          <p:cNvSpPr txBox="1"/>
          <p:nvPr/>
        </p:nvSpPr>
        <p:spPr>
          <a:xfrm>
            <a:off x="9326880" y="3950208"/>
            <a:ext cx="2542032" cy="411480"/>
          </a:xfrm>
          <a:prstGeom prst="rect">
            <a:avLst/>
          </a:prstGeom>
          <a:noFill/>
        </p:spPr>
        <p:txBody>
          <a:bodyPr wrap="square" anchor="t" lIns="0" rIns="0" tIns="0" bIns="0">
            <a:spAutoFit/>
          </a:bodyPr>
          <a:lstStyle/>
          <a:p>
            <a:pPr algn="l">
              <a:lnSpc>
                <a:spcPct val="120000"/>
              </a:lnSpc>
            </a:pPr>
            <a:r>
              <a:rPr sz="800" b="0" lang="en-US">
                <a:solidFill>
                  <a:srgbClr val="A69C91"/>
                </a:solidFill>
                <a:latin typeface="Menlo"/>
              </a:rPr>
              <a:t>advocacy-industry estimate, directional</a:t>
            </a:r>
          </a:p>
        </p:txBody>
      </p:sp>
      <p:sp>
        <p:nvSpPr>
          <p:cNvPr id="25" name="Rounded Rectangle 24"/>
          <p:cNvSpPr/>
          <p:nvPr/>
        </p:nvSpPr>
        <p:spPr>
          <a:xfrm>
            <a:off x="822960" y="4572000"/>
            <a:ext cx="10543032" cy="1572768"/>
          </a:xfrm>
          <a:prstGeom prst="roundRect">
            <a:avLst>
              <a:gd name="adj" fmla="val 9000"/>
            </a:avLst>
          </a:prstGeom>
          <a:solidFill>
            <a:srgbClr val="FCE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43000" y="4864608"/>
            <a:ext cx="3794760" cy="822960"/>
          </a:xfrm>
          <a:prstGeom prst="rect">
            <a:avLst/>
          </a:prstGeom>
          <a:noFill/>
        </p:spPr>
        <p:txBody>
          <a:bodyPr wrap="square" anchor="t" lIns="0" rIns="0" tIns="0" bIns="0">
            <a:spAutoFit/>
          </a:bodyPr>
          <a:lstStyle/>
          <a:p>
            <a:pPr algn="l">
              <a:lnSpc>
                <a:spcPct val="112000"/>
              </a:lnSpc>
            </a:pPr>
            <a:r>
              <a:rPr sz="1650" b="1" lang="en-US">
                <a:solidFill>
                  <a:srgbClr val="1A1410"/>
                </a:solidFill>
                <a:latin typeface="Avenir Next"/>
              </a:rPr>
              <a:t>Here's the part that should make you mad</a:t>
            </a:r>
          </a:p>
        </p:txBody>
      </p:sp>
      <p:sp>
        <p:nvSpPr>
          <p:cNvPr id="27" name="TextBox 26"/>
          <p:cNvSpPr txBox="1"/>
          <p:nvPr/>
        </p:nvSpPr>
        <p:spPr>
          <a:xfrm>
            <a:off x="1143000" y="5596128"/>
            <a:ext cx="3794760" cy="457200"/>
          </a:xfrm>
          <a:prstGeom prst="rect">
            <a:avLst/>
          </a:prstGeom>
          <a:noFill/>
        </p:spPr>
        <p:txBody>
          <a:bodyPr wrap="square" anchor="t" lIns="0" rIns="0" tIns="0" bIns="0">
            <a:spAutoFit/>
          </a:bodyPr>
          <a:lstStyle/>
          <a:p>
            <a:pPr algn="l">
              <a:lnSpc>
                <a:spcPct val="100000"/>
              </a:lnSpc>
            </a:pPr>
            <a:r>
              <a:rPr sz="1100" b="0" lang="en-US">
                <a:solidFill>
                  <a:srgbClr val="6B6058"/>
                </a:solidFill>
                <a:latin typeface="Avenir Next"/>
              </a:rPr>
              <a:t>Asking almost always works. Almost nobody asks.</a:t>
            </a:r>
          </a:p>
        </p:txBody>
      </p:sp>
      <p:sp>
        <p:nvSpPr>
          <p:cNvPr id="28" name="TextBox 27"/>
          <p:cNvSpPr txBox="1"/>
          <p:nvPr/>
        </p:nvSpPr>
        <p:spPr>
          <a:xfrm>
            <a:off x="5138928" y="4809744"/>
            <a:ext cx="1938528" cy="457200"/>
          </a:xfrm>
          <a:prstGeom prst="rect">
            <a:avLst/>
          </a:prstGeom>
          <a:noFill/>
        </p:spPr>
        <p:txBody>
          <a:bodyPr wrap="square" anchor="t" lIns="0" rIns="0" tIns="0" bIns="0">
            <a:spAutoFit/>
          </a:bodyPr>
          <a:lstStyle/>
          <a:p>
            <a:pPr algn="l">
              <a:lnSpc>
                <a:spcPct val="100000"/>
              </a:lnSpc>
            </a:pPr>
            <a:r>
              <a:rPr sz="2400" b="0" lang="en-US">
                <a:solidFill>
                  <a:srgbClr val="EF6B45"/>
                </a:solidFill>
                <a:latin typeface="Menlo"/>
              </a:rPr>
              <a:t>93%</a:t>
            </a:r>
          </a:p>
        </p:txBody>
      </p:sp>
      <p:sp>
        <p:nvSpPr>
          <p:cNvPr id="29" name="TextBox 28"/>
          <p:cNvSpPr txBox="1"/>
          <p:nvPr/>
        </p:nvSpPr>
        <p:spPr>
          <a:xfrm>
            <a:off x="5138928" y="5303520"/>
            <a:ext cx="1938528" cy="566928"/>
          </a:xfrm>
          <a:prstGeom prst="rect">
            <a:avLst/>
          </a:prstGeom>
          <a:noFill/>
        </p:spPr>
        <p:txBody>
          <a:bodyPr wrap="square" anchor="t" lIns="0" rIns="0" tIns="0" bIns="0">
            <a:spAutoFit/>
          </a:bodyPr>
          <a:lstStyle/>
          <a:p>
            <a:pPr algn="l">
              <a:lnSpc>
                <a:spcPct val="120000"/>
              </a:lnSpc>
            </a:pPr>
            <a:r>
              <a:rPr sz="950" b="0" lang="en-US">
                <a:solidFill>
                  <a:srgbClr val="6B6058"/>
                </a:solidFill>
                <a:latin typeface="Avenir Next"/>
              </a:rPr>
              <a:t>of people who negotiate their bill get it reduced</a:t>
            </a:r>
          </a:p>
        </p:txBody>
      </p:sp>
      <p:sp>
        <p:nvSpPr>
          <p:cNvPr id="30" name="TextBox 29"/>
          <p:cNvSpPr txBox="1"/>
          <p:nvPr/>
        </p:nvSpPr>
        <p:spPr>
          <a:xfrm>
            <a:off x="5138928" y="5888736"/>
            <a:ext cx="1938528" cy="219456"/>
          </a:xfrm>
          <a:prstGeom prst="rect">
            <a:avLst/>
          </a:prstGeom>
          <a:noFill/>
        </p:spPr>
        <p:txBody>
          <a:bodyPr wrap="square" anchor="t" lIns="0" rIns="0" tIns="0" bIns="0">
            <a:spAutoFit/>
          </a:bodyPr>
          <a:lstStyle/>
          <a:p>
            <a:pPr algn="l">
              <a:lnSpc>
                <a:spcPct val="100000"/>
              </a:lnSpc>
            </a:pPr>
            <a:r>
              <a:rPr sz="750" b="0" lang="en-US">
                <a:solidFill>
                  <a:srgbClr val="A69C91"/>
                </a:solidFill>
                <a:latin typeface="Menlo"/>
              </a:rPr>
              <a:t>LendingTree, 2021</a:t>
            </a:r>
          </a:p>
        </p:txBody>
      </p:sp>
      <p:sp>
        <p:nvSpPr>
          <p:cNvPr id="31" name="TextBox 30"/>
          <p:cNvSpPr txBox="1"/>
          <p:nvPr/>
        </p:nvSpPr>
        <p:spPr>
          <a:xfrm>
            <a:off x="7278624" y="4809744"/>
            <a:ext cx="1938528" cy="457200"/>
          </a:xfrm>
          <a:prstGeom prst="rect">
            <a:avLst/>
          </a:prstGeom>
          <a:noFill/>
        </p:spPr>
        <p:txBody>
          <a:bodyPr wrap="square" anchor="t" lIns="0" rIns="0" tIns="0" bIns="0">
            <a:spAutoFit/>
          </a:bodyPr>
          <a:lstStyle/>
          <a:p>
            <a:pPr algn="l">
              <a:lnSpc>
                <a:spcPct val="100000"/>
              </a:lnSpc>
            </a:pPr>
            <a:r>
              <a:rPr sz="2400" b="0" lang="en-US">
                <a:solidFill>
                  <a:srgbClr val="EF6B45"/>
                </a:solidFill>
                <a:latin typeface="Menlo"/>
              </a:rPr>
              <a:t>78%</a:t>
            </a:r>
          </a:p>
        </p:txBody>
      </p:sp>
      <p:sp>
        <p:nvSpPr>
          <p:cNvPr id="32" name="TextBox 31"/>
          <p:cNvSpPr txBox="1"/>
          <p:nvPr/>
        </p:nvSpPr>
        <p:spPr>
          <a:xfrm>
            <a:off x="7278624" y="5303520"/>
            <a:ext cx="1938528" cy="566928"/>
          </a:xfrm>
          <a:prstGeom prst="rect">
            <a:avLst/>
          </a:prstGeom>
          <a:noFill/>
        </p:spPr>
        <p:txBody>
          <a:bodyPr wrap="square" anchor="t" lIns="0" rIns="0" tIns="0" bIns="0">
            <a:spAutoFit/>
          </a:bodyPr>
          <a:lstStyle/>
          <a:p>
            <a:pPr algn="l">
              <a:lnSpc>
                <a:spcPct val="120000"/>
              </a:lnSpc>
            </a:pPr>
            <a:r>
              <a:rPr sz="950" b="0" lang="en-US">
                <a:solidFill>
                  <a:srgbClr val="6B6058"/>
                </a:solidFill>
                <a:latin typeface="Avenir Next"/>
              </a:rPr>
              <a:t>who dispute a charge get it reduced or removed</a:t>
            </a:r>
          </a:p>
        </p:txBody>
      </p:sp>
      <p:sp>
        <p:nvSpPr>
          <p:cNvPr id="33" name="TextBox 32"/>
          <p:cNvSpPr txBox="1"/>
          <p:nvPr/>
        </p:nvSpPr>
        <p:spPr>
          <a:xfrm>
            <a:off x="7278624" y="5888736"/>
            <a:ext cx="1938528" cy="219456"/>
          </a:xfrm>
          <a:prstGeom prst="rect">
            <a:avLst/>
          </a:prstGeom>
          <a:noFill/>
        </p:spPr>
        <p:txBody>
          <a:bodyPr wrap="square" anchor="t" lIns="0" rIns="0" tIns="0" bIns="0">
            <a:spAutoFit/>
          </a:bodyPr>
          <a:lstStyle/>
          <a:p>
            <a:pPr algn="l">
              <a:lnSpc>
                <a:spcPct val="100000"/>
              </a:lnSpc>
            </a:pPr>
            <a:r>
              <a:rPr sz="750" b="0" lang="en-US">
                <a:solidFill>
                  <a:srgbClr val="A69C91"/>
                </a:solidFill>
                <a:latin typeface="Menlo"/>
              </a:rPr>
              <a:t>AKASA/YouGov, 2022</a:t>
            </a:r>
          </a:p>
        </p:txBody>
      </p:sp>
      <p:sp>
        <p:nvSpPr>
          <p:cNvPr id="34" name="TextBox 33"/>
          <p:cNvSpPr txBox="1"/>
          <p:nvPr/>
        </p:nvSpPr>
        <p:spPr>
          <a:xfrm>
            <a:off x="9418320" y="4809744"/>
            <a:ext cx="1938528" cy="457200"/>
          </a:xfrm>
          <a:prstGeom prst="rect">
            <a:avLst/>
          </a:prstGeom>
          <a:noFill/>
        </p:spPr>
        <p:txBody>
          <a:bodyPr wrap="square" anchor="t" lIns="0" rIns="0" tIns="0" bIns="0">
            <a:spAutoFit/>
          </a:bodyPr>
          <a:lstStyle/>
          <a:p>
            <a:pPr algn="l">
              <a:lnSpc>
                <a:spcPct val="100000"/>
              </a:lnSpc>
            </a:pPr>
            <a:r>
              <a:rPr sz="2400" b="0" lang="en-US">
                <a:solidFill>
                  <a:srgbClr val="EF6B45"/>
                </a:solidFill>
                <a:latin typeface="Menlo"/>
              </a:rPr>
              <a:t>64%</a:t>
            </a:r>
          </a:p>
        </p:txBody>
      </p:sp>
      <p:sp>
        <p:nvSpPr>
          <p:cNvPr id="35" name="TextBox 34"/>
          <p:cNvSpPr txBox="1"/>
          <p:nvPr/>
        </p:nvSpPr>
        <p:spPr>
          <a:xfrm>
            <a:off x="9418320" y="5303520"/>
            <a:ext cx="1938528" cy="566928"/>
          </a:xfrm>
          <a:prstGeom prst="rect">
            <a:avLst/>
          </a:prstGeom>
          <a:noFill/>
        </p:spPr>
        <p:txBody>
          <a:bodyPr wrap="square" anchor="t" lIns="0" rIns="0" tIns="0" bIns="0">
            <a:spAutoFit/>
          </a:bodyPr>
          <a:lstStyle/>
          <a:p>
            <a:pPr algn="l">
              <a:lnSpc>
                <a:spcPct val="120000"/>
              </a:lnSpc>
            </a:pPr>
            <a:r>
              <a:rPr sz="950" b="0" lang="en-US">
                <a:solidFill>
                  <a:srgbClr val="6B6058"/>
                </a:solidFill>
                <a:latin typeface="Avenir Next"/>
              </a:rPr>
              <a:t>of Americans never even challenge a bill they suspect is wrong</a:t>
            </a:r>
          </a:p>
        </p:txBody>
      </p:sp>
      <p:sp>
        <p:nvSpPr>
          <p:cNvPr id="36" name="TextBox 35"/>
          <p:cNvSpPr txBox="1"/>
          <p:nvPr/>
        </p:nvSpPr>
        <p:spPr>
          <a:xfrm>
            <a:off x="9418320" y="5888736"/>
            <a:ext cx="1938528" cy="219456"/>
          </a:xfrm>
          <a:prstGeom prst="rect">
            <a:avLst/>
          </a:prstGeom>
          <a:noFill/>
        </p:spPr>
        <p:txBody>
          <a:bodyPr wrap="square" anchor="t" lIns="0" rIns="0" tIns="0" bIns="0">
            <a:spAutoFit/>
          </a:bodyPr>
          <a:lstStyle/>
          <a:p>
            <a:pPr algn="l">
              <a:lnSpc>
                <a:spcPct val="100000"/>
              </a:lnSpc>
            </a:pPr>
            <a:r>
              <a:rPr sz="750" b="0" lang="en-US">
                <a:solidFill>
                  <a:srgbClr val="A69C91"/>
                </a:solidFill>
                <a:latin typeface="Menlo"/>
              </a:rPr>
              <a:t>AKASA/YouGov, 2022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463040" cy="365760"/>
          </a:xfrm>
          <a:prstGeom prst="rect">
            <a:avLst/>
          </a:prstGeom>
          <a:noFill/>
        </p:spPr>
        <p:txBody>
          <a:bodyPr wrap="square" anchor="t" lIns="0" rIns="0" tIns="0" bIns="0">
            <a:spAutoFit/>
          </a:bodyPr>
          <a:lstStyle/>
          <a:p>
            <a:pPr algn="l">
              <a:lnSpc>
                <a:spcPct val="100000"/>
              </a:lnSpc>
            </a:pPr>
            <a:r>
              <a:rPr sz="1700" b="1" lang="en-US">
                <a:solidFill>
                  <a:srgbClr val="1A1410"/>
                </a:solidFill>
                <a:latin typeface="Avenir Next"/>
              </a:rPr>
              <a:t>Haggl</a:t>
            </a:r>
          </a:p>
        </p:txBody>
      </p:sp>
      <p:sp>
        <p:nvSpPr>
          <p:cNvPr id="4" name="Rounded Rectangle 3"/>
          <p:cNvSpPr/>
          <p:nvPr/>
        </p:nvSpPr>
        <p:spPr>
          <a:xfrm rot="20520000">
            <a:off x="580644" y="461772"/>
            <a:ext cx="192024" cy="50292"/>
          </a:xfrm>
          <a:prstGeom prst="roundRect">
            <a:avLst>
              <a:gd name="adj" fmla="val 50000"/>
            </a:avLst>
          </a:prstGeom>
          <a:solidFill>
            <a:srgbClr val="E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881360" y="365760"/>
            <a:ext cx="1005840" cy="274320"/>
          </a:xfrm>
          <a:prstGeom prst="rect">
            <a:avLst/>
          </a:prstGeom>
          <a:noFill/>
        </p:spPr>
        <p:txBody>
          <a:bodyPr wrap="square" anchor="t" lIns="0" rIns="0" tIns="0" bIns="0">
            <a:spAutoFit/>
          </a:bodyPr>
          <a:lstStyle/>
          <a:p>
            <a:pPr algn="r">
              <a:lnSpc>
                <a:spcPct val="100000"/>
              </a:lnSpc>
            </a:pPr>
            <a:r>
              <a:rPr sz="1100" b="1" lang="en-US">
                <a:solidFill>
                  <a:srgbClr val="1A1410"/>
                </a:solidFill>
                <a:latin typeface="Menlo"/>
              </a:rPr>
              <a:t>03</a:t>
            </a:r>
            <a:r>
              <a:rPr sz="1100" b="0" lang="en-US">
                <a:solidFill>
                  <a:srgbClr val="A69C91"/>
                </a:solidFill>
                <a:latin typeface="Menlo"/>
              </a:rPr>
              <a:t> / 10</a:t>
            </a:r>
          </a:p>
        </p:txBody>
      </p:sp>
      <p:sp>
        <p:nvSpPr>
          <p:cNvPr id="6" name="Rectangle 5"/>
          <p:cNvSpPr/>
          <p:nvPr/>
        </p:nvSpPr>
        <p:spPr>
          <a:xfrm>
            <a:off x="0" y="6807200"/>
            <a:ext cx="3657508" cy="50800"/>
          </a:xfrm>
          <a:prstGeom prst="rect">
            <a:avLst/>
          </a:prstGeom>
          <a:solidFill>
            <a:srgbClr val="E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777240"/>
            <a:ext cx="8229600" cy="274320"/>
          </a:xfrm>
          <a:prstGeom prst="rect">
            <a:avLst/>
          </a:prstGeom>
          <a:noFill/>
        </p:spPr>
        <p:txBody>
          <a:bodyPr wrap="square" anchor="t" lIns="0" rIns="0" tIns="0" bIns="0">
            <a:spAutoFit/>
          </a:bodyPr>
          <a:lstStyle/>
          <a:p>
            <a:pPr algn="l">
              <a:lnSpc>
                <a:spcPct val="100000"/>
              </a:lnSpc>
            </a:pPr>
            <a:r>
              <a:rPr sz="1100" b="0" lang="en-US">
                <a:solidFill>
                  <a:srgbClr val="EF6B45"/>
                </a:solidFill>
                <a:latin typeface="Menlo"/>
              </a:rPr>
              <a:t>WHAT HAGGL DOES</a:t>
            </a:r>
          </a:p>
        </p:txBody>
      </p:sp>
      <p:sp>
        <p:nvSpPr>
          <p:cNvPr id="8" name="TextBox 7"/>
          <p:cNvSpPr txBox="1"/>
          <p:nvPr/>
        </p:nvSpPr>
        <p:spPr>
          <a:xfrm>
            <a:off x="822960" y="1097280"/>
            <a:ext cx="5852160" cy="1234440"/>
          </a:xfrm>
          <a:prstGeom prst="rect">
            <a:avLst/>
          </a:prstGeom>
          <a:noFill/>
        </p:spPr>
        <p:txBody>
          <a:bodyPr wrap="square" anchor="t" lIns="0" rIns="0" tIns="0" bIns="0">
            <a:spAutoFit/>
          </a:bodyPr>
          <a:lstStyle/>
          <a:p>
            <a:pPr algn="l">
              <a:lnSpc>
                <a:spcPct val="108000"/>
              </a:lnSpc>
            </a:pPr>
            <a:r>
              <a:rPr sz="3000" b="1" lang="en-US">
                <a:solidFill>
                  <a:srgbClr val="1A1410"/>
                </a:solidFill>
                <a:latin typeface="Avenir Next"/>
              </a:rPr>
              <a:t>You upload the bill.</a:t>
            </a:r>
          </a:p>
          <a:p>
            <a:pPr algn="l">
              <a:lnSpc>
                <a:spcPct val="108000"/>
              </a:lnSpc>
            </a:pPr>
            <a:r>
              <a:rPr sz="3000" b="1" lang="en-US">
                <a:solidFill>
                  <a:srgbClr val="1A1410"/>
                </a:solidFill>
                <a:latin typeface="Avenir Next"/>
              </a:rPr>
              <a:t>Haggl works the phones.</a:t>
            </a:r>
          </a:p>
        </p:txBody>
      </p:sp>
      <p:sp>
        <p:nvSpPr>
          <p:cNvPr id="9" name="Rounded Rectangle 8"/>
          <p:cNvSpPr/>
          <p:nvPr/>
        </p:nvSpPr>
        <p:spPr>
          <a:xfrm>
            <a:off x="822960" y="2395728"/>
            <a:ext cx="310896" cy="310896"/>
          </a:xfrm>
          <a:prstGeom prst="roundRect">
            <a:avLst>
              <a:gd name="adj" fmla="val 50000"/>
            </a:avLst>
          </a:prstGeom>
          <a:solidFill>
            <a:srgbClr val="FCE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436876"/>
            <a:ext cx="310896" cy="237744"/>
          </a:xfrm>
          <a:prstGeom prst="rect">
            <a:avLst/>
          </a:prstGeom>
          <a:noFill/>
        </p:spPr>
        <p:txBody>
          <a:bodyPr wrap="square" anchor="t" lIns="0" rIns="0" tIns="0" bIns="0">
            <a:spAutoFit/>
          </a:bodyPr>
          <a:lstStyle/>
          <a:p>
            <a:pPr algn="ctr">
              <a:lnSpc>
                <a:spcPct val="100000"/>
              </a:lnSpc>
            </a:pPr>
            <a:r>
              <a:rPr sz="1200" b="1" lang="en-US">
                <a:solidFill>
                  <a:srgbClr val="D95A34"/>
                </a:solidFill>
                <a:latin typeface="Menlo"/>
              </a:rPr>
              <a:t>1</a:t>
            </a:r>
          </a:p>
        </p:txBody>
      </p:sp>
      <p:sp>
        <p:nvSpPr>
          <p:cNvPr id="11" name="TextBox 10"/>
          <p:cNvSpPr txBox="1"/>
          <p:nvPr/>
        </p:nvSpPr>
        <p:spPr>
          <a:xfrm>
            <a:off x="1298448" y="2368296"/>
            <a:ext cx="4754880" cy="868680"/>
          </a:xfrm>
          <a:prstGeom prst="rect">
            <a:avLst/>
          </a:prstGeom>
          <a:noFill/>
        </p:spPr>
        <p:txBody>
          <a:bodyPr wrap="square" anchor="t" lIns="0" rIns="0" tIns="0" bIns="0">
            <a:spAutoFit/>
          </a:bodyPr>
          <a:lstStyle/>
          <a:p>
            <a:pPr algn="l">
              <a:lnSpc>
                <a:spcPct val="118000"/>
              </a:lnSpc>
              <a:spcAft>
                <a:spcPts val="200"/>
              </a:spcAft>
            </a:pPr>
            <a:r>
              <a:rPr sz="1350" b="1" lang="en-US">
                <a:solidFill>
                  <a:srgbClr val="1A1410"/>
                </a:solidFill>
                <a:latin typeface="Avenir Next"/>
              </a:rPr>
              <a:t>Reads the bill.</a:t>
            </a:r>
          </a:p>
          <a:p>
            <a:pPr algn="l">
              <a:lnSpc>
                <a:spcPct val="118000"/>
              </a:lnSpc>
              <a:spcAft>
                <a:spcPts val="200"/>
              </a:spcAft>
            </a:pPr>
            <a:r>
              <a:rPr sz="1150" b="0" lang="en-US">
                <a:solidFill>
                  <a:srgbClr val="6B6058"/>
                </a:solidFill>
                <a:latin typeface="Avenir Next"/>
              </a:rPr>
              <a:t>OpenAI vision parses every line, CPT code, and the EOB.</a:t>
            </a:r>
          </a:p>
        </p:txBody>
      </p:sp>
      <p:sp>
        <p:nvSpPr>
          <p:cNvPr id="12" name="Rounded Rectangle 11"/>
          <p:cNvSpPr/>
          <p:nvPr/>
        </p:nvSpPr>
        <p:spPr>
          <a:xfrm>
            <a:off x="822960" y="3328416"/>
            <a:ext cx="310896" cy="310896"/>
          </a:xfrm>
          <a:prstGeom prst="roundRect">
            <a:avLst>
              <a:gd name="adj" fmla="val 50000"/>
            </a:avLst>
          </a:prstGeom>
          <a:solidFill>
            <a:srgbClr val="FCE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69564"/>
            <a:ext cx="310896" cy="237744"/>
          </a:xfrm>
          <a:prstGeom prst="rect">
            <a:avLst/>
          </a:prstGeom>
          <a:noFill/>
        </p:spPr>
        <p:txBody>
          <a:bodyPr wrap="square" anchor="t" lIns="0" rIns="0" tIns="0" bIns="0">
            <a:spAutoFit/>
          </a:bodyPr>
          <a:lstStyle/>
          <a:p>
            <a:pPr algn="ctr">
              <a:lnSpc>
                <a:spcPct val="100000"/>
              </a:lnSpc>
            </a:pPr>
            <a:r>
              <a:rPr sz="1200" b="1" lang="en-US">
                <a:solidFill>
                  <a:srgbClr val="D95A34"/>
                </a:solidFill>
                <a:latin typeface="Menlo"/>
              </a:rPr>
              <a:t>2</a:t>
            </a:r>
          </a:p>
        </p:txBody>
      </p:sp>
      <p:sp>
        <p:nvSpPr>
          <p:cNvPr id="14" name="TextBox 13"/>
          <p:cNvSpPr txBox="1"/>
          <p:nvPr/>
        </p:nvSpPr>
        <p:spPr>
          <a:xfrm>
            <a:off x="1298448" y="3300984"/>
            <a:ext cx="4754880" cy="868680"/>
          </a:xfrm>
          <a:prstGeom prst="rect">
            <a:avLst/>
          </a:prstGeom>
          <a:noFill/>
        </p:spPr>
        <p:txBody>
          <a:bodyPr wrap="square" anchor="t" lIns="0" rIns="0" tIns="0" bIns="0">
            <a:spAutoFit/>
          </a:bodyPr>
          <a:lstStyle/>
          <a:p>
            <a:pPr algn="l">
              <a:lnSpc>
                <a:spcPct val="118000"/>
              </a:lnSpc>
              <a:spcAft>
                <a:spcPts val="200"/>
              </a:spcAft>
            </a:pPr>
            <a:r>
              <a:rPr sz="1350" b="1" lang="en-US">
                <a:solidFill>
                  <a:srgbClr val="1A1410"/>
                </a:solidFill>
                <a:latin typeface="Avenir Next"/>
              </a:rPr>
              <a:t>Finds the errors and the law on your side.</a:t>
            </a:r>
          </a:p>
          <a:p>
            <a:pPr algn="l">
              <a:lnSpc>
                <a:spcPct val="118000"/>
              </a:lnSpc>
              <a:spcAft>
                <a:spcPts val="200"/>
              </a:spcAft>
            </a:pPr>
            <a:r>
              <a:rPr sz="1150" b="0" lang="en-US">
                <a:solidFill>
                  <a:srgbClr val="6B6058"/>
                </a:solidFill>
                <a:latin typeface="Avenir Next"/>
              </a:rPr>
              <a:t>Duplicates, upcodes, and the statutes that cap what you owe.</a:t>
            </a:r>
          </a:p>
        </p:txBody>
      </p:sp>
      <p:sp>
        <p:nvSpPr>
          <p:cNvPr id="15" name="Rounded Rectangle 14"/>
          <p:cNvSpPr/>
          <p:nvPr/>
        </p:nvSpPr>
        <p:spPr>
          <a:xfrm>
            <a:off x="822960" y="4261104"/>
            <a:ext cx="310896" cy="310896"/>
          </a:xfrm>
          <a:prstGeom prst="roundRect">
            <a:avLst>
              <a:gd name="adj" fmla="val 50000"/>
            </a:avLst>
          </a:prstGeom>
          <a:solidFill>
            <a:srgbClr val="FCE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4302252"/>
            <a:ext cx="310896" cy="237744"/>
          </a:xfrm>
          <a:prstGeom prst="rect">
            <a:avLst/>
          </a:prstGeom>
          <a:noFill/>
        </p:spPr>
        <p:txBody>
          <a:bodyPr wrap="square" anchor="t" lIns="0" rIns="0" tIns="0" bIns="0">
            <a:spAutoFit/>
          </a:bodyPr>
          <a:lstStyle/>
          <a:p>
            <a:pPr algn="ctr">
              <a:lnSpc>
                <a:spcPct val="100000"/>
              </a:lnSpc>
            </a:pPr>
            <a:r>
              <a:rPr sz="1200" b="1" lang="en-US">
                <a:solidFill>
                  <a:srgbClr val="D95A34"/>
                </a:solidFill>
                <a:latin typeface="Menlo"/>
              </a:rPr>
              <a:t>3</a:t>
            </a:r>
          </a:p>
        </p:txBody>
      </p:sp>
      <p:sp>
        <p:nvSpPr>
          <p:cNvPr id="17" name="TextBox 16"/>
          <p:cNvSpPr txBox="1"/>
          <p:nvPr/>
        </p:nvSpPr>
        <p:spPr>
          <a:xfrm>
            <a:off x="1298448" y="4233672"/>
            <a:ext cx="4754880" cy="868680"/>
          </a:xfrm>
          <a:prstGeom prst="rect">
            <a:avLst/>
          </a:prstGeom>
          <a:noFill/>
        </p:spPr>
        <p:txBody>
          <a:bodyPr wrap="square" anchor="t" lIns="0" rIns="0" tIns="0" bIns="0">
            <a:spAutoFit/>
          </a:bodyPr>
          <a:lstStyle/>
          <a:p>
            <a:pPr algn="l">
              <a:lnSpc>
                <a:spcPct val="118000"/>
              </a:lnSpc>
              <a:spcAft>
                <a:spcPts val="200"/>
              </a:spcAft>
            </a:pPr>
            <a:r>
              <a:rPr sz="1350" b="1" lang="en-US">
                <a:solidFill>
                  <a:srgbClr val="1A1410"/>
                </a:solidFill>
                <a:latin typeface="Avenir Next"/>
              </a:rPr>
              <a:t>Calls the billing office.</a:t>
            </a:r>
          </a:p>
          <a:p>
            <a:pPr algn="l">
              <a:lnSpc>
                <a:spcPct val="118000"/>
              </a:lnSpc>
              <a:spcAft>
                <a:spcPts val="200"/>
              </a:spcAft>
            </a:pPr>
            <a:r>
              <a:rPr sz="1150" b="0" lang="en-US">
                <a:solidFill>
                  <a:srgbClr val="6B6058"/>
                </a:solidFill>
                <a:latin typeface="Avenir Next"/>
              </a:rPr>
              <a:t>A real phone call to patient financial services, for you.</a:t>
            </a:r>
          </a:p>
        </p:txBody>
      </p:sp>
      <p:sp>
        <p:nvSpPr>
          <p:cNvPr id="18" name="Rounded Rectangle 17"/>
          <p:cNvSpPr/>
          <p:nvPr/>
        </p:nvSpPr>
        <p:spPr>
          <a:xfrm>
            <a:off x="822960" y="5193792"/>
            <a:ext cx="310896" cy="310896"/>
          </a:xfrm>
          <a:prstGeom prst="roundRect">
            <a:avLst>
              <a:gd name="adj" fmla="val 50000"/>
            </a:avLst>
          </a:prstGeom>
          <a:solidFill>
            <a:srgbClr val="FCE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5234940"/>
            <a:ext cx="310896" cy="237744"/>
          </a:xfrm>
          <a:prstGeom prst="rect">
            <a:avLst/>
          </a:prstGeom>
          <a:noFill/>
        </p:spPr>
        <p:txBody>
          <a:bodyPr wrap="square" anchor="t" lIns="0" rIns="0" tIns="0" bIns="0">
            <a:spAutoFit/>
          </a:bodyPr>
          <a:lstStyle/>
          <a:p>
            <a:pPr algn="ctr">
              <a:lnSpc>
                <a:spcPct val="100000"/>
              </a:lnSpc>
            </a:pPr>
            <a:r>
              <a:rPr sz="1200" b="1" lang="en-US">
                <a:solidFill>
                  <a:srgbClr val="D95A34"/>
                </a:solidFill>
                <a:latin typeface="Menlo"/>
              </a:rPr>
              <a:t>4</a:t>
            </a:r>
          </a:p>
        </p:txBody>
      </p:sp>
      <p:sp>
        <p:nvSpPr>
          <p:cNvPr id="20" name="TextBox 19"/>
          <p:cNvSpPr txBox="1"/>
          <p:nvPr/>
        </p:nvSpPr>
        <p:spPr>
          <a:xfrm>
            <a:off x="1298448" y="5166360"/>
            <a:ext cx="4754880" cy="868680"/>
          </a:xfrm>
          <a:prstGeom prst="rect">
            <a:avLst/>
          </a:prstGeom>
          <a:noFill/>
        </p:spPr>
        <p:txBody>
          <a:bodyPr wrap="square" anchor="t" lIns="0" rIns="0" tIns="0" bIns="0">
            <a:spAutoFit/>
          </a:bodyPr>
          <a:lstStyle/>
          <a:p>
            <a:pPr algn="l">
              <a:lnSpc>
                <a:spcPct val="118000"/>
              </a:lnSpc>
              <a:spcAft>
                <a:spcPts val="200"/>
              </a:spcAft>
            </a:pPr>
            <a:r>
              <a:rPr sz="1350" b="1" lang="en-US">
                <a:solidFill>
                  <a:srgbClr val="1A1410"/>
                </a:solidFill>
                <a:latin typeface="Avenir Next"/>
              </a:rPr>
              <a:t>Talks the price down, live.</a:t>
            </a:r>
          </a:p>
          <a:p>
            <a:pPr algn="l">
              <a:lnSpc>
                <a:spcPct val="118000"/>
              </a:lnSpc>
              <a:spcAft>
                <a:spcPts val="200"/>
              </a:spcAft>
            </a:pPr>
            <a:r>
              <a:rPr sz="1150" b="0" lang="en-US">
                <a:solidFill>
                  <a:srgbClr val="6B6058"/>
                </a:solidFill>
                <a:latin typeface="Avenir Next"/>
              </a:rPr>
              <a:t>It works the balance while you get on with your day.</a:t>
            </a:r>
          </a:p>
        </p:txBody>
      </p:sp>
      <p:sp>
        <p:nvSpPr>
          <p:cNvPr id="21" name="TextBox 20"/>
          <p:cNvSpPr txBox="1"/>
          <p:nvPr/>
        </p:nvSpPr>
        <p:spPr>
          <a:xfrm>
            <a:off x="6537960" y="2121408"/>
            <a:ext cx="4846320" cy="228600"/>
          </a:xfrm>
          <a:prstGeom prst="rect">
            <a:avLst/>
          </a:prstGeom>
          <a:noFill/>
        </p:spPr>
        <p:txBody>
          <a:bodyPr wrap="square" anchor="t" lIns="0" rIns="0" tIns="0" bIns="0">
            <a:spAutoFit/>
          </a:bodyPr>
          <a:lstStyle/>
          <a:p>
            <a:pPr algn="l">
              <a:lnSpc>
                <a:spcPct val="100000"/>
              </a:lnSpc>
            </a:pPr>
            <a:r>
              <a:rPr sz="900" b="0" lang="en-US">
                <a:solidFill>
                  <a:srgbClr val="A69C91"/>
                </a:solidFill>
                <a:latin typeface="Menlo"/>
              </a:rPr>
              <a:t>PRODUCT · YOUR BILLS</a:t>
            </a:r>
          </a:p>
        </p:txBody>
      </p:sp>
      <p:sp>
        <p:nvSpPr>
          <p:cNvPr id="22" name="Rounded Rectangle 21"/>
          <p:cNvSpPr/>
          <p:nvPr/>
        </p:nvSpPr>
        <p:spPr>
          <a:xfrm>
            <a:off x="6537960" y="2395728"/>
            <a:ext cx="4828032" cy="2606040"/>
          </a:xfrm>
          <a:prstGeom prst="roundRect">
            <a:avLst>
              <a:gd name="adj" fmla="val 6000"/>
            </a:avLst>
          </a:prstGeom>
          <a:solidFill>
            <a:srgbClr val="FFFFFF"/>
          </a:solidFill>
          <a:ln w="9525">
            <a:solidFill>
              <a:srgbClr val="E8DDD3"/>
            </a:solidFill>
          </a:ln>
          <a:effectLst/>
          <a:effectLst>
            <a:outerShdw blurRad="90000" dist="30000" dir="5400000" rotWithShape="0">
              <a:srgbClr val="241A15">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665976" y="2500884"/>
            <a:ext cx="64008" cy="64008"/>
          </a:xfrm>
          <a:prstGeom prst="roundRect">
            <a:avLst>
              <a:gd name="adj" fmla="val 50000"/>
            </a:avLst>
          </a:prstGeom>
          <a:solidFill>
            <a:srgbClr val="E8D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793992" y="2500884"/>
            <a:ext cx="64008" cy="64008"/>
          </a:xfrm>
          <a:prstGeom prst="roundRect">
            <a:avLst>
              <a:gd name="adj" fmla="val 50000"/>
            </a:avLst>
          </a:prstGeom>
          <a:solidFill>
            <a:srgbClr val="E8D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922008" y="2500884"/>
            <a:ext cx="64008" cy="64008"/>
          </a:xfrm>
          <a:prstGeom prst="roundRect">
            <a:avLst>
              <a:gd name="adj" fmla="val 50000"/>
            </a:avLst>
          </a:prstGeom>
          <a:solidFill>
            <a:srgbClr val="E8D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04888" y="2464308"/>
            <a:ext cx="4096512" cy="182880"/>
          </a:xfrm>
          <a:prstGeom prst="rect">
            <a:avLst/>
          </a:prstGeom>
          <a:noFill/>
        </p:spPr>
        <p:txBody>
          <a:bodyPr wrap="square" anchor="t" lIns="0" rIns="0" tIns="0" bIns="0">
            <a:spAutoFit/>
          </a:bodyPr>
          <a:lstStyle/>
          <a:p>
            <a:pPr algn="l">
              <a:lnSpc>
                <a:spcPct val="100000"/>
              </a:lnSpc>
            </a:pPr>
            <a:r>
              <a:rPr sz="850" b="0" lang="en-US">
                <a:solidFill>
                  <a:srgbClr val="A69C91"/>
                </a:solidFill>
                <a:latin typeface="Menlo"/>
              </a:rPr>
              <a:t>hagglfor.me/bills</a:t>
            </a:r>
          </a:p>
        </p:txBody>
      </p:sp>
      <p:pic>
        <p:nvPicPr>
          <p:cNvPr id="27" name="Picture 26" descr="bills.png"/>
          <p:cNvPicPr>
            <a:picLocks noChangeAspect="1"/>
          </p:cNvPicPr>
          <p:nvPr/>
        </p:nvPicPr>
        <p:blipFill>
          <a:blip r:embed="rId2"/>
          <a:srcRect b="22727"/>
          <a:stretch>
            <a:fillRect/>
          </a:stretch>
        </p:blipFill>
        <p:spPr>
          <a:xfrm>
            <a:off x="6557010" y="2670048"/>
            <a:ext cx="4789932" cy="233172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463040" cy="365760"/>
          </a:xfrm>
          <a:prstGeom prst="rect">
            <a:avLst/>
          </a:prstGeom>
          <a:noFill/>
        </p:spPr>
        <p:txBody>
          <a:bodyPr wrap="square" anchor="t" lIns="0" rIns="0" tIns="0" bIns="0">
            <a:spAutoFit/>
          </a:bodyPr>
          <a:lstStyle/>
          <a:p>
            <a:pPr algn="l">
              <a:lnSpc>
                <a:spcPct val="100000"/>
              </a:lnSpc>
            </a:pPr>
            <a:r>
              <a:rPr sz="1700" b="1" lang="en-US">
                <a:solidFill>
                  <a:srgbClr val="1A1410"/>
                </a:solidFill>
                <a:latin typeface="Avenir Next"/>
              </a:rPr>
              <a:t>Haggl</a:t>
            </a:r>
          </a:p>
        </p:txBody>
      </p:sp>
      <p:sp>
        <p:nvSpPr>
          <p:cNvPr id="4" name="Rounded Rectangle 3"/>
          <p:cNvSpPr/>
          <p:nvPr/>
        </p:nvSpPr>
        <p:spPr>
          <a:xfrm rot="20520000">
            <a:off x="580644" y="461772"/>
            <a:ext cx="192024" cy="50292"/>
          </a:xfrm>
          <a:prstGeom prst="roundRect">
            <a:avLst>
              <a:gd name="adj" fmla="val 50000"/>
            </a:avLst>
          </a:prstGeom>
          <a:solidFill>
            <a:srgbClr val="E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881360" y="365760"/>
            <a:ext cx="1005840" cy="274320"/>
          </a:xfrm>
          <a:prstGeom prst="rect">
            <a:avLst/>
          </a:prstGeom>
          <a:noFill/>
        </p:spPr>
        <p:txBody>
          <a:bodyPr wrap="square" anchor="t" lIns="0" rIns="0" tIns="0" bIns="0">
            <a:spAutoFit/>
          </a:bodyPr>
          <a:lstStyle/>
          <a:p>
            <a:pPr algn="r">
              <a:lnSpc>
                <a:spcPct val="100000"/>
              </a:lnSpc>
            </a:pPr>
            <a:r>
              <a:rPr sz="1100" b="1" lang="en-US">
                <a:solidFill>
                  <a:srgbClr val="1A1410"/>
                </a:solidFill>
                <a:latin typeface="Menlo"/>
              </a:rPr>
              <a:t>04</a:t>
            </a:r>
            <a:r>
              <a:rPr sz="1100" b="0" lang="en-US">
                <a:solidFill>
                  <a:srgbClr val="A69C91"/>
                </a:solidFill>
                <a:latin typeface="Menlo"/>
              </a:rPr>
              <a:t> / 10</a:t>
            </a:r>
          </a:p>
        </p:txBody>
      </p:sp>
      <p:sp>
        <p:nvSpPr>
          <p:cNvPr id="6" name="Rectangle 5"/>
          <p:cNvSpPr/>
          <p:nvPr/>
        </p:nvSpPr>
        <p:spPr>
          <a:xfrm>
            <a:off x="0" y="6807200"/>
            <a:ext cx="4876678" cy="50800"/>
          </a:xfrm>
          <a:prstGeom prst="rect">
            <a:avLst/>
          </a:prstGeom>
          <a:solidFill>
            <a:srgbClr val="E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777240"/>
            <a:ext cx="8229600" cy="274320"/>
          </a:xfrm>
          <a:prstGeom prst="rect">
            <a:avLst/>
          </a:prstGeom>
          <a:noFill/>
        </p:spPr>
        <p:txBody>
          <a:bodyPr wrap="square" anchor="t" lIns="0" rIns="0" tIns="0" bIns="0">
            <a:spAutoFit/>
          </a:bodyPr>
          <a:lstStyle/>
          <a:p>
            <a:pPr algn="l">
              <a:lnSpc>
                <a:spcPct val="100000"/>
              </a:lnSpc>
            </a:pPr>
            <a:r>
              <a:rPr sz="1100" b="0" lang="en-US">
                <a:solidFill>
                  <a:srgbClr val="EF6B45"/>
                </a:solidFill>
                <a:latin typeface="Menlo"/>
              </a:rPr>
              <a:t>END TO END</a:t>
            </a:r>
          </a:p>
        </p:txBody>
      </p:sp>
      <p:sp>
        <p:nvSpPr>
          <p:cNvPr id="8" name="TextBox 7"/>
          <p:cNvSpPr txBox="1"/>
          <p:nvPr/>
        </p:nvSpPr>
        <p:spPr>
          <a:xfrm>
            <a:off x="822960" y="1097280"/>
            <a:ext cx="10058400" cy="640080"/>
          </a:xfrm>
          <a:prstGeom prst="rect">
            <a:avLst/>
          </a:prstGeom>
          <a:noFill/>
        </p:spPr>
        <p:txBody>
          <a:bodyPr wrap="square" anchor="t" lIns="0" rIns="0" tIns="0" bIns="0">
            <a:spAutoFit/>
          </a:bodyPr>
          <a:lstStyle/>
          <a:p>
            <a:pPr algn="l">
              <a:lnSpc>
                <a:spcPct val="100000"/>
              </a:lnSpc>
            </a:pPr>
            <a:r>
              <a:rPr sz="3000" b="1" lang="en-US">
                <a:solidFill>
                  <a:srgbClr val="1A1410"/>
                </a:solidFill>
                <a:latin typeface="Avenir Next"/>
              </a:rPr>
              <a:t>What happens after you hit upload.</a:t>
            </a:r>
          </a:p>
        </p:txBody>
      </p:sp>
      <p:sp>
        <p:nvSpPr>
          <p:cNvPr id="9" name="TextBox 8"/>
          <p:cNvSpPr txBox="1"/>
          <p:nvPr/>
        </p:nvSpPr>
        <p:spPr>
          <a:xfrm>
            <a:off x="822960" y="1709928"/>
            <a:ext cx="9144000" cy="365760"/>
          </a:xfrm>
          <a:prstGeom prst="rect">
            <a:avLst/>
          </a:prstGeom>
          <a:noFill/>
        </p:spPr>
        <p:txBody>
          <a:bodyPr wrap="square" anchor="t" lIns="0" rIns="0" tIns="0" bIns="0">
            <a:spAutoFit/>
          </a:bodyPr>
          <a:lstStyle/>
          <a:p>
            <a:pPr algn="l">
              <a:lnSpc>
                <a:spcPct val="100000"/>
              </a:lnSpc>
            </a:pPr>
            <a:r>
              <a:rPr sz="1250" b="0" lang="en-US">
                <a:solidFill>
                  <a:srgbClr val="6B6058"/>
                </a:solidFill>
                <a:latin typeface="Avenir Next"/>
              </a:rPr>
              <a:t>You take four steps. Haggl runs the case in between, and reports back at every handoff.</a:t>
            </a:r>
          </a:p>
        </p:txBody>
      </p:sp>
      <p:sp>
        <p:nvSpPr>
          <p:cNvPr id="10" name="Rounded Rectangle 9"/>
          <p:cNvSpPr/>
          <p:nvPr/>
        </p:nvSpPr>
        <p:spPr>
          <a:xfrm>
            <a:off x="2084832" y="2139696"/>
            <a:ext cx="1572768" cy="1129284"/>
          </a:xfrm>
          <a:prstGeom prst="roundRect">
            <a:avLst>
              <a:gd name="adj" fmla="val 8000"/>
            </a:avLst>
          </a:prstGeom>
          <a:solidFill>
            <a:srgbClr val="FFFFFF"/>
          </a:solidFill>
          <a:ln w="9525">
            <a:solidFill>
              <a:srgbClr val="E8DDD3"/>
            </a:solidFill>
          </a:ln>
          <a:effectLst/>
          <a:effectLst>
            <a:outerShdw blurRad="90000" dist="30000" dir="5400000" rotWithShape="0">
              <a:srgbClr val="241A15">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157984" y="2189988"/>
            <a:ext cx="41148" cy="41148"/>
          </a:xfrm>
          <a:prstGeom prst="roundRect">
            <a:avLst>
              <a:gd name="adj" fmla="val 50000"/>
            </a:avLst>
          </a:prstGeom>
          <a:solidFill>
            <a:srgbClr val="E8D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240280" y="2189988"/>
            <a:ext cx="41148" cy="41148"/>
          </a:xfrm>
          <a:prstGeom prst="roundRect">
            <a:avLst>
              <a:gd name="adj" fmla="val 50000"/>
            </a:avLst>
          </a:prstGeom>
          <a:solidFill>
            <a:srgbClr val="E8D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322576" y="2189988"/>
            <a:ext cx="41148" cy="41148"/>
          </a:xfrm>
          <a:prstGeom prst="roundRect">
            <a:avLst>
              <a:gd name="adj" fmla="val 50000"/>
            </a:avLst>
          </a:prstGeom>
          <a:solidFill>
            <a:srgbClr val="E8D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ntake.png"/>
          <p:cNvPicPr>
            <a:picLocks noChangeAspect="1"/>
          </p:cNvPicPr>
          <p:nvPr/>
        </p:nvPicPr>
        <p:blipFill>
          <a:blip r:embed="rId2"/>
          <a:stretch>
            <a:fillRect/>
          </a:stretch>
        </p:blipFill>
        <p:spPr>
          <a:xfrm>
            <a:off x="2094357" y="2286000"/>
            <a:ext cx="1553718" cy="971074"/>
          </a:xfrm>
          <a:prstGeom prst="rect">
            <a:avLst/>
          </a:prstGeom>
        </p:spPr>
      </p:pic>
      <p:sp>
        <p:nvSpPr>
          <p:cNvPr id="15" name="TextBox 14"/>
          <p:cNvSpPr txBox="1"/>
          <p:nvPr/>
        </p:nvSpPr>
        <p:spPr>
          <a:xfrm>
            <a:off x="1901952" y="3314700"/>
            <a:ext cx="1938528" cy="201168"/>
          </a:xfrm>
          <a:prstGeom prst="rect">
            <a:avLst/>
          </a:prstGeom>
          <a:noFill/>
        </p:spPr>
        <p:txBody>
          <a:bodyPr wrap="square" anchor="t" lIns="0" rIns="0" tIns="0" bIns="0">
            <a:spAutoFit/>
          </a:bodyPr>
          <a:lstStyle/>
          <a:p>
            <a:pPr algn="ctr">
              <a:lnSpc>
                <a:spcPct val="100000"/>
              </a:lnSpc>
            </a:pPr>
            <a:r>
              <a:rPr sz="800" b="0" lang="en-US">
                <a:solidFill>
                  <a:srgbClr val="A69C91"/>
                </a:solidFill>
                <a:latin typeface="Menlo"/>
              </a:rPr>
              <a:t>hagglfor.me/intake</a:t>
            </a:r>
          </a:p>
        </p:txBody>
      </p:sp>
      <p:sp>
        <p:nvSpPr>
          <p:cNvPr id="16" name="Rectangle 15"/>
          <p:cNvSpPr/>
          <p:nvPr/>
        </p:nvSpPr>
        <p:spPr>
          <a:xfrm>
            <a:off x="2871216" y="3525012"/>
            <a:ext cx="11430" cy="388620"/>
          </a:xfrm>
          <a:prstGeom prst="rect">
            <a:avLst/>
          </a:prstGeom>
          <a:solidFill>
            <a:srgbClr val="E8D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39712" y="2139696"/>
            <a:ext cx="1572768" cy="1000040"/>
          </a:xfrm>
          <a:prstGeom prst="roundRect">
            <a:avLst>
              <a:gd name="adj" fmla="val 8000"/>
            </a:avLst>
          </a:prstGeom>
          <a:solidFill>
            <a:srgbClr val="FFFFFF"/>
          </a:solidFill>
          <a:ln w="9525">
            <a:solidFill>
              <a:srgbClr val="E8DDD3"/>
            </a:solidFill>
          </a:ln>
          <a:effectLst/>
          <a:effectLst>
            <a:outerShdw blurRad="90000" dist="30000" dir="5400000" rotWithShape="0">
              <a:srgbClr val="241A15">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12864" y="2189988"/>
            <a:ext cx="41148" cy="41148"/>
          </a:xfrm>
          <a:prstGeom prst="roundRect">
            <a:avLst>
              <a:gd name="adj" fmla="val 50000"/>
            </a:avLst>
          </a:prstGeom>
          <a:solidFill>
            <a:srgbClr val="E8D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95160" y="2189988"/>
            <a:ext cx="41148" cy="41148"/>
          </a:xfrm>
          <a:prstGeom prst="roundRect">
            <a:avLst>
              <a:gd name="adj" fmla="val 50000"/>
            </a:avLst>
          </a:prstGeom>
          <a:solidFill>
            <a:srgbClr val="E8D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077456" y="2189988"/>
            <a:ext cx="41148" cy="41148"/>
          </a:xfrm>
          <a:prstGeom prst="roundRect">
            <a:avLst>
              <a:gd name="adj" fmla="val 50000"/>
            </a:avLst>
          </a:prstGeom>
          <a:solidFill>
            <a:srgbClr val="E8D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room.png"/>
          <p:cNvPicPr>
            <a:picLocks noChangeAspect="1"/>
          </p:cNvPicPr>
          <p:nvPr/>
        </p:nvPicPr>
        <p:blipFill>
          <a:blip r:embed="rId3"/>
          <a:stretch>
            <a:fillRect/>
          </a:stretch>
        </p:blipFill>
        <p:spPr>
          <a:xfrm>
            <a:off x="6849237" y="2286000"/>
            <a:ext cx="1553718" cy="843396"/>
          </a:xfrm>
          <a:prstGeom prst="rect">
            <a:avLst/>
          </a:prstGeom>
        </p:spPr>
      </p:pic>
      <p:sp>
        <p:nvSpPr>
          <p:cNvPr id="22" name="TextBox 21"/>
          <p:cNvSpPr txBox="1"/>
          <p:nvPr/>
        </p:nvSpPr>
        <p:spPr>
          <a:xfrm>
            <a:off x="6656832" y="3185456"/>
            <a:ext cx="1938528" cy="201168"/>
          </a:xfrm>
          <a:prstGeom prst="rect">
            <a:avLst/>
          </a:prstGeom>
          <a:noFill/>
        </p:spPr>
        <p:txBody>
          <a:bodyPr wrap="square" anchor="t" lIns="0" rIns="0" tIns="0" bIns="0">
            <a:spAutoFit/>
          </a:bodyPr>
          <a:lstStyle/>
          <a:p>
            <a:pPr algn="ctr">
              <a:lnSpc>
                <a:spcPct val="100000"/>
              </a:lnSpc>
            </a:pPr>
            <a:r>
              <a:rPr sz="800" b="0" lang="en-US">
                <a:solidFill>
                  <a:srgbClr val="A69C91"/>
                </a:solidFill>
                <a:latin typeface="Menlo"/>
              </a:rPr>
              <a:t>hagglfor.me/warroom</a:t>
            </a:r>
          </a:p>
        </p:txBody>
      </p:sp>
      <p:sp>
        <p:nvSpPr>
          <p:cNvPr id="23" name="Rectangle 22"/>
          <p:cNvSpPr/>
          <p:nvPr/>
        </p:nvSpPr>
        <p:spPr>
          <a:xfrm>
            <a:off x="7626096" y="3395768"/>
            <a:ext cx="11430" cy="517864"/>
          </a:xfrm>
          <a:prstGeom prst="rect">
            <a:avLst/>
          </a:prstGeom>
          <a:solidFill>
            <a:srgbClr val="E8D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217152" y="2139696"/>
            <a:ext cx="1572768" cy="1000040"/>
          </a:xfrm>
          <a:prstGeom prst="roundRect">
            <a:avLst>
              <a:gd name="adj" fmla="val 8000"/>
            </a:avLst>
          </a:prstGeom>
          <a:solidFill>
            <a:srgbClr val="FFFFFF"/>
          </a:solidFill>
          <a:ln w="9525">
            <a:solidFill>
              <a:srgbClr val="E8DDD3"/>
            </a:solidFill>
          </a:ln>
          <a:effectLst/>
          <a:effectLst>
            <a:outerShdw blurRad="90000" dist="30000" dir="5400000" rotWithShape="0">
              <a:srgbClr val="241A15">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290304" y="2189988"/>
            <a:ext cx="41148" cy="41148"/>
          </a:xfrm>
          <a:prstGeom prst="roundRect">
            <a:avLst>
              <a:gd name="adj" fmla="val 50000"/>
            </a:avLst>
          </a:prstGeom>
          <a:solidFill>
            <a:srgbClr val="E8D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372600" y="2189988"/>
            <a:ext cx="41148" cy="41148"/>
          </a:xfrm>
          <a:prstGeom prst="roundRect">
            <a:avLst>
              <a:gd name="adj" fmla="val 50000"/>
            </a:avLst>
          </a:prstGeom>
          <a:solidFill>
            <a:srgbClr val="E8D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54896" y="2189988"/>
            <a:ext cx="41148" cy="41148"/>
          </a:xfrm>
          <a:prstGeom prst="roundRect">
            <a:avLst>
              <a:gd name="adj" fmla="val 50000"/>
            </a:avLst>
          </a:prstGeom>
          <a:solidFill>
            <a:srgbClr val="E8D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report.png"/>
          <p:cNvPicPr>
            <a:picLocks noChangeAspect="1"/>
          </p:cNvPicPr>
          <p:nvPr/>
        </p:nvPicPr>
        <p:blipFill>
          <a:blip r:embed="rId4"/>
          <a:stretch>
            <a:fillRect/>
          </a:stretch>
        </p:blipFill>
        <p:spPr>
          <a:xfrm>
            <a:off x="9226677" y="2286000"/>
            <a:ext cx="1553718" cy="843396"/>
          </a:xfrm>
          <a:prstGeom prst="rect">
            <a:avLst/>
          </a:prstGeom>
        </p:spPr>
      </p:pic>
      <p:sp>
        <p:nvSpPr>
          <p:cNvPr id="29" name="TextBox 28"/>
          <p:cNvSpPr txBox="1"/>
          <p:nvPr/>
        </p:nvSpPr>
        <p:spPr>
          <a:xfrm>
            <a:off x="9034272" y="3185456"/>
            <a:ext cx="1938528" cy="201168"/>
          </a:xfrm>
          <a:prstGeom prst="rect">
            <a:avLst/>
          </a:prstGeom>
          <a:noFill/>
        </p:spPr>
        <p:txBody>
          <a:bodyPr wrap="square" anchor="t" lIns="0" rIns="0" tIns="0" bIns="0">
            <a:spAutoFit/>
          </a:bodyPr>
          <a:lstStyle/>
          <a:p>
            <a:pPr algn="ctr">
              <a:lnSpc>
                <a:spcPct val="100000"/>
              </a:lnSpc>
            </a:pPr>
            <a:r>
              <a:rPr sz="800" b="0" lang="en-US">
                <a:solidFill>
                  <a:srgbClr val="A69C91"/>
                </a:solidFill>
                <a:latin typeface="Menlo"/>
              </a:rPr>
              <a:t>hagglfor.me/report</a:t>
            </a:r>
          </a:p>
        </p:txBody>
      </p:sp>
      <p:sp>
        <p:nvSpPr>
          <p:cNvPr id="30" name="Rectangle 29"/>
          <p:cNvSpPr/>
          <p:nvPr/>
        </p:nvSpPr>
        <p:spPr>
          <a:xfrm>
            <a:off x="10003536" y="3395768"/>
            <a:ext cx="11430" cy="517864"/>
          </a:xfrm>
          <a:prstGeom prst="rect">
            <a:avLst/>
          </a:prstGeom>
          <a:solidFill>
            <a:srgbClr val="E8D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22960" y="4032504"/>
            <a:ext cx="713232" cy="274320"/>
          </a:xfrm>
          <a:prstGeom prst="roundRect">
            <a:avLst>
              <a:gd name="adj" fmla="val 50000"/>
            </a:avLst>
          </a:prstGeom>
          <a:solidFill>
            <a:srgbClr val="DCE6F0"/>
          </a:solidFill>
          <a:ln w="9525">
            <a:solidFill>
              <a:srgbClr val="AFC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4082796"/>
            <a:ext cx="713232" cy="182880"/>
          </a:xfrm>
          <a:prstGeom prst="rect">
            <a:avLst/>
          </a:prstGeom>
          <a:noFill/>
        </p:spPr>
        <p:txBody>
          <a:bodyPr wrap="square" anchor="t" lIns="0" rIns="0" tIns="0" bIns="0">
            <a:spAutoFit/>
          </a:bodyPr>
          <a:lstStyle/>
          <a:p>
            <a:pPr algn="ctr">
              <a:lnSpc>
                <a:spcPct val="100000"/>
              </a:lnSpc>
            </a:pPr>
            <a:r>
              <a:rPr sz="900" b="1" lang="en-US">
                <a:solidFill>
                  <a:srgbClr val="3D5A78"/>
                </a:solidFill>
                <a:latin typeface="Menlo"/>
              </a:rPr>
              <a:t>YOU</a:t>
            </a:r>
          </a:p>
        </p:txBody>
      </p:sp>
      <p:sp>
        <p:nvSpPr>
          <p:cNvPr id="33" name="Rounded Rectangle 32"/>
          <p:cNvSpPr/>
          <p:nvPr/>
        </p:nvSpPr>
        <p:spPr>
          <a:xfrm>
            <a:off x="822960" y="5431536"/>
            <a:ext cx="713232" cy="274320"/>
          </a:xfrm>
          <a:prstGeom prst="roundRect">
            <a:avLst>
              <a:gd name="adj" fmla="val 50000"/>
            </a:avLst>
          </a:prstGeom>
          <a:solidFill>
            <a:srgbClr val="DCEBE0"/>
          </a:solidFill>
          <a:ln w="9525">
            <a:solidFill>
              <a:srgbClr val="AECB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5481828"/>
            <a:ext cx="713232" cy="182880"/>
          </a:xfrm>
          <a:prstGeom prst="rect">
            <a:avLst/>
          </a:prstGeom>
          <a:noFill/>
        </p:spPr>
        <p:txBody>
          <a:bodyPr wrap="square" anchor="t" lIns="0" rIns="0" tIns="0" bIns="0">
            <a:spAutoFit/>
          </a:bodyPr>
          <a:lstStyle/>
          <a:p>
            <a:pPr algn="ctr">
              <a:lnSpc>
                <a:spcPct val="100000"/>
              </a:lnSpc>
            </a:pPr>
            <a:r>
              <a:rPr sz="900" b="1" lang="en-US">
                <a:solidFill>
                  <a:srgbClr val="3E6650"/>
                </a:solidFill>
                <a:latin typeface="Menlo"/>
              </a:rPr>
              <a:t>HAGGL</a:t>
            </a:r>
          </a:p>
        </p:txBody>
      </p:sp>
      <p:sp>
        <p:nvSpPr>
          <p:cNvPr id="35" name="Rounded Rectangle 34"/>
          <p:cNvSpPr/>
          <p:nvPr/>
        </p:nvSpPr>
        <p:spPr>
          <a:xfrm>
            <a:off x="1847088" y="3913632"/>
            <a:ext cx="2048256" cy="512064"/>
          </a:xfrm>
          <a:prstGeom prst="roundRect">
            <a:avLst>
              <a:gd name="adj" fmla="val 16000"/>
            </a:avLst>
          </a:prstGeom>
          <a:solidFill>
            <a:srgbClr val="DCE6F0"/>
          </a:solidFill>
          <a:ln w="9525">
            <a:solidFill>
              <a:srgbClr val="AFC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011680" y="4055364"/>
            <a:ext cx="1773936" cy="274320"/>
          </a:xfrm>
          <a:prstGeom prst="rect">
            <a:avLst/>
          </a:prstGeom>
          <a:noFill/>
        </p:spPr>
        <p:txBody>
          <a:bodyPr wrap="square" anchor="t" lIns="0" rIns="0" tIns="0" bIns="0">
            <a:spAutoFit/>
          </a:bodyPr>
          <a:lstStyle/>
          <a:p>
            <a:pPr algn="l">
              <a:lnSpc>
                <a:spcPct val="100000"/>
              </a:lnSpc>
            </a:pPr>
            <a:r>
              <a:rPr sz="1250" b="1" lang="en-US">
                <a:solidFill>
                  <a:srgbClr val="1A1410"/>
                </a:solidFill>
                <a:latin typeface="Avenir Next"/>
              </a:rPr>
              <a:t>Upload</a:t>
            </a:r>
          </a:p>
        </p:txBody>
      </p:sp>
      <p:sp>
        <p:nvSpPr>
          <p:cNvPr id="37" name="Rectangle 36"/>
          <p:cNvSpPr/>
          <p:nvPr/>
        </p:nvSpPr>
        <p:spPr>
          <a:xfrm>
            <a:off x="3895344" y="4160520"/>
            <a:ext cx="329184" cy="13970"/>
          </a:xfrm>
          <a:prstGeom prst="rect">
            <a:avLst/>
          </a:prstGeom>
          <a:solidFill>
            <a:srgbClr val="AFC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224528" y="3913632"/>
            <a:ext cx="2048256" cy="512064"/>
          </a:xfrm>
          <a:prstGeom prst="roundRect">
            <a:avLst>
              <a:gd name="adj" fmla="val 16000"/>
            </a:avLst>
          </a:prstGeom>
          <a:solidFill>
            <a:srgbClr val="DCE6F0"/>
          </a:solidFill>
          <a:ln w="9525">
            <a:solidFill>
              <a:srgbClr val="AFC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89120" y="4055364"/>
            <a:ext cx="1773936" cy="274320"/>
          </a:xfrm>
          <a:prstGeom prst="rect">
            <a:avLst/>
          </a:prstGeom>
          <a:noFill/>
        </p:spPr>
        <p:txBody>
          <a:bodyPr wrap="square" anchor="t" lIns="0" rIns="0" tIns="0" bIns="0">
            <a:spAutoFit/>
          </a:bodyPr>
          <a:lstStyle/>
          <a:p>
            <a:pPr algn="l">
              <a:lnSpc>
                <a:spcPct val="100000"/>
              </a:lnSpc>
            </a:pPr>
            <a:r>
              <a:rPr sz="1250" b="1" lang="en-US">
                <a:solidFill>
                  <a:srgbClr val="1A1410"/>
                </a:solidFill>
                <a:latin typeface="Avenir Next"/>
              </a:rPr>
              <a:t>Confirm the plan</a:t>
            </a:r>
          </a:p>
        </p:txBody>
      </p:sp>
      <p:sp>
        <p:nvSpPr>
          <p:cNvPr id="40" name="Rectangle 39"/>
          <p:cNvSpPr/>
          <p:nvPr/>
        </p:nvSpPr>
        <p:spPr>
          <a:xfrm>
            <a:off x="6272784" y="4160520"/>
            <a:ext cx="329184" cy="13970"/>
          </a:xfrm>
          <a:prstGeom prst="rect">
            <a:avLst/>
          </a:prstGeom>
          <a:solidFill>
            <a:srgbClr val="AFC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601968" y="3913632"/>
            <a:ext cx="2048256" cy="512064"/>
          </a:xfrm>
          <a:prstGeom prst="roundRect">
            <a:avLst>
              <a:gd name="adj" fmla="val 16000"/>
            </a:avLst>
          </a:prstGeom>
          <a:solidFill>
            <a:srgbClr val="DCE6F0"/>
          </a:solidFill>
          <a:ln w="9525">
            <a:solidFill>
              <a:srgbClr val="AFC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0" y="4055364"/>
            <a:ext cx="1773936" cy="274320"/>
          </a:xfrm>
          <a:prstGeom prst="rect">
            <a:avLst/>
          </a:prstGeom>
          <a:noFill/>
        </p:spPr>
        <p:txBody>
          <a:bodyPr wrap="square" anchor="t" lIns="0" rIns="0" tIns="0" bIns="0">
            <a:spAutoFit/>
          </a:bodyPr>
          <a:lstStyle/>
          <a:p>
            <a:pPr algn="l">
              <a:lnSpc>
                <a:spcPct val="100000"/>
              </a:lnSpc>
            </a:pPr>
            <a:r>
              <a:rPr sz="1250" b="1" lang="en-US">
                <a:solidFill>
                  <a:srgbClr val="1A1410"/>
                </a:solidFill>
                <a:latin typeface="Avenir Next"/>
              </a:rPr>
              <a:t>Watch live</a:t>
            </a:r>
          </a:p>
        </p:txBody>
      </p:sp>
      <p:sp>
        <p:nvSpPr>
          <p:cNvPr id="43" name="Rectangle 42"/>
          <p:cNvSpPr/>
          <p:nvPr/>
        </p:nvSpPr>
        <p:spPr>
          <a:xfrm>
            <a:off x="8650224" y="4160520"/>
            <a:ext cx="329184" cy="13970"/>
          </a:xfrm>
          <a:prstGeom prst="rect">
            <a:avLst/>
          </a:prstGeom>
          <a:solidFill>
            <a:srgbClr val="AFC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8979408" y="3913632"/>
            <a:ext cx="2048256" cy="512064"/>
          </a:xfrm>
          <a:prstGeom prst="roundRect">
            <a:avLst>
              <a:gd name="adj" fmla="val 16000"/>
            </a:avLst>
          </a:prstGeom>
          <a:solidFill>
            <a:srgbClr val="DCE6F0"/>
          </a:solidFill>
          <a:ln w="9525">
            <a:solidFill>
              <a:srgbClr val="AFC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144000" y="4055364"/>
            <a:ext cx="1773936" cy="274320"/>
          </a:xfrm>
          <a:prstGeom prst="rect">
            <a:avLst/>
          </a:prstGeom>
          <a:noFill/>
        </p:spPr>
        <p:txBody>
          <a:bodyPr wrap="square" anchor="t" lIns="0" rIns="0" tIns="0" bIns="0">
            <a:spAutoFit/>
          </a:bodyPr>
          <a:lstStyle/>
          <a:p>
            <a:pPr algn="l">
              <a:lnSpc>
                <a:spcPct val="100000"/>
              </a:lnSpc>
            </a:pPr>
            <a:r>
              <a:rPr sz="1250" b="1" lang="en-US">
                <a:solidFill>
                  <a:srgbClr val="1A1410"/>
                </a:solidFill>
                <a:latin typeface="Avenir Next"/>
              </a:rPr>
              <a:t>Get the report</a:t>
            </a:r>
          </a:p>
        </p:txBody>
      </p:sp>
      <p:sp>
        <p:nvSpPr>
          <p:cNvPr id="46" name="Rounded Rectangle 45"/>
          <p:cNvSpPr/>
          <p:nvPr/>
        </p:nvSpPr>
        <p:spPr>
          <a:xfrm>
            <a:off x="1847088" y="5230368"/>
            <a:ext cx="2048256" cy="676656"/>
          </a:xfrm>
          <a:prstGeom prst="roundRect">
            <a:avLst>
              <a:gd name="adj" fmla="val 14000"/>
            </a:avLst>
          </a:prstGeom>
          <a:solidFill>
            <a:srgbClr val="DCEBE0"/>
          </a:solidFill>
          <a:ln w="9525">
            <a:solidFill>
              <a:srgbClr val="AECB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011680" y="5335524"/>
            <a:ext cx="1773936" cy="502920"/>
          </a:xfrm>
          <a:prstGeom prst="rect">
            <a:avLst/>
          </a:prstGeom>
          <a:noFill/>
        </p:spPr>
        <p:txBody>
          <a:bodyPr wrap="square" anchor="t" lIns="0" rIns="0" tIns="0" bIns="0">
            <a:spAutoFit/>
          </a:bodyPr>
          <a:lstStyle/>
          <a:p>
            <a:pPr algn="l">
              <a:lnSpc>
                <a:spcPct val="115000"/>
              </a:lnSpc>
            </a:pPr>
            <a:r>
              <a:rPr sz="1250" b="1" lang="en-US">
                <a:solidFill>
                  <a:srgbClr val="1A1410"/>
                </a:solidFill>
                <a:latin typeface="Avenir Next"/>
              </a:rPr>
              <a:t>Parse + flag</a:t>
            </a:r>
          </a:p>
          <a:p>
            <a:pPr algn="l">
              <a:lnSpc>
                <a:spcPct val="115000"/>
              </a:lnSpc>
            </a:pPr>
            <a:r>
              <a:rPr sz="900" b="0" lang="en-US">
                <a:solidFill>
                  <a:srgbClr val="3E6650"/>
                </a:solidFill>
                <a:latin typeface="Menlo"/>
              </a:rPr>
              <a:t>gpt-5.6-terra</a:t>
            </a:r>
          </a:p>
        </p:txBody>
      </p:sp>
      <p:sp>
        <p:nvSpPr>
          <p:cNvPr id="48" name="Rectangle 47"/>
          <p:cNvSpPr/>
          <p:nvPr/>
        </p:nvSpPr>
        <p:spPr>
          <a:xfrm>
            <a:off x="3895344" y="5559552"/>
            <a:ext cx="329184" cy="13970"/>
          </a:xfrm>
          <a:prstGeom prst="rect">
            <a:avLst/>
          </a:prstGeom>
          <a:solidFill>
            <a:srgbClr val="AECB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4224528" y="5230368"/>
            <a:ext cx="2048256" cy="676656"/>
          </a:xfrm>
          <a:prstGeom prst="roundRect">
            <a:avLst>
              <a:gd name="adj" fmla="val 14000"/>
            </a:avLst>
          </a:prstGeom>
          <a:solidFill>
            <a:srgbClr val="DCEBE0"/>
          </a:solidFill>
          <a:ln w="9525">
            <a:solidFill>
              <a:srgbClr val="AECB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389120" y="5335524"/>
            <a:ext cx="1773936" cy="502920"/>
          </a:xfrm>
          <a:prstGeom prst="rect">
            <a:avLst/>
          </a:prstGeom>
          <a:noFill/>
        </p:spPr>
        <p:txBody>
          <a:bodyPr wrap="square" anchor="t" lIns="0" rIns="0" tIns="0" bIns="0">
            <a:spAutoFit/>
          </a:bodyPr>
          <a:lstStyle/>
          <a:p>
            <a:pPr algn="l">
              <a:lnSpc>
                <a:spcPct val="115000"/>
              </a:lnSpc>
            </a:pPr>
            <a:r>
              <a:rPr sz="1250" b="1" lang="en-US">
                <a:solidFill>
                  <a:srgbClr val="1A1410"/>
                </a:solidFill>
                <a:latin typeface="Avenir Next"/>
              </a:rPr>
              <a:t>Dossier + ladder</a:t>
            </a:r>
          </a:p>
          <a:p>
            <a:pPr algn="l">
              <a:lnSpc>
                <a:spcPct val="115000"/>
              </a:lnSpc>
            </a:pPr>
            <a:r>
              <a:rPr sz="900" b="0" lang="en-US">
                <a:solidFill>
                  <a:srgbClr val="3E6650"/>
                </a:solidFill>
                <a:latin typeface="Menlo"/>
              </a:rPr>
              <a:t>state_machine.py</a:t>
            </a:r>
          </a:p>
        </p:txBody>
      </p:sp>
      <p:sp>
        <p:nvSpPr>
          <p:cNvPr id="51" name="Rectangle 50"/>
          <p:cNvSpPr/>
          <p:nvPr/>
        </p:nvSpPr>
        <p:spPr>
          <a:xfrm>
            <a:off x="6272784" y="5559552"/>
            <a:ext cx="329184" cy="13970"/>
          </a:xfrm>
          <a:prstGeom prst="rect">
            <a:avLst/>
          </a:prstGeom>
          <a:solidFill>
            <a:srgbClr val="AECB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601968" y="5230368"/>
            <a:ext cx="2048256" cy="676656"/>
          </a:xfrm>
          <a:prstGeom prst="roundRect">
            <a:avLst>
              <a:gd name="adj" fmla="val 14000"/>
            </a:avLst>
          </a:prstGeom>
          <a:solidFill>
            <a:srgbClr val="DCEBE0"/>
          </a:solidFill>
          <a:ln w="9525">
            <a:solidFill>
              <a:srgbClr val="AECB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766560" y="5335524"/>
            <a:ext cx="1773936" cy="502920"/>
          </a:xfrm>
          <a:prstGeom prst="rect">
            <a:avLst/>
          </a:prstGeom>
          <a:noFill/>
        </p:spPr>
        <p:txBody>
          <a:bodyPr wrap="square" anchor="t" lIns="0" rIns="0" tIns="0" bIns="0">
            <a:spAutoFit/>
          </a:bodyPr>
          <a:lstStyle/>
          <a:p>
            <a:pPr algn="l">
              <a:lnSpc>
                <a:spcPct val="115000"/>
              </a:lnSpc>
            </a:pPr>
            <a:r>
              <a:rPr sz="1250" b="1" lang="en-US">
                <a:solidFill>
                  <a:srgbClr val="1A1410"/>
                </a:solidFill>
                <a:latin typeface="Avenir Next"/>
              </a:rPr>
              <a:t>Live calls</a:t>
            </a:r>
          </a:p>
          <a:p>
            <a:pPr algn="l">
              <a:lnSpc>
                <a:spcPct val="115000"/>
              </a:lnSpc>
            </a:pPr>
            <a:r>
              <a:rPr sz="900" b="0" lang="en-US">
                <a:solidFill>
                  <a:srgbClr val="3E6650"/>
                </a:solidFill>
                <a:latin typeface="Menlo"/>
              </a:rPr>
              <a:t>ElevenLabs + Twilio</a:t>
            </a:r>
          </a:p>
        </p:txBody>
      </p:sp>
      <p:sp>
        <p:nvSpPr>
          <p:cNvPr id="54" name="Rectangle 53"/>
          <p:cNvSpPr/>
          <p:nvPr/>
        </p:nvSpPr>
        <p:spPr>
          <a:xfrm>
            <a:off x="8650224" y="5559552"/>
            <a:ext cx="329184" cy="13970"/>
          </a:xfrm>
          <a:prstGeom prst="rect">
            <a:avLst/>
          </a:prstGeom>
          <a:solidFill>
            <a:srgbClr val="AECB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8979408" y="5230368"/>
            <a:ext cx="2048256" cy="676656"/>
          </a:xfrm>
          <a:prstGeom prst="roundRect">
            <a:avLst>
              <a:gd name="adj" fmla="val 14000"/>
            </a:avLst>
          </a:prstGeom>
          <a:solidFill>
            <a:srgbClr val="DCEBE0"/>
          </a:solidFill>
          <a:ln w="9525">
            <a:solidFill>
              <a:srgbClr val="AECB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44000" y="5335524"/>
            <a:ext cx="1773936" cy="502920"/>
          </a:xfrm>
          <a:prstGeom prst="rect">
            <a:avLst/>
          </a:prstGeom>
          <a:noFill/>
        </p:spPr>
        <p:txBody>
          <a:bodyPr wrap="square" anchor="t" lIns="0" rIns="0" tIns="0" bIns="0">
            <a:spAutoFit/>
          </a:bodyPr>
          <a:lstStyle/>
          <a:p>
            <a:pPr algn="l">
              <a:lnSpc>
                <a:spcPct val="115000"/>
              </a:lnSpc>
            </a:pPr>
            <a:r>
              <a:rPr sz="1250" b="1" lang="en-US">
                <a:solidFill>
                  <a:srgbClr val="1A1410"/>
                </a:solidFill>
                <a:latin typeface="Avenir Next"/>
              </a:rPr>
              <a:t>Audit + archive</a:t>
            </a:r>
          </a:p>
          <a:p>
            <a:pPr algn="l">
              <a:lnSpc>
                <a:spcPct val="115000"/>
              </a:lnSpc>
            </a:pPr>
            <a:r>
              <a:rPr sz="900" b="0" lang="en-US">
                <a:solidFill>
                  <a:srgbClr val="3E6650"/>
                </a:solidFill>
                <a:latin typeface="Menlo"/>
              </a:rPr>
              <a:t>honesty_audit</a:t>
            </a:r>
          </a:p>
        </p:txBody>
      </p:sp>
      <p:sp>
        <p:nvSpPr>
          <p:cNvPr id="57" name="Rectangle 56"/>
          <p:cNvSpPr/>
          <p:nvPr/>
        </p:nvSpPr>
        <p:spPr>
          <a:xfrm>
            <a:off x="2871216" y="4425696"/>
            <a:ext cx="13970" cy="804672"/>
          </a:xfrm>
          <a:prstGeom prst="rect">
            <a:avLst/>
          </a:prstGeom>
          <a:noFill/>
          <a:ln w="9525">
            <a:solidFill>
              <a:srgbClr val="A69C9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248656" y="4425696"/>
            <a:ext cx="13970" cy="804672"/>
          </a:xfrm>
          <a:prstGeom prst="rect">
            <a:avLst/>
          </a:prstGeom>
          <a:noFill/>
          <a:ln w="9525">
            <a:solidFill>
              <a:srgbClr val="A69C9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626096" y="4425696"/>
            <a:ext cx="13970" cy="804672"/>
          </a:xfrm>
          <a:prstGeom prst="rect">
            <a:avLst/>
          </a:prstGeom>
          <a:noFill/>
          <a:ln w="9525">
            <a:solidFill>
              <a:srgbClr val="A69C9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0003536" y="4425696"/>
            <a:ext cx="13970" cy="804672"/>
          </a:xfrm>
          <a:prstGeom prst="rect">
            <a:avLst/>
          </a:prstGeom>
          <a:noFill/>
          <a:ln w="9525">
            <a:solidFill>
              <a:srgbClr val="A69C9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4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463040" cy="365760"/>
          </a:xfrm>
          <a:prstGeom prst="rect">
            <a:avLst/>
          </a:prstGeom>
          <a:noFill/>
        </p:spPr>
        <p:txBody>
          <a:bodyPr wrap="square" anchor="t" lIns="0" rIns="0" tIns="0" bIns="0">
            <a:spAutoFit/>
          </a:bodyPr>
          <a:lstStyle/>
          <a:p>
            <a:pPr algn="l">
              <a:lnSpc>
                <a:spcPct val="100000"/>
              </a:lnSpc>
            </a:pPr>
            <a:r>
              <a:rPr sz="1700" b="1" lang="en-US">
                <a:solidFill>
                  <a:srgbClr val="F5F1EC"/>
                </a:solidFill>
                <a:latin typeface="Avenir Next"/>
              </a:rPr>
              <a:t>Haggl</a:t>
            </a:r>
          </a:p>
        </p:txBody>
      </p:sp>
      <p:sp>
        <p:nvSpPr>
          <p:cNvPr id="4" name="Rounded Rectangle 3"/>
          <p:cNvSpPr/>
          <p:nvPr/>
        </p:nvSpPr>
        <p:spPr>
          <a:xfrm rot="20520000">
            <a:off x="580644" y="461772"/>
            <a:ext cx="192024" cy="50292"/>
          </a:xfrm>
          <a:prstGeom prst="roundRect">
            <a:avLst>
              <a:gd name="adj" fmla="val 50000"/>
            </a:avLst>
          </a:prstGeom>
          <a:solidFill>
            <a:srgbClr val="E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881360" y="365760"/>
            <a:ext cx="1005840" cy="274320"/>
          </a:xfrm>
          <a:prstGeom prst="rect">
            <a:avLst/>
          </a:prstGeom>
          <a:noFill/>
        </p:spPr>
        <p:txBody>
          <a:bodyPr wrap="square" anchor="t" lIns="0" rIns="0" tIns="0" bIns="0">
            <a:spAutoFit/>
          </a:bodyPr>
          <a:lstStyle/>
          <a:p>
            <a:pPr algn="r">
              <a:lnSpc>
                <a:spcPct val="100000"/>
              </a:lnSpc>
            </a:pPr>
            <a:r>
              <a:rPr sz="1100" b="1" lang="en-US">
                <a:solidFill>
                  <a:srgbClr val="F5F1EC"/>
                </a:solidFill>
                <a:latin typeface="Menlo"/>
              </a:rPr>
              <a:t>05</a:t>
            </a:r>
            <a:r>
              <a:rPr sz="1100" b="0" lang="en-US">
                <a:solidFill>
                  <a:srgbClr val="9A928B"/>
                </a:solidFill>
                <a:latin typeface="Menlo"/>
              </a:rPr>
              <a:t> / 10</a:t>
            </a:r>
          </a:p>
        </p:txBody>
      </p:sp>
      <p:sp>
        <p:nvSpPr>
          <p:cNvPr id="6" name="Rectangle 5"/>
          <p:cNvSpPr/>
          <p:nvPr/>
        </p:nvSpPr>
        <p:spPr>
          <a:xfrm>
            <a:off x="0" y="6807200"/>
            <a:ext cx="6095847" cy="50800"/>
          </a:xfrm>
          <a:prstGeom prst="rect">
            <a:avLst/>
          </a:prstGeom>
          <a:solidFill>
            <a:srgbClr val="E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777240"/>
            <a:ext cx="8229600" cy="274320"/>
          </a:xfrm>
          <a:prstGeom prst="rect">
            <a:avLst/>
          </a:prstGeom>
          <a:noFill/>
        </p:spPr>
        <p:txBody>
          <a:bodyPr wrap="square" anchor="t" lIns="0" rIns="0" tIns="0" bIns="0">
            <a:spAutoFit/>
          </a:bodyPr>
          <a:lstStyle/>
          <a:p>
            <a:pPr algn="l">
              <a:lnSpc>
                <a:spcPct val="100000"/>
              </a:lnSpc>
            </a:pPr>
            <a:r>
              <a:rPr sz="1100" b="0" lang="en-US">
                <a:solidFill>
                  <a:srgbClr val="EF6B45"/>
                </a:solidFill>
                <a:latin typeface="Menlo"/>
              </a:rPr>
              <a:t>MAYA CHEN · MERCY GENERAL, BOSTON · LIVE CALL</a:t>
            </a:r>
          </a:p>
        </p:txBody>
      </p:sp>
      <p:sp>
        <p:nvSpPr>
          <p:cNvPr id="8" name="TextBox 7"/>
          <p:cNvSpPr txBox="1"/>
          <p:nvPr/>
        </p:nvSpPr>
        <p:spPr>
          <a:xfrm>
            <a:off x="822960" y="1234440"/>
            <a:ext cx="2743200" cy="457200"/>
          </a:xfrm>
          <a:prstGeom prst="rect">
            <a:avLst/>
          </a:prstGeom>
          <a:noFill/>
        </p:spPr>
        <p:txBody>
          <a:bodyPr wrap="square" anchor="t" lIns="0" rIns="0" tIns="0" bIns="0">
            <a:spAutoFit/>
          </a:bodyPr>
          <a:lstStyle/>
          <a:p>
            <a:pPr algn="l">
              <a:lnSpc>
                <a:spcPct val="100000"/>
              </a:lnSpc>
            </a:pPr>
            <a:r>
              <a:rPr sz="2400" b="0" lang="en-US" strike="sngStrike">
                <a:solidFill>
                  <a:srgbClr val="9A928B"/>
                </a:solidFill>
                <a:latin typeface="Menlo"/>
              </a:rPr>
              <a:t>$4,287</a:t>
            </a:r>
          </a:p>
        </p:txBody>
      </p:sp>
      <p:sp>
        <p:nvSpPr>
          <p:cNvPr id="9" name="TextBox 8"/>
          <p:cNvSpPr txBox="1"/>
          <p:nvPr/>
        </p:nvSpPr>
        <p:spPr>
          <a:xfrm>
            <a:off x="786384" y="1691640"/>
            <a:ext cx="5852160" cy="1371600"/>
          </a:xfrm>
          <a:prstGeom prst="rect">
            <a:avLst/>
          </a:prstGeom>
          <a:noFill/>
        </p:spPr>
        <p:txBody>
          <a:bodyPr wrap="square" anchor="t" lIns="0" rIns="0" tIns="0" bIns="0">
            <a:spAutoFit/>
          </a:bodyPr>
          <a:lstStyle/>
          <a:p>
            <a:pPr algn="l">
              <a:lnSpc>
                <a:spcPct val="100000"/>
              </a:lnSpc>
            </a:pPr>
            <a:r>
              <a:rPr sz="8800" b="0" lang="en-US">
                <a:solidFill>
                  <a:srgbClr val="F5F1EC"/>
                </a:solidFill>
                <a:latin typeface="Menlo"/>
              </a:rPr>
              <a:t>$1,650</a:t>
            </a:r>
          </a:p>
        </p:txBody>
      </p:sp>
      <p:sp>
        <p:nvSpPr>
          <p:cNvPr id="10" name="Rounded Rectangle 9"/>
          <p:cNvSpPr/>
          <p:nvPr/>
        </p:nvSpPr>
        <p:spPr>
          <a:xfrm>
            <a:off x="859536" y="3182112"/>
            <a:ext cx="1417320" cy="402336"/>
          </a:xfrm>
          <a:prstGeom prst="roundRect">
            <a:avLst>
              <a:gd name="adj" fmla="val 50000"/>
            </a:avLst>
          </a:prstGeom>
          <a:solidFill>
            <a:srgbClr val="E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259836"/>
            <a:ext cx="1417320" cy="274320"/>
          </a:xfrm>
          <a:prstGeom prst="rect">
            <a:avLst/>
          </a:prstGeom>
          <a:noFill/>
        </p:spPr>
        <p:txBody>
          <a:bodyPr wrap="square" anchor="t" lIns="0" rIns="0" tIns="0" bIns="0">
            <a:spAutoFit/>
          </a:bodyPr>
          <a:lstStyle/>
          <a:p>
            <a:pPr algn="ctr">
              <a:lnSpc>
                <a:spcPct val="100000"/>
              </a:lnSpc>
            </a:pPr>
            <a:r>
              <a:rPr sz="1400" b="1" lang="en-US">
                <a:solidFill>
                  <a:srgbClr val="FFFFFF"/>
                </a:solidFill>
                <a:latin typeface="Menlo"/>
              </a:rPr>
              <a:t>−62% off</a:t>
            </a:r>
          </a:p>
        </p:txBody>
      </p:sp>
      <p:sp>
        <p:nvSpPr>
          <p:cNvPr id="12" name="TextBox 11"/>
          <p:cNvSpPr txBox="1"/>
          <p:nvPr/>
        </p:nvSpPr>
        <p:spPr>
          <a:xfrm>
            <a:off x="822960" y="3822191"/>
            <a:ext cx="5029200" cy="365760"/>
          </a:xfrm>
          <a:prstGeom prst="rect">
            <a:avLst/>
          </a:prstGeom>
          <a:noFill/>
        </p:spPr>
        <p:txBody>
          <a:bodyPr wrap="square" anchor="t" lIns="0" rIns="0" tIns="0" bIns="0">
            <a:spAutoFit/>
          </a:bodyPr>
          <a:lstStyle/>
          <a:p>
            <a:pPr algn="l">
              <a:lnSpc>
                <a:spcPct val="100000"/>
              </a:lnSpc>
            </a:pPr>
            <a:r>
              <a:rPr sz="1400" b="0" lang="en-US">
                <a:solidFill>
                  <a:srgbClr val="F5F1EC"/>
                </a:solidFill>
                <a:latin typeface="Avenir Next"/>
              </a:rPr>
              <a:t>Settled today. Paid in full.</a:t>
            </a:r>
          </a:p>
        </p:txBody>
      </p:sp>
      <p:sp>
        <p:nvSpPr>
          <p:cNvPr id="13" name="TextBox 12"/>
          <p:cNvSpPr txBox="1"/>
          <p:nvPr/>
        </p:nvSpPr>
        <p:spPr>
          <a:xfrm>
            <a:off x="822960" y="4370832"/>
            <a:ext cx="5120640" cy="1463040"/>
          </a:xfrm>
          <a:prstGeom prst="rect">
            <a:avLst/>
          </a:prstGeom>
          <a:noFill/>
        </p:spPr>
        <p:txBody>
          <a:bodyPr wrap="square" anchor="t" lIns="0" rIns="0" tIns="0" bIns="0">
            <a:spAutoFit/>
          </a:bodyPr>
          <a:lstStyle/>
          <a:p>
            <a:pPr algn="l">
              <a:lnSpc>
                <a:spcPct val="145000"/>
              </a:lnSpc>
            </a:pPr>
            <a:r>
              <a:rPr sz="1200" b="1" lang="en-US">
                <a:solidFill>
                  <a:srgbClr val="F5F1EC"/>
                </a:solidFill>
                <a:latin typeface="Avenir Next"/>
              </a:rPr>
              <a:t>$4,287</a:t>
            </a:r>
            <a:r>
              <a:rPr sz="1200" b="0" lang="en-US">
                <a:solidFill>
                  <a:srgbClr val="9A928B"/>
                </a:solidFill>
                <a:latin typeface="Avenir Next"/>
              </a:rPr>
              <a:t> balance  →  </a:t>
            </a:r>
            <a:r>
              <a:rPr sz="1200" b="1" lang="en-US">
                <a:solidFill>
                  <a:srgbClr val="F5F1EC"/>
                </a:solidFill>
                <a:latin typeface="Avenir Next"/>
              </a:rPr>
              <a:t>$3,875</a:t>
            </a:r>
            <a:r>
              <a:rPr sz="1200" b="0" lang="en-US">
                <a:solidFill>
                  <a:srgbClr val="9A928B"/>
                </a:solidFill>
                <a:latin typeface="Avenir Next"/>
              </a:rPr>
              <a:t> once the duplicate charge came off  →</a:t>
            </a:r>
          </a:p>
          <a:p>
            <a:pPr algn="l">
              <a:lnSpc>
                <a:spcPct val="145000"/>
              </a:lnSpc>
            </a:pPr>
            <a:r>
              <a:rPr sz="1200" b="0" lang="en-US">
                <a:solidFill>
                  <a:srgbClr val="9A928B"/>
                </a:solidFill>
                <a:latin typeface="Avenir Next"/>
              </a:rPr>
              <a:t>rep countered </a:t>
            </a:r>
            <a:r>
              <a:rPr sz="1200" b="1" lang="en-US">
                <a:solidFill>
                  <a:srgbClr val="F5F1EC"/>
                </a:solidFill>
                <a:latin typeface="Avenir Next"/>
              </a:rPr>
              <a:t>$2,400</a:t>
            </a:r>
            <a:r>
              <a:rPr sz="1200" b="0" lang="en-US">
                <a:solidFill>
                  <a:srgbClr val="9A928B"/>
                </a:solidFill>
                <a:latin typeface="Avenir Next"/>
              </a:rPr>
              <a:t>  →  </a:t>
            </a:r>
            <a:r>
              <a:rPr sz="1200" b="1" lang="en-US">
                <a:solidFill>
                  <a:srgbClr val="F5F1EC"/>
                </a:solidFill>
                <a:latin typeface="Avenir Next"/>
              </a:rPr>
              <a:t>$1,650</a:t>
            </a:r>
            <a:r>
              <a:rPr sz="1200" b="0" lang="en-US">
                <a:solidFill>
                  <a:srgbClr val="9A928B"/>
                </a:solidFill>
                <a:latin typeface="Avenir Next"/>
              </a:rPr>
              <a:t> settled. That is 61.5% off.</a:t>
            </a:r>
          </a:p>
        </p:txBody>
      </p:sp>
      <p:sp>
        <p:nvSpPr>
          <p:cNvPr id="14" name="TextBox 13"/>
          <p:cNvSpPr txBox="1"/>
          <p:nvPr/>
        </p:nvSpPr>
        <p:spPr>
          <a:xfrm>
            <a:off x="6720840" y="1298448"/>
            <a:ext cx="4572000" cy="274320"/>
          </a:xfrm>
          <a:prstGeom prst="rect">
            <a:avLst/>
          </a:prstGeom>
          <a:noFill/>
        </p:spPr>
        <p:txBody>
          <a:bodyPr wrap="square" anchor="t" lIns="0" rIns="0" tIns="0" bIns="0">
            <a:spAutoFit/>
          </a:bodyPr>
          <a:lstStyle/>
          <a:p>
            <a:pPr algn="l">
              <a:lnSpc>
                <a:spcPct val="100000"/>
              </a:lnSpc>
            </a:pPr>
            <a:r>
              <a:rPr sz="1000" b="0" lang="en-US">
                <a:solidFill>
                  <a:srgbClr val="9A928B"/>
                </a:solidFill>
                <a:latin typeface="Menlo"/>
              </a:rPr>
              <a:t>FOUR FLAGS THE ENGINE FOUND</a:t>
            </a:r>
          </a:p>
        </p:txBody>
      </p:sp>
      <p:sp>
        <p:nvSpPr>
          <p:cNvPr id="15" name="Rounded Rectangle 14"/>
          <p:cNvSpPr/>
          <p:nvPr/>
        </p:nvSpPr>
        <p:spPr>
          <a:xfrm>
            <a:off x="6720840" y="1664208"/>
            <a:ext cx="4645152" cy="877824"/>
          </a:xfrm>
          <a:prstGeom prst="roundRect">
            <a:avLst>
              <a:gd name="adj" fmla="val 10000"/>
            </a:avLst>
          </a:prstGeom>
          <a:solidFill>
            <a:srgbClr val="2A211C"/>
          </a:solidFill>
          <a:ln w="9525">
            <a:solidFill>
              <a:srgbClr val="3A2F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67728" y="1810512"/>
            <a:ext cx="3291840" cy="603504"/>
          </a:xfrm>
          <a:prstGeom prst="rect">
            <a:avLst/>
          </a:prstGeom>
          <a:noFill/>
        </p:spPr>
        <p:txBody>
          <a:bodyPr wrap="square" anchor="t" lIns="0" rIns="0" tIns="0" bIns="0">
            <a:spAutoFit/>
          </a:bodyPr>
          <a:lstStyle/>
          <a:p>
            <a:pPr algn="l">
              <a:lnSpc>
                <a:spcPct val="130000"/>
              </a:lnSpc>
            </a:pPr>
            <a:r>
              <a:rPr sz="950" b="1" lang="en-US">
                <a:solidFill>
                  <a:srgbClr val="E8C27A"/>
                </a:solidFill>
                <a:latin typeface="Menlo"/>
              </a:rPr>
              <a:t>DUPLICATE · CPT 71046</a:t>
            </a:r>
          </a:p>
          <a:p>
            <a:pPr algn="l">
              <a:lnSpc>
                <a:spcPct val="130000"/>
              </a:lnSpc>
            </a:pPr>
            <a:r>
              <a:rPr sz="1050" b="0" lang="en-US">
                <a:solidFill>
                  <a:srgbClr val="9A928B"/>
                </a:solidFill>
                <a:latin typeface="Avenir Next"/>
              </a:rPr>
              <a:t>Chest X-ray billed twice</a:t>
            </a:r>
          </a:p>
        </p:txBody>
      </p:sp>
      <p:sp>
        <p:nvSpPr>
          <p:cNvPr id="17" name="TextBox 16"/>
          <p:cNvSpPr txBox="1"/>
          <p:nvPr/>
        </p:nvSpPr>
        <p:spPr>
          <a:xfrm>
            <a:off x="10058400" y="1938528"/>
            <a:ext cx="1170432" cy="320040"/>
          </a:xfrm>
          <a:prstGeom prst="rect">
            <a:avLst/>
          </a:prstGeom>
          <a:noFill/>
        </p:spPr>
        <p:txBody>
          <a:bodyPr wrap="square" anchor="t" lIns="0" rIns="0" tIns="0" bIns="0">
            <a:spAutoFit/>
          </a:bodyPr>
          <a:lstStyle/>
          <a:p>
            <a:pPr algn="r">
              <a:lnSpc>
                <a:spcPct val="100000"/>
              </a:lnSpc>
            </a:pPr>
            <a:r>
              <a:rPr sz="1200" b="0" lang="en-US">
                <a:solidFill>
                  <a:srgbClr val="E8C27A"/>
                </a:solidFill>
                <a:latin typeface="Menlo"/>
              </a:rPr>
              <a:t>−$412</a:t>
            </a:r>
          </a:p>
        </p:txBody>
      </p:sp>
      <p:sp>
        <p:nvSpPr>
          <p:cNvPr id="18" name="Rounded Rectangle 17"/>
          <p:cNvSpPr/>
          <p:nvPr/>
        </p:nvSpPr>
        <p:spPr>
          <a:xfrm>
            <a:off x="6720840" y="2688336"/>
            <a:ext cx="4645152" cy="877824"/>
          </a:xfrm>
          <a:prstGeom prst="roundRect">
            <a:avLst>
              <a:gd name="adj" fmla="val 10000"/>
            </a:avLst>
          </a:prstGeom>
          <a:solidFill>
            <a:srgbClr val="2A211C"/>
          </a:solidFill>
          <a:ln w="9525">
            <a:solidFill>
              <a:srgbClr val="3A2F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67728" y="2834640"/>
            <a:ext cx="3291840" cy="603504"/>
          </a:xfrm>
          <a:prstGeom prst="rect">
            <a:avLst/>
          </a:prstGeom>
          <a:noFill/>
        </p:spPr>
        <p:txBody>
          <a:bodyPr wrap="square" anchor="t" lIns="0" rIns="0" tIns="0" bIns="0">
            <a:spAutoFit/>
          </a:bodyPr>
          <a:lstStyle/>
          <a:p>
            <a:pPr algn="l">
              <a:lnSpc>
                <a:spcPct val="130000"/>
              </a:lnSpc>
            </a:pPr>
            <a:r>
              <a:rPr sz="950" b="1" lang="en-US">
                <a:solidFill>
                  <a:srgbClr val="E8C27A"/>
                </a:solidFill>
                <a:latin typeface="Menlo"/>
              </a:rPr>
              <a:t>UPCODE · 99285 → 99283</a:t>
            </a:r>
          </a:p>
          <a:p>
            <a:pPr algn="l">
              <a:lnSpc>
                <a:spcPct val="130000"/>
              </a:lnSpc>
            </a:pPr>
            <a:r>
              <a:rPr sz="1050" b="0" lang="en-US">
                <a:solidFill>
                  <a:srgbClr val="9A928B"/>
                </a:solidFill>
                <a:latin typeface="Avenir Next"/>
              </a:rPr>
              <a:t>ER level higher than the visit</a:t>
            </a:r>
          </a:p>
        </p:txBody>
      </p:sp>
      <p:sp>
        <p:nvSpPr>
          <p:cNvPr id="20" name="TextBox 19"/>
          <p:cNvSpPr txBox="1"/>
          <p:nvPr/>
        </p:nvSpPr>
        <p:spPr>
          <a:xfrm>
            <a:off x="10058400" y="2962656"/>
            <a:ext cx="1170432" cy="320040"/>
          </a:xfrm>
          <a:prstGeom prst="rect">
            <a:avLst/>
          </a:prstGeom>
          <a:noFill/>
        </p:spPr>
        <p:txBody>
          <a:bodyPr wrap="square" anchor="t" lIns="0" rIns="0" tIns="0" bIns="0">
            <a:spAutoFit/>
          </a:bodyPr>
          <a:lstStyle/>
          <a:p>
            <a:pPr algn="r">
              <a:lnSpc>
                <a:spcPct val="100000"/>
              </a:lnSpc>
            </a:pPr>
            <a:r>
              <a:rPr sz="1200" b="0" lang="en-US">
                <a:solidFill>
                  <a:srgbClr val="E8C27A"/>
                </a:solidFill>
                <a:latin typeface="Menlo"/>
              </a:rPr>
              <a:t>−$2,011</a:t>
            </a:r>
          </a:p>
        </p:txBody>
      </p:sp>
      <p:sp>
        <p:nvSpPr>
          <p:cNvPr id="21" name="Rounded Rectangle 20"/>
          <p:cNvSpPr/>
          <p:nvPr/>
        </p:nvSpPr>
        <p:spPr>
          <a:xfrm>
            <a:off x="6720840" y="3712464"/>
            <a:ext cx="4645152" cy="877824"/>
          </a:xfrm>
          <a:prstGeom prst="roundRect">
            <a:avLst>
              <a:gd name="adj" fmla="val 10000"/>
            </a:avLst>
          </a:prstGeom>
          <a:solidFill>
            <a:srgbClr val="2A211C"/>
          </a:solidFill>
          <a:ln w="9525">
            <a:solidFill>
              <a:srgbClr val="3A2F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67728" y="3858768"/>
            <a:ext cx="3291840" cy="603504"/>
          </a:xfrm>
          <a:prstGeom prst="rect">
            <a:avLst/>
          </a:prstGeom>
          <a:noFill/>
        </p:spPr>
        <p:txBody>
          <a:bodyPr wrap="square" anchor="t" lIns="0" rIns="0" tIns="0" bIns="0">
            <a:spAutoFit/>
          </a:bodyPr>
          <a:lstStyle/>
          <a:p>
            <a:pPr algn="l">
              <a:lnSpc>
                <a:spcPct val="130000"/>
              </a:lnSpc>
            </a:pPr>
            <a:r>
              <a:rPr sz="950" b="1" lang="en-US">
                <a:solidFill>
                  <a:srgbClr val="E8C27A"/>
                </a:solidFill>
                <a:latin typeface="Menlo"/>
              </a:rPr>
              <a:t>UNBUNDLED · CPT 80053</a:t>
            </a:r>
          </a:p>
          <a:p>
            <a:pPr algn="l">
              <a:lnSpc>
                <a:spcPct val="130000"/>
              </a:lnSpc>
            </a:pPr>
            <a:r>
              <a:rPr sz="1050" b="0" lang="en-US">
                <a:solidFill>
                  <a:srgbClr val="9A928B"/>
                </a:solidFill>
                <a:latin typeface="Avenir Next"/>
              </a:rPr>
              <a:t>Metabolic panel split apart</a:t>
            </a:r>
          </a:p>
        </p:txBody>
      </p:sp>
      <p:sp>
        <p:nvSpPr>
          <p:cNvPr id="23" name="TextBox 22"/>
          <p:cNvSpPr txBox="1"/>
          <p:nvPr/>
        </p:nvSpPr>
        <p:spPr>
          <a:xfrm>
            <a:off x="10058400" y="3986784"/>
            <a:ext cx="1170432" cy="320040"/>
          </a:xfrm>
          <a:prstGeom prst="rect">
            <a:avLst/>
          </a:prstGeom>
          <a:noFill/>
        </p:spPr>
        <p:txBody>
          <a:bodyPr wrap="square" anchor="t" lIns="0" rIns="0" tIns="0" bIns="0">
            <a:spAutoFit/>
          </a:bodyPr>
          <a:lstStyle/>
          <a:p>
            <a:pPr algn="r">
              <a:lnSpc>
                <a:spcPct val="100000"/>
              </a:lnSpc>
            </a:pPr>
            <a:r>
              <a:rPr sz="1200" b="0" lang="en-US">
                <a:solidFill>
                  <a:srgbClr val="E8C27A"/>
                </a:solidFill>
                <a:latin typeface="Menlo"/>
              </a:rPr>
              <a:t>−$642</a:t>
            </a:r>
          </a:p>
        </p:txBody>
      </p:sp>
      <p:sp>
        <p:nvSpPr>
          <p:cNvPr id="24" name="Rounded Rectangle 23"/>
          <p:cNvSpPr/>
          <p:nvPr/>
        </p:nvSpPr>
        <p:spPr>
          <a:xfrm>
            <a:off x="6720840" y="4736592"/>
            <a:ext cx="4645152" cy="877824"/>
          </a:xfrm>
          <a:prstGeom prst="roundRect">
            <a:avLst>
              <a:gd name="adj" fmla="val 10000"/>
            </a:avLst>
          </a:prstGeom>
          <a:solidFill>
            <a:srgbClr val="2A211C"/>
          </a:solidFill>
          <a:ln w="9525">
            <a:solidFill>
              <a:srgbClr val="3A2F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67728" y="4882896"/>
            <a:ext cx="3291840" cy="603504"/>
          </a:xfrm>
          <a:prstGeom prst="rect">
            <a:avLst/>
          </a:prstGeom>
          <a:noFill/>
        </p:spPr>
        <p:txBody>
          <a:bodyPr wrap="square" anchor="t" lIns="0" rIns="0" tIns="0" bIns="0">
            <a:spAutoFit/>
          </a:bodyPr>
          <a:lstStyle/>
          <a:p>
            <a:pPr algn="l">
              <a:lnSpc>
                <a:spcPct val="130000"/>
              </a:lnSpc>
            </a:pPr>
            <a:r>
              <a:rPr sz="950" b="1" lang="en-US">
                <a:solidFill>
                  <a:srgbClr val="E8C27A"/>
                </a:solidFill>
                <a:latin typeface="Menlo"/>
              </a:rPr>
              <a:t>EOB MISMATCH · $412</a:t>
            </a:r>
          </a:p>
          <a:p>
            <a:pPr algn="l">
              <a:lnSpc>
                <a:spcPct val="130000"/>
              </a:lnSpc>
            </a:pPr>
            <a:r>
              <a:rPr sz="1050" b="0" lang="en-US">
                <a:solidFill>
                  <a:srgbClr val="9A928B"/>
                </a:solidFill>
                <a:latin typeface="Avenir Next"/>
              </a:rPr>
              <a:t>Same duplicate. Explains the gap.</a:t>
            </a:r>
          </a:p>
        </p:txBody>
      </p:sp>
      <p:sp>
        <p:nvSpPr>
          <p:cNvPr id="26" name="TextBox 25"/>
          <p:cNvSpPr txBox="1"/>
          <p:nvPr/>
        </p:nvSpPr>
        <p:spPr>
          <a:xfrm>
            <a:off x="10058400" y="5010912"/>
            <a:ext cx="1170432" cy="320040"/>
          </a:xfrm>
          <a:prstGeom prst="rect">
            <a:avLst/>
          </a:prstGeom>
          <a:noFill/>
        </p:spPr>
        <p:txBody>
          <a:bodyPr wrap="square" anchor="t" lIns="0" rIns="0" tIns="0" bIns="0">
            <a:spAutoFit/>
          </a:bodyPr>
          <a:lstStyle/>
          <a:p>
            <a:pPr algn="r">
              <a:lnSpc>
                <a:spcPct val="100000"/>
              </a:lnSpc>
            </a:pPr>
            <a:r>
              <a:rPr sz="950" b="0" lang="en-US">
                <a:solidFill>
                  <a:srgbClr val="E8C27A"/>
                </a:solidFill>
                <a:latin typeface="Menlo"/>
              </a:rPr>
              <a:t>reconciled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463040" cy="365760"/>
          </a:xfrm>
          <a:prstGeom prst="rect">
            <a:avLst/>
          </a:prstGeom>
          <a:noFill/>
        </p:spPr>
        <p:txBody>
          <a:bodyPr wrap="square" anchor="t" lIns="0" rIns="0" tIns="0" bIns="0">
            <a:spAutoFit/>
          </a:bodyPr>
          <a:lstStyle/>
          <a:p>
            <a:pPr algn="l">
              <a:lnSpc>
                <a:spcPct val="100000"/>
              </a:lnSpc>
            </a:pPr>
            <a:r>
              <a:rPr sz="1700" b="1" lang="en-US">
                <a:solidFill>
                  <a:srgbClr val="1A1410"/>
                </a:solidFill>
                <a:latin typeface="Avenir Next"/>
              </a:rPr>
              <a:t>Haggl</a:t>
            </a:r>
          </a:p>
        </p:txBody>
      </p:sp>
      <p:sp>
        <p:nvSpPr>
          <p:cNvPr id="4" name="Rounded Rectangle 3"/>
          <p:cNvSpPr/>
          <p:nvPr/>
        </p:nvSpPr>
        <p:spPr>
          <a:xfrm rot="20520000">
            <a:off x="580644" y="461772"/>
            <a:ext cx="192024" cy="50292"/>
          </a:xfrm>
          <a:prstGeom prst="roundRect">
            <a:avLst>
              <a:gd name="adj" fmla="val 50000"/>
            </a:avLst>
          </a:prstGeom>
          <a:solidFill>
            <a:srgbClr val="E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881360" y="365760"/>
            <a:ext cx="1005840" cy="274320"/>
          </a:xfrm>
          <a:prstGeom prst="rect">
            <a:avLst/>
          </a:prstGeom>
          <a:noFill/>
        </p:spPr>
        <p:txBody>
          <a:bodyPr wrap="square" anchor="t" lIns="0" rIns="0" tIns="0" bIns="0">
            <a:spAutoFit/>
          </a:bodyPr>
          <a:lstStyle/>
          <a:p>
            <a:pPr algn="r">
              <a:lnSpc>
                <a:spcPct val="100000"/>
              </a:lnSpc>
            </a:pPr>
            <a:r>
              <a:rPr sz="1100" b="1" lang="en-US">
                <a:solidFill>
                  <a:srgbClr val="1A1410"/>
                </a:solidFill>
                <a:latin typeface="Menlo"/>
              </a:rPr>
              <a:t>06</a:t>
            </a:r>
            <a:r>
              <a:rPr sz="1100" b="0" lang="en-US">
                <a:solidFill>
                  <a:srgbClr val="A69C91"/>
                </a:solidFill>
                <a:latin typeface="Menlo"/>
              </a:rPr>
              <a:t> / 10</a:t>
            </a:r>
          </a:p>
        </p:txBody>
      </p:sp>
      <p:sp>
        <p:nvSpPr>
          <p:cNvPr id="6" name="Rectangle 5"/>
          <p:cNvSpPr/>
          <p:nvPr/>
        </p:nvSpPr>
        <p:spPr>
          <a:xfrm>
            <a:off x="0" y="6807200"/>
            <a:ext cx="7315017" cy="50800"/>
          </a:xfrm>
          <a:prstGeom prst="rect">
            <a:avLst/>
          </a:prstGeom>
          <a:solidFill>
            <a:srgbClr val="E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777240"/>
            <a:ext cx="8229600" cy="274320"/>
          </a:xfrm>
          <a:prstGeom prst="rect">
            <a:avLst/>
          </a:prstGeom>
          <a:noFill/>
        </p:spPr>
        <p:txBody>
          <a:bodyPr wrap="square" anchor="t" lIns="0" rIns="0" tIns="0" bIns="0">
            <a:spAutoFit/>
          </a:bodyPr>
          <a:lstStyle/>
          <a:p>
            <a:pPr algn="l">
              <a:lnSpc>
                <a:spcPct val="100000"/>
              </a:lnSpc>
            </a:pPr>
            <a:r>
              <a:rPr sz="1100" b="0" lang="en-US">
                <a:solidFill>
                  <a:srgbClr val="EF6B45"/>
                </a:solidFill>
                <a:latin typeface="Menlo"/>
              </a:rPr>
              <a:t>HOW IT WORKS</a:t>
            </a:r>
          </a:p>
        </p:txBody>
      </p:sp>
      <p:sp>
        <p:nvSpPr>
          <p:cNvPr id="8" name="TextBox 7"/>
          <p:cNvSpPr txBox="1"/>
          <p:nvPr/>
        </p:nvSpPr>
        <p:spPr>
          <a:xfrm>
            <a:off x="822960" y="1097280"/>
            <a:ext cx="10058400" cy="1234440"/>
          </a:xfrm>
          <a:prstGeom prst="rect">
            <a:avLst/>
          </a:prstGeom>
          <a:noFill/>
        </p:spPr>
        <p:txBody>
          <a:bodyPr wrap="square" anchor="t" lIns="0" rIns="0" tIns="0" bIns="0">
            <a:spAutoFit/>
          </a:bodyPr>
          <a:lstStyle/>
          <a:p>
            <a:pPr algn="l">
              <a:lnSpc>
                <a:spcPct val="108000"/>
              </a:lnSpc>
            </a:pPr>
            <a:r>
              <a:rPr sz="3000" b="1" lang="en-US">
                <a:solidFill>
                  <a:srgbClr val="1A1410"/>
                </a:solidFill>
                <a:latin typeface="Avenir Next"/>
              </a:rPr>
              <a:t>The model is the mouth.</a:t>
            </a:r>
          </a:p>
          <a:p>
            <a:pPr algn="l">
              <a:lnSpc>
                <a:spcPct val="108000"/>
              </a:lnSpc>
            </a:pPr>
            <a:r>
              <a:rPr sz="3000" b="1" lang="en-US">
                <a:solidFill>
                  <a:srgbClr val="1A1410"/>
                </a:solidFill>
                <a:latin typeface="Avenir Next"/>
              </a:rPr>
              <a:t>Not the brain-stem.</a:t>
            </a:r>
          </a:p>
        </p:txBody>
      </p:sp>
      <p:sp>
        <p:nvSpPr>
          <p:cNvPr id="9" name="TextBox 8"/>
          <p:cNvSpPr txBox="1"/>
          <p:nvPr/>
        </p:nvSpPr>
        <p:spPr>
          <a:xfrm>
            <a:off x="822960" y="2286000"/>
            <a:ext cx="9601200" cy="365760"/>
          </a:xfrm>
          <a:prstGeom prst="rect">
            <a:avLst/>
          </a:prstGeom>
          <a:noFill/>
        </p:spPr>
        <p:txBody>
          <a:bodyPr wrap="square" anchor="t" lIns="0" rIns="0" tIns="0" bIns="0">
            <a:spAutoFit/>
          </a:bodyPr>
          <a:lstStyle/>
          <a:p>
            <a:pPr algn="l">
              <a:lnSpc>
                <a:spcPct val="100000"/>
              </a:lnSpc>
            </a:pPr>
            <a:r>
              <a:rPr sz="1250" b="0" lang="en-US">
                <a:solidFill>
                  <a:srgbClr val="6B6058"/>
                </a:solidFill>
                <a:latin typeface="Avenir Next"/>
              </a:rPr>
              <a:t>A deterministic ladder decides every move. The agent can only speak a number a tool handed it.</a:t>
            </a:r>
          </a:p>
        </p:txBody>
      </p:sp>
      <p:sp>
        <p:nvSpPr>
          <p:cNvPr id="10" name="Rounded Rectangle 9"/>
          <p:cNvSpPr/>
          <p:nvPr/>
        </p:nvSpPr>
        <p:spPr>
          <a:xfrm>
            <a:off x="822960" y="3017520"/>
            <a:ext cx="1874519" cy="868680"/>
          </a:xfrm>
          <a:prstGeom prst="roundRect">
            <a:avLst>
              <a:gd name="adj" fmla="val 12000"/>
            </a:avLst>
          </a:prstGeom>
          <a:solidFill>
            <a:srgbClr val="DCE6F0"/>
          </a:solidFill>
          <a:ln w="9525">
            <a:solidFill>
              <a:srgbClr val="AFC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3145536"/>
            <a:ext cx="1581911" cy="630936"/>
          </a:xfrm>
          <a:prstGeom prst="rect">
            <a:avLst/>
          </a:prstGeom>
          <a:noFill/>
        </p:spPr>
        <p:txBody>
          <a:bodyPr wrap="square" anchor="t" lIns="0" rIns="0" tIns="0" bIns="0">
            <a:spAutoFit/>
          </a:bodyPr>
          <a:lstStyle/>
          <a:p>
            <a:pPr algn="l">
              <a:lnSpc>
                <a:spcPct val="116000"/>
              </a:lnSpc>
            </a:pPr>
            <a:r>
              <a:rPr sz="1350" b="1" lang="en-US">
                <a:solidFill>
                  <a:srgbClr val="1A1410"/>
                </a:solidFill>
                <a:latin typeface="Avenir Next"/>
              </a:rPr>
              <a:t>Bill + EOB</a:t>
            </a:r>
          </a:p>
          <a:p>
            <a:pPr algn="l">
              <a:lnSpc>
                <a:spcPct val="116000"/>
              </a:lnSpc>
            </a:pPr>
            <a:r>
              <a:rPr sz="1000" b="0" lang="en-US">
                <a:solidFill>
                  <a:srgbClr val="6B6058"/>
                </a:solidFill>
                <a:latin typeface="Avenir Next"/>
              </a:rPr>
              <a:t>what you upload</a:t>
            </a:r>
          </a:p>
        </p:txBody>
      </p:sp>
      <p:sp>
        <p:nvSpPr>
          <p:cNvPr id="12" name="Rounded Rectangle 11"/>
          <p:cNvSpPr/>
          <p:nvPr/>
        </p:nvSpPr>
        <p:spPr>
          <a:xfrm>
            <a:off x="3246120" y="2907792"/>
            <a:ext cx="2697480" cy="1088136"/>
          </a:xfrm>
          <a:prstGeom prst="roundRect">
            <a:avLst>
              <a:gd name="adj" fmla="val 12000"/>
            </a:avLst>
          </a:prstGeom>
          <a:solidFill>
            <a:srgbClr val="DCEBE0"/>
          </a:solidFill>
          <a:ln w="9525">
            <a:solidFill>
              <a:srgbClr val="AECB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10712" y="3035808"/>
            <a:ext cx="2404872" cy="850392"/>
          </a:xfrm>
          <a:prstGeom prst="rect">
            <a:avLst/>
          </a:prstGeom>
          <a:noFill/>
        </p:spPr>
        <p:txBody>
          <a:bodyPr wrap="square" anchor="t" lIns="0" rIns="0" tIns="0" bIns="0">
            <a:spAutoFit/>
          </a:bodyPr>
          <a:lstStyle/>
          <a:p>
            <a:pPr algn="l">
              <a:lnSpc>
                <a:spcPct val="116000"/>
              </a:lnSpc>
            </a:pPr>
            <a:r>
              <a:rPr sz="1350" b="1" lang="en-US">
                <a:solidFill>
                  <a:srgbClr val="1A1410"/>
                </a:solidFill>
                <a:latin typeface="Avenir Next"/>
              </a:rPr>
              <a:t>Dossier + Ladder</a:t>
            </a:r>
          </a:p>
          <a:p>
            <a:pPr algn="l">
              <a:lnSpc>
                <a:spcPct val="116000"/>
              </a:lnSpc>
            </a:pPr>
            <a:r>
              <a:rPr sz="1000" b="0" lang="en-US">
                <a:solidFill>
                  <a:srgbClr val="6B6058"/>
                </a:solidFill>
                <a:latin typeface="Avenir Next"/>
              </a:rPr>
              <a:t>deterministic state machine · decides every move</a:t>
            </a:r>
          </a:p>
          <a:p>
            <a:pPr algn="l">
              <a:lnSpc>
                <a:spcPct val="116000"/>
              </a:lnSpc>
            </a:pPr>
            <a:r>
              <a:rPr sz="900" b="0" lang="en-US">
                <a:solidFill>
                  <a:srgbClr val="3E6650"/>
                </a:solidFill>
                <a:latin typeface="Menlo"/>
              </a:rPr>
              <a:t>state_machine.py</a:t>
            </a:r>
          </a:p>
        </p:txBody>
      </p:sp>
      <p:sp>
        <p:nvSpPr>
          <p:cNvPr id="14" name="Rounded Rectangle 13"/>
          <p:cNvSpPr/>
          <p:nvPr/>
        </p:nvSpPr>
        <p:spPr>
          <a:xfrm>
            <a:off x="6492240" y="3017520"/>
            <a:ext cx="2011680" cy="868680"/>
          </a:xfrm>
          <a:prstGeom prst="roundRect">
            <a:avLst>
              <a:gd name="adj" fmla="val 12000"/>
            </a:avLst>
          </a:prstGeom>
          <a:solidFill>
            <a:srgbClr val="DCEBE0"/>
          </a:solidFill>
          <a:ln w="9525">
            <a:solidFill>
              <a:srgbClr val="AECB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56832" y="3145536"/>
            <a:ext cx="1719072" cy="630936"/>
          </a:xfrm>
          <a:prstGeom prst="rect">
            <a:avLst/>
          </a:prstGeom>
          <a:noFill/>
        </p:spPr>
        <p:txBody>
          <a:bodyPr wrap="square" anchor="t" lIns="0" rIns="0" tIns="0" bIns="0">
            <a:spAutoFit/>
          </a:bodyPr>
          <a:lstStyle/>
          <a:p>
            <a:pPr algn="l">
              <a:lnSpc>
                <a:spcPct val="116000"/>
              </a:lnSpc>
            </a:pPr>
            <a:r>
              <a:rPr sz="1350" b="1" lang="en-US">
                <a:solidFill>
                  <a:srgbClr val="1A1410"/>
                </a:solidFill>
                <a:latin typeface="Avenir Next"/>
              </a:rPr>
              <a:t>Voice agent</a:t>
            </a:r>
          </a:p>
          <a:p>
            <a:pPr algn="l">
              <a:lnSpc>
                <a:spcPct val="116000"/>
              </a:lnSpc>
            </a:pPr>
            <a:r>
              <a:rPr sz="1000" b="0" lang="en-US">
                <a:solidFill>
                  <a:srgbClr val="6B6058"/>
                </a:solidFill>
                <a:latin typeface="Avenir Next"/>
              </a:rPr>
              <a:t>the mouth · ElevenLabs</a:t>
            </a:r>
          </a:p>
        </p:txBody>
      </p:sp>
      <p:sp>
        <p:nvSpPr>
          <p:cNvPr id="16" name="Rounded Rectangle 15"/>
          <p:cNvSpPr/>
          <p:nvPr/>
        </p:nvSpPr>
        <p:spPr>
          <a:xfrm>
            <a:off x="9052560" y="3017520"/>
            <a:ext cx="1508760" cy="868680"/>
          </a:xfrm>
          <a:prstGeom prst="roundRect">
            <a:avLst>
              <a:gd name="adj" fmla="val 12000"/>
            </a:avLst>
          </a:prstGeom>
          <a:solidFill>
            <a:srgbClr val="DCE6F0"/>
          </a:solidFill>
          <a:ln w="9525">
            <a:solidFill>
              <a:srgbClr val="AFC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17152" y="3145536"/>
            <a:ext cx="1216152" cy="630936"/>
          </a:xfrm>
          <a:prstGeom prst="rect">
            <a:avLst/>
          </a:prstGeom>
          <a:noFill/>
        </p:spPr>
        <p:txBody>
          <a:bodyPr wrap="square" anchor="t" lIns="0" rIns="0" tIns="0" bIns="0">
            <a:spAutoFit/>
          </a:bodyPr>
          <a:lstStyle/>
          <a:p>
            <a:pPr algn="l">
              <a:lnSpc>
                <a:spcPct val="116000"/>
              </a:lnSpc>
            </a:pPr>
            <a:r>
              <a:rPr sz="1350" b="1" lang="en-US">
                <a:solidFill>
                  <a:srgbClr val="1A1410"/>
                </a:solidFill>
                <a:latin typeface="Avenir Next"/>
              </a:rPr>
              <a:t>Live call</a:t>
            </a:r>
          </a:p>
          <a:p>
            <a:pPr algn="l">
              <a:lnSpc>
                <a:spcPct val="116000"/>
              </a:lnSpc>
            </a:pPr>
            <a:r>
              <a:rPr sz="1000" b="0" lang="en-US">
                <a:solidFill>
                  <a:srgbClr val="6B6058"/>
                </a:solidFill>
                <a:latin typeface="Avenir Next"/>
              </a:rPr>
              <a:t>Twilio PSTN</a:t>
            </a:r>
          </a:p>
        </p:txBody>
      </p:sp>
      <p:sp>
        <p:nvSpPr>
          <p:cNvPr id="18" name="Rectangle 17"/>
          <p:cNvSpPr/>
          <p:nvPr/>
        </p:nvSpPr>
        <p:spPr>
          <a:xfrm>
            <a:off x="2697480" y="3456432"/>
            <a:ext cx="548640" cy="13970"/>
          </a:xfrm>
          <a:prstGeom prst="rect">
            <a:avLst/>
          </a:prstGeom>
          <a:solidFill>
            <a:srgbClr val="AECB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0" y="3456432"/>
            <a:ext cx="548640" cy="13970"/>
          </a:xfrm>
          <a:prstGeom prst="rect">
            <a:avLst/>
          </a:prstGeom>
          <a:solidFill>
            <a:srgbClr val="AECB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503920" y="3456432"/>
            <a:ext cx="548640" cy="13970"/>
          </a:xfrm>
          <a:prstGeom prst="rect">
            <a:avLst/>
          </a:prstGeom>
          <a:solidFill>
            <a:srgbClr val="AECB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22960" y="4526280"/>
            <a:ext cx="3460060" cy="384048"/>
          </a:xfrm>
          <a:prstGeom prst="roundRect">
            <a:avLst>
              <a:gd name="adj" fmla="val 50000"/>
            </a:avLst>
          </a:prstGeom>
          <a:solidFill>
            <a:srgbClr val="FFFFFF"/>
          </a:solidFill>
          <a:ln w="9525">
            <a:solidFill>
              <a:srgbClr val="E8D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4613148"/>
            <a:ext cx="3277180" cy="237744"/>
          </a:xfrm>
          <a:prstGeom prst="rect">
            <a:avLst/>
          </a:prstGeom>
          <a:noFill/>
        </p:spPr>
        <p:txBody>
          <a:bodyPr wrap="square" anchor="t" lIns="0" rIns="0" tIns="0" bIns="0">
            <a:spAutoFit/>
          </a:bodyPr>
          <a:lstStyle/>
          <a:p>
            <a:pPr algn="l">
              <a:lnSpc>
                <a:spcPct val="100000"/>
              </a:lnSpc>
            </a:pPr>
            <a:r>
              <a:rPr sz="950" b="1" lang="en-US">
                <a:solidFill>
                  <a:srgbClr val="EF6B45"/>
                </a:solidFill>
                <a:latin typeface="Menlo"/>
              </a:rPr>
              <a:t>tools</a:t>
            </a:r>
            <a:r>
              <a:rPr sz="1000" b="0" lang="en-US">
                <a:solidFill>
                  <a:srgbClr val="6B6058"/>
                </a:solidFill>
                <a:latin typeface="Avenir Next"/>
              </a:rPr>
              <a:t>  numbers only through registered tools</a:t>
            </a:r>
          </a:p>
        </p:txBody>
      </p:sp>
      <p:sp>
        <p:nvSpPr>
          <p:cNvPr id="23" name="Rounded Rectangle 22"/>
          <p:cNvSpPr/>
          <p:nvPr/>
        </p:nvSpPr>
        <p:spPr>
          <a:xfrm>
            <a:off x="4447612" y="4526280"/>
            <a:ext cx="2410340" cy="384048"/>
          </a:xfrm>
          <a:prstGeom prst="roundRect">
            <a:avLst>
              <a:gd name="adj" fmla="val 50000"/>
            </a:avLst>
          </a:prstGeom>
          <a:solidFill>
            <a:srgbClr val="FFFFFF"/>
          </a:solidFill>
          <a:ln w="9525">
            <a:solidFill>
              <a:srgbClr val="E8D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93916" y="4613148"/>
            <a:ext cx="2227460" cy="237744"/>
          </a:xfrm>
          <a:prstGeom prst="rect">
            <a:avLst/>
          </a:prstGeom>
          <a:noFill/>
        </p:spPr>
        <p:txBody>
          <a:bodyPr wrap="square" anchor="t" lIns="0" rIns="0" tIns="0" bIns="0">
            <a:spAutoFit/>
          </a:bodyPr>
          <a:lstStyle/>
          <a:p>
            <a:pPr algn="l">
              <a:lnSpc>
                <a:spcPct val="100000"/>
              </a:lnSpc>
            </a:pPr>
            <a:r>
              <a:rPr sz="950" b="1" lang="en-US">
                <a:solidFill>
                  <a:srgbClr val="EF6B45"/>
                </a:solidFill>
                <a:latin typeface="Menlo"/>
              </a:rPr>
              <a:t>audit</a:t>
            </a:r>
            <a:r>
              <a:rPr sz="1000" b="0" lang="en-US">
                <a:solidFill>
                  <a:srgbClr val="6B6058"/>
                </a:solidFill>
                <a:latin typeface="Avenir Next"/>
              </a:rPr>
              <a:t>  post-call honesty audit</a:t>
            </a:r>
          </a:p>
        </p:txBody>
      </p:sp>
      <p:sp>
        <p:nvSpPr>
          <p:cNvPr id="25" name="Rounded Rectangle 24"/>
          <p:cNvSpPr/>
          <p:nvPr/>
        </p:nvSpPr>
        <p:spPr>
          <a:xfrm>
            <a:off x="7022544" y="4526280"/>
            <a:ext cx="1960460" cy="384048"/>
          </a:xfrm>
          <a:prstGeom prst="roundRect">
            <a:avLst>
              <a:gd name="adj" fmla="val 50000"/>
            </a:avLst>
          </a:prstGeom>
          <a:solidFill>
            <a:srgbClr val="FFFFFF"/>
          </a:solidFill>
          <a:ln w="9525">
            <a:solidFill>
              <a:srgbClr val="E8D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68848" y="4613148"/>
            <a:ext cx="1777580" cy="237744"/>
          </a:xfrm>
          <a:prstGeom prst="rect">
            <a:avLst/>
          </a:prstGeom>
          <a:noFill/>
        </p:spPr>
        <p:txBody>
          <a:bodyPr wrap="square" anchor="t" lIns="0" rIns="0" tIns="0" bIns="0">
            <a:spAutoFit/>
          </a:bodyPr>
          <a:lstStyle/>
          <a:p>
            <a:pPr algn="l">
              <a:lnSpc>
                <a:spcPct val="100000"/>
              </a:lnSpc>
            </a:pPr>
            <a:r>
              <a:rPr sz="950" b="1" lang="en-US">
                <a:solidFill>
                  <a:srgbClr val="EF6B45"/>
                </a:solidFill>
                <a:latin typeface="Menlo"/>
              </a:rPr>
              <a:t>realtime</a:t>
            </a:r>
            <a:r>
              <a:rPr sz="1000" b="0" lang="en-US">
                <a:solidFill>
                  <a:srgbClr val="6B6058"/>
                </a:solidFill>
                <a:latin typeface="Avenir Next"/>
              </a:rPr>
              <a:t>  Supabase War Room</a:t>
            </a:r>
          </a:p>
        </p:txBody>
      </p:sp>
      <p:sp>
        <p:nvSpPr>
          <p:cNvPr id="27" name="Rounded Rectangle 26"/>
          <p:cNvSpPr/>
          <p:nvPr/>
        </p:nvSpPr>
        <p:spPr>
          <a:xfrm>
            <a:off x="9147596" y="4526280"/>
            <a:ext cx="1960460" cy="384048"/>
          </a:xfrm>
          <a:prstGeom prst="roundRect">
            <a:avLst>
              <a:gd name="adj" fmla="val 50000"/>
            </a:avLst>
          </a:prstGeom>
          <a:solidFill>
            <a:srgbClr val="FFFFFF"/>
          </a:solidFill>
          <a:ln w="9525">
            <a:solidFill>
              <a:srgbClr val="E8D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93900" y="4613148"/>
            <a:ext cx="1777580" cy="237744"/>
          </a:xfrm>
          <a:prstGeom prst="rect">
            <a:avLst/>
          </a:prstGeom>
          <a:noFill/>
        </p:spPr>
        <p:txBody>
          <a:bodyPr wrap="square" anchor="t" lIns="0" rIns="0" tIns="0" bIns="0">
            <a:spAutoFit/>
          </a:bodyPr>
          <a:lstStyle/>
          <a:p>
            <a:pPr algn="l">
              <a:lnSpc>
                <a:spcPct val="100000"/>
              </a:lnSpc>
            </a:pPr>
            <a:r>
              <a:rPr sz="950" b="1" lang="en-US">
                <a:solidFill>
                  <a:srgbClr val="EF6B45"/>
                </a:solidFill>
                <a:latin typeface="Menlo"/>
              </a:rPr>
              <a:t>config</a:t>
            </a:r>
            <a:r>
              <a:rPr sz="1000" b="0" lang="en-US">
                <a:solidFill>
                  <a:srgbClr val="6B6058"/>
                </a:solidFill>
                <a:latin typeface="Avenir Next"/>
              </a:rPr>
              <a:t>  verticals as YAML</a:t>
            </a:r>
          </a:p>
        </p:txBody>
      </p:sp>
      <p:sp>
        <p:nvSpPr>
          <p:cNvPr id="29" name="TextBox 28"/>
          <p:cNvSpPr txBox="1"/>
          <p:nvPr/>
        </p:nvSpPr>
        <p:spPr>
          <a:xfrm>
            <a:off x="822960" y="5349240"/>
            <a:ext cx="10424160" cy="640080"/>
          </a:xfrm>
          <a:prstGeom prst="rect">
            <a:avLst/>
          </a:prstGeom>
          <a:noFill/>
        </p:spPr>
        <p:txBody>
          <a:bodyPr wrap="square" anchor="t" lIns="0" rIns="0" tIns="0" bIns="0">
            <a:spAutoFit/>
          </a:bodyPr>
          <a:lstStyle/>
          <a:p>
            <a:pPr algn="l">
              <a:lnSpc>
                <a:spcPct val="100000"/>
              </a:lnSpc>
            </a:pPr>
            <a:r>
              <a:rPr sz="1250" b="0" lang="en-US">
                <a:solidFill>
                  <a:srgbClr val="6B6058"/>
                </a:solidFill>
                <a:latin typeface="Avenir Next"/>
              </a:rPr>
              <a:t>The benchmark tool cites the hospital's own file. Mercy's posted cash price is </a:t>
            </a:r>
            <a:r>
              <a:rPr sz="1250" b="1" lang="en-US">
                <a:solidFill>
                  <a:srgbClr val="1A1410"/>
                </a:solidFill>
                <a:latin typeface="Menlo"/>
              </a:rPr>
              <a:t>$2,633</a:t>
            </a:r>
            <a:r>
              <a:rPr sz="1250" b="0" lang="en-US">
                <a:solidFill>
                  <a:srgbClr val="6B6058"/>
                </a:solidFill>
                <a:latin typeface="Avenir Next"/>
              </a:rPr>
              <a:t>. Insurers there pay </a:t>
            </a:r>
            <a:r>
              <a:rPr sz="1250" b="1" lang="en-US">
                <a:solidFill>
                  <a:srgbClr val="1A1410"/>
                </a:solidFill>
                <a:latin typeface="Menlo"/>
              </a:rPr>
              <a:t>$999</a:t>
            </a:r>
            <a:r>
              <a:rPr sz="1250" b="0" lang="en-US">
                <a:solidFill>
                  <a:srgbClr val="6B6058"/>
                </a:solidFill>
                <a:latin typeface="Avenir Next"/>
              </a:rPr>
              <a:t>. Both public.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463040" cy="365760"/>
          </a:xfrm>
          <a:prstGeom prst="rect">
            <a:avLst/>
          </a:prstGeom>
          <a:noFill/>
        </p:spPr>
        <p:txBody>
          <a:bodyPr wrap="square" anchor="t" lIns="0" rIns="0" tIns="0" bIns="0">
            <a:spAutoFit/>
          </a:bodyPr>
          <a:lstStyle/>
          <a:p>
            <a:pPr algn="l">
              <a:lnSpc>
                <a:spcPct val="100000"/>
              </a:lnSpc>
            </a:pPr>
            <a:r>
              <a:rPr sz="1700" b="1" lang="en-US">
                <a:solidFill>
                  <a:srgbClr val="1A1410"/>
                </a:solidFill>
                <a:latin typeface="Avenir Next"/>
              </a:rPr>
              <a:t>Haggl</a:t>
            </a:r>
          </a:p>
        </p:txBody>
      </p:sp>
      <p:sp>
        <p:nvSpPr>
          <p:cNvPr id="4" name="Rounded Rectangle 3"/>
          <p:cNvSpPr/>
          <p:nvPr/>
        </p:nvSpPr>
        <p:spPr>
          <a:xfrm rot="20520000">
            <a:off x="580644" y="461772"/>
            <a:ext cx="192024" cy="50292"/>
          </a:xfrm>
          <a:prstGeom prst="roundRect">
            <a:avLst>
              <a:gd name="adj" fmla="val 50000"/>
            </a:avLst>
          </a:prstGeom>
          <a:solidFill>
            <a:srgbClr val="E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881360" y="365760"/>
            <a:ext cx="1005840" cy="274320"/>
          </a:xfrm>
          <a:prstGeom prst="rect">
            <a:avLst/>
          </a:prstGeom>
          <a:noFill/>
        </p:spPr>
        <p:txBody>
          <a:bodyPr wrap="square" anchor="t" lIns="0" rIns="0" tIns="0" bIns="0">
            <a:spAutoFit/>
          </a:bodyPr>
          <a:lstStyle/>
          <a:p>
            <a:pPr algn="r">
              <a:lnSpc>
                <a:spcPct val="100000"/>
              </a:lnSpc>
            </a:pPr>
            <a:r>
              <a:rPr sz="1100" b="1" lang="en-US">
                <a:solidFill>
                  <a:srgbClr val="1A1410"/>
                </a:solidFill>
                <a:latin typeface="Menlo"/>
              </a:rPr>
              <a:t>07</a:t>
            </a:r>
            <a:r>
              <a:rPr sz="1100" b="0" lang="en-US">
                <a:solidFill>
                  <a:srgbClr val="A69C91"/>
                </a:solidFill>
                <a:latin typeface="Menlo"/>
              </a:rPr>
              <a:t> / 10</a:t>
            </a:r>
          </a:p>
        </p:txBody>
      </p:sp>
      <p:sp>
        <p:nvSpPr>
          <p:cNvPr id="6" name="Rectangle 5"/>
          <p:cNvSpPr/>
          <p:nvPr/>
        </p:nvSpPr>
        <p:spPr>
          <a:xfrm>
            <a:off x="0" y="6807200"/>
            <a:ext cx="8534186" cy="50800"/>
          </a:xfrm>
          <a:prstGeom prst="rect">
            <a:avLst/>
          </a:prstGeom>
          <a:solidFill>
            <a:srgbClr val="E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777240"/>
            <a:ext cx="8229600" cy="274320"/>
          </a:xfrm>
          <a:prstGeom prst="rect">
            <a:avLst/>
          </a:prstGeom>
          <a:noFill/>
        </p:spPr>
        <p:txBody>
          <a:bodyPr wrap="square" anchor="t" lIns="0" rIns="0" tIns="0" bIns="0">
            <a:spAutoFit/>
          </a:bodyPr>
          <a:lstStyle/>
          <a:p>
            <a:pPr algn="l">
              <a:lnSpc>
                <a:spcPct val="100000"/>
              </a:lnSpc>
            </a:pPr>
            <a:r>
              <a:rPr sz="1100" b="0" lang="en-US">
                <a:solidFill>
                  <a:srgbClr val="EF6B45"/>
                </a:solidFill>
                <a:latin typeface="Menlo"/>
              </a:rPr>
              <a:t>NOTHING SYNTHETIC</a:t>
            </a:r>
          </a:p>
        </p:txBody>
      </p:sp>
      <p:sp>
        <p:nvSpPr>
          <p:cNvPr id="8" name="TextBox 7"/>
          <p:cNvSpPr txBox="1"/>
          <p:nvPr/>
        </p:nvSpPr>
        <p:spPr>
          <a:xfrm>
            <a:off x="822960" y="1097280"/>
            <a:ext cx="10607040" cy="1234440"/>
          </a:xfrm>
          <a:prstGeom prst="rect">
            <a:avLst/>
          </a:prstGeom>
          <a:noFill/>
        </p:spPr>
        <p:txBody>
          <a:bodyPr wrap="square" anchor="t" lIns="0" rIns="0" tIns="0" bIns="0">
            <a:spAutoFit/>
          </a:bodyPr>
          <a:lstStyle/>
          <a:p>
            <a:pPr algn="l">
              <a:lnSpc>
                <a:spcPct val="110000"/>
              </a:lnSpc>
            </a:pPr>
            <a:r>
              <a:rPr sz="2700" b="1" lang="en-US">
                <a:solidFill>
                  <a:srgbClr val="1A1410"/>
                </a:solidFill>
                <a:latin typeface="Avenir Next"/>
              </a:rPr>
              <a:t>On a live call, our agent invented a code.</a:t>
            </a:r>
          </a:p>
          <a:p>
            <a:pPr algn="l">
              <a:lnSpc>
                <a:spcPct val="110000"/>
              </a:lnSpc>
            </a:pPr>
            <a:r>
              <a:rPr sz="2700" b="1" lang="en-US">
                <a:solidFill>
                  <a:srgbClr val="1A1410"/>
                </a:solidFill>
                <a:latin typeface="Avenir Next"/>
              </a:rPr>
              <a:t>So we made numbers come only from tools.</a:t>
            </a:r>
          </a:p>
        </p:txBody>
      </p:sp>
      <p:sp>
        <p:nvSpPr>
          <p:cNvPr id="9" name="Rounded Rectangle 8"/>
          <p:cNvSpPr/>
          <p:nvPr/>
        </p:nvSpPr>
        <p:spPr>
          <a:xfrm>
            <a:off x="822960" y="2395728"/>
            <a:ext cx="3401568" cy="2331720"/>
          </a:xfrm>
          <a:prstGeom prst="roundRect">
            <a:avLst>
              <a:gd name="adj" fmla="val 8000"/>
            </a:avLst>
          </a:prstGeom>
          <a:solidFill>
            <a:srgbClr val="FFFFFF"/>
          </a:solidFill>
          <a:ln w="9525">
            <a:solidFill>
              <a:srgbClr val="E8DDD3"/>
            </a:solidFill>
          </a:ln>
          <a:effectLst/>
          <a:effectLst>
            <a:outerShdw blurRad="90000" dist="30000" dir="5400000" rotWithShape="0">
              <a:srgbClr val="241A15">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670048"/>
            <a:ext cx="2852928" cy="228600"/>
          </a:xfrm>
          <a:prstGeom prst="rect">
            <a:avLst/>
          </a:prstGeom>
          <a:noFill/>
        </p:spPr>
        <p:txBody>
          <a:bodyPr wrap="square" anchor="t" lIns="0" rIns="0" tIns="0" bIns="0">
            <a:spAutoFit/>
          </a:bodyPr>
          <a:lstStyle/>
          <a:p>
            <a:pPr algn="l">
              <a:lnSpc>
                <a:spcPct val="100000"/>
              </a:lnSpc>
            </a:pPr>
            <a:r>
              <a:rPr sz="900" b="0" lang="en-US">
                <a:solidFill>
                  <a:srgbClr val="EF6B45"/>
                </a:solidFill>
                <a:latin typeface="Menlo"/>
              </a:rPr>
              <a:t>THE SLIP</a:t>
            </a:r>
          </a:p>
        </p:txBody>
      </p:sp>
      <p:sp>
        <p:nvSpPr>
          <p:cNvPr id="11" name="TextBox 10"/>
          <p:cNvSpPr txBox="1"/>
          <p:nvPr/>
        </p:nvSpPr>
        <p:spPr>
          <a:xfrm>
            <a:off x="1097280" y="2962656"/>
            <a:ext cx="2852928" cy="365760"/>
          </a:xfrm>
          <a:prstGeom prst="rect">
            <a:avLst/>
          </a:prstGeom>
          <a:noFill/>
        </p:spPr>
        <p:txBody>
          <a:bodyPr wrap="square" anchor="t" lIns="0" rIns="0" tIns="0" bIns="0">
            <a:spAutoFit/>
          </a:bodyPr>
          <a:lstStyle/>
          <a:p>
            <a:pPr algn="l">
              <a:lnSpc>
                <a:spcPct val="100000"/>
              </a:lnSpc>
            </a:pPr>
            <a:r>
              <a:rPr sz="1500" b="1" lang="en-US">
                <a:solidFill>
                  <a:srgbClr val="1A1410"/>
                </a:solidFill>
                <a:latin typeface="Avenir Next"/>
              </a:rPr>
              <a:t>It filled a gap itself</a:t>
            </a:r>
          </a:p>
        </p:txBody>
      </p:sp>
      <p:sp>
        <p:nvSpPr>
          <p:cNvPr id="12" name="TextBox 11"/>
          <p:cNvSpPr txBox="1"/>
          <p:nvPr/>
        </p:nvSpPr>
        <p:spPr>
          <a:xfrm>
            <a:off x="1097280" y="3401568"/>
            <a:ext cx="2852928" cy="1188720"/>
          </a:xfrm>
          <a:prstGeom prst="rect">
            <a:avLst/>
          </a:prstGeom>
          <a:noFill/>
        </p:spPr>
        <p:txBody>
          <a:bodyPr wrap="square" anchor="t" lIns="0" rIns="0" tIns="0" bIns="0">
            <a:spAutoFit/>
          </a:bodyPr>
          <a:lstStyle/>
          <a:p>
            <a:pPr algn="l">
              <a:lnSpc>
                <a:spcPct val="130000"/>
              </a:lnSpc>
            </a:pPr>
            <a:r>
              <a:rPr sz="1150" b="0" lang="en-US">
                <a:solidFill>
                  <a:srgbClr val="6B6058"/>
                </a:solidFill>
                <a:latin typeface="Avenir Next"/>
              </a:rPr>
              <a:t>On a real call, the agent spoke a CPT code that was never in the dossier. Its tools were not registered, so it made one up.</a:t>
            </a:r>
          </a:p>
        </p:txBody>
      </p:sp>
      <p:sp>
        <p:nvSpPr>
          <p:cNvPr id="13" name="Rounded Rectangle 12"/>
          <p:cNvSpPr/>
          <p:nvPr/>
        </p:nvSpPr>
        <p:spPr>
          <a:xfrm>
            <a:off x="4425696" y="2395728"/>
            <a:ext cx="3401568" cy="2331720"/>
          </a:xfrm>
          <a:prstGeom prst="roundRect">
            <a:avLst>
              <a:gd name="adj" fmla="val 8000"/>
            </a:avLst>
          </a:prstGeom>
          <a:solidFill>
            <a:srgbClr val="FFFFFF"/>
          </a:solidFill>
          <a:ln w="9525">
            <a:solidFill>
              <a:srgbClr val="E8DDD3"/>
            </a:solidFill>
          </a:ln>
          <a:effectLst/>
          <a:effectLst>
            <a:outerShdw blurRad="90000" dist="30000" dir="5400000" rotWithShape="0">
              <a:srgbClr val="241A15">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0016" y="2670048"/>
            <a:ext cx="2852928" cy="228600"/>
          </a:xfrm>
          <a:prstGeom prst="rect">
            <a:avLst/>
          </a:prstGeom>
          <a:noFill/>
        </p:spPr>
        <p:txBody>
          <a:bodyPr wrap="square" anchor="t" lIns="0" rIns="0" tIns="0" bIns="0">
            <a:spAutoFit/>
          </a:bodyPr>
          <a:lstStyle/>
          <a:p>
            <a:pPr algn="l">
              <a:lnSpc>
                <a:spcPct val="100000"/>
              </a:lnSpc>
            </a:pPr>
            <a:r>
              <a:rPr sz="900" b="0" lang="en-US">
                <a:solidFill>
                  <a:srgbClr val="EF6B45"/>
                </a:solidFill>
                <a:latin typeface="Menlo"/>
              </a:rPr>
              <a:t>THE FIX</a:t>
            </a:r>
          </a:p>
        </p:txBody>
      </p:sp>
      <p:sp>
        <p:nvSpPr>
          <p:cNvPr id="15" name="TextBox 14"/>
          <p:cNvSpPr txBox="1"/>
          <p:nvPr/>
        </p:nvSpPr>
        <p:spPr>
          <a:xfrm>
            <a:off x="4700016" y="2962656"/>
            <a:ext cx="2852928" cy="365760"/>
          </a:xfrm>
          <a:prstGeom prst="rect">
            <a:avLst/>
          </a:prstGeom>
          <a:noFill/>
        </p:spPr>
        <p:txBody>
          <a:bodyPr wrap="square" anchor="t" lIns="0" rIns="0" tIns="0" bIns="0">
            <a:spAutoFit/>
          </a:bodyPr>
          <a:lstStyle/>
          <a:p>
            <a:pPr algn="l">
              <a:lnSpc>
                <a:spcPct val="100000"/>
              </a:lnSpc>
            </a:pPr>
            <a:r>
              <a:rPr sz="1500" b="1" lang="en-US">
                <a:solidFill>
                  <a:srgbClr val="1A1410"/>
                </a:solidFill>
                <a:latin typeface="Avenir Next"/>
              </a:rPr>
              <a:t>Four webhook tools</a:t>
            </a:r>
          </a:p>
        </p:txBody>
      </p:sp>
      <p:sp>
        <p:nvSpPr>
          <p:cNvPr id="16" name="TextBox 15"/>
          <p:cNvSpPr txBox="1"/>
          <p:nvPr/>
        </p:nvSpPr>
        <p:spPr>
          <a:xfrm>
            <a:off x="4700016" y="3401568"/>
            <a:ext cx="2852928" cy="1188720"/>
          </a:xfrm>
          <a:prstGeom prst="rect">
            <a:avLst/>
          </a:prstGeom>
          <a:noFill/>
        </p:spPr>
        <p:txBody>
          <a:bodyPr wrap="square" anchor="t" lIns="0" rIns="0" tIns="0" bIns="0">
            <a:spAutoFit/>
          </a:bodyPr>
          <a:lstStyle/>
          <a:p>
            <a:pPr algn="l">
              <a:lnSpc>
                <a:spcPct val="130000"/>
              </a:lnSpc>
            </a:pPr>
            <a:r>
              <a:rPr sz="1150" b="0" lang="en-US">
                <a:solidFill>
                  <a:srgbClr val="6B6058"/>
                </a:solidFill>
                <a:latin typeface="Avenir Next"/>
              </a:rPr>
              <a:t>Same day, we registered get_benchmark and three more. Now every number comes from a tool call, or the agent does not say it.</a:t>
            </a:r>
          </a:p>
        </p:txBody>
      </p:sp>
      <p:sp>
        <p:nvSpPr>
          <p:cNvPr id="17" name="Rounded Rectangle 16"/>
          <p:cNvSpPr/>
          <p:nvPr/>
        </p:nvSpPr>
        <p:spPr>
          <a:xfrm>
            <a:off x="8028432" y="2395728"/>
            <a:ext cx="3401568" cy="2331720"/>
          </a:xfrm>
          <a:prstGeom prst="roundRect">
            <a:avLst>
              <a:gd name="adj" fmla="val 8000"/>
            </a:avLst>
          </a:prstGeom>
          <a:solidFill>
            <a:srgbClr val="FFFFFF"/>
          </a:solidFill>
          <a:ln w="9525">
            <a:solidFill>
              <a:srgbClr val="E8DDD3"/>
            </a:solidFill>
          </a:ln>
          <a:effectLst/>
          <a:effectLst>
            <a:outerShdw blurRad="90000" dist="30000" dir="5400000" rotWithShape="0">
              <a:srgbClr val="241A15">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2752" y="2670048"/>
            <a:ext cx="2852928" cy="228600"/>
          </a:xfrm>
          <a:prstGeom prst="rect">
            <a:avLst/>
          </a:prstGeom>
          <a:noFill/>
        </p:spPr>
        <p:txBody>
          <a:bodyPr wrap="square" anchor="t" lIns="0" rIns="0" tIns="0" bIns="0">
            <a:spAutoFit/>
          </a:bodyPr>
          <a:lstStyle/>
          <a:p>
            <a:pPr algn="l">
              <a:lnSpc>
                <a:spcPct val="100000"/>
              </a:lnSpc>
            </a:pPr>
            <a:r>
              <a:rPr sz="900" b="0" lang="en-US">
                <a:solidFill>
                  <a:srgbClr val="EF6B45"/>
                </a:solidFill>
                <a:latin typeface="Menlo"/>
              </a:rPr>
              <a:t>THE AUDIT</a:t>
            </a:r>
          </a:p>
        </p:txBody>
      </p:sp>
      <p:sp>
        <p:nvSpPr>
          <p:cNvPr id="19" name="TextBox 18"/>
          <p:cNvSpPr txBox="1"/>
          <p:nvPr/>
        </p:nvSpPr>
        <p:spPr>
          <a:xfrm>
            <a:off x="8302752" y="2962656"/>
            <a:ext cx="2852928" cy="365760"/>
          </a:xfrm>
          <a:prstGeom prst="rect">
            <a:avLst/>
          </a:prstGeom>
          <a:noFill/>
        </p:spPr>
        <p:txBody>
          <a:bodyPr wrap="square" anchor="t" lIns="0" rIns="0" tIns="0" bIns="0">
            <a:spAutoFit/>
          </a:bodyPr>
          <a:lstStyle/>
          <a:p>
            <a:pPr algn="l">
              <a:lnSpc>
                <a:spcPct val="100000"/>
              </a:lnSpc>
            </a:pPr>
            <a:r>
              <a:rPr sz="1500" b="1" lang="en-US">
                <a:solidFill>
                  <a:srgbClr val="1A1410"/>
                </a:solidFill>
                <a:latin typeface="Avenir Next"/>
              </a:rPr>
              <a:t>Checked after every call</a:t>
            </a:r>
          </a:p>
        </p:txBody>
      </p:sp>
      <p:sp>
        <p:nvSpPr>
          <p:cNvPr id="20" name="TextBox 19"/>
          <p:cNvSpPr txBox="1"/>
          <p:nvPr/>
        </p:nvSpPr>
        <p:spPr>
          <a:xfrm>
            <a:off x="8302752" y="3401568"/>
            <a:ext cx="2852928" cy="1188720"/>
          </a:xfrm>
          <a:prstGeom prst="rect">
            <a:avLst/>
          </a:prstGeom>
          <a:noFill/>
        </p:spPr>
        <p:txBody>
          <a:bodyPr wrap="square" anchor="t" lIns="0" rIns="0" tIns="0" bIns="0">
            <a:spAutoFit/>
          </a:bodyPr>
          <a:lstStyle/>
          <a:p>
            <a:pPr algn="l">
              <a:lnSpc>
                <a:spcPct val="130000"/>
              </a:lnSpc>
            </a:pPr>
            <a:r>
              <a:rPr sz="1150" b="0" lang="en-US">
                <a:solidFill>
                  <a:srgbClr val="6B6058"/>
                </a:solidFill>
                <a:latin typeface="Avenir Next"/>
              </a:rPr>
              <a:t>A computed honesty audit reconciles each claim against the dossier once the call ends. Anything unsupported gets flagged.</a:t>
            </a:r>
          </a:p>
        </p:txBody>
      </p:sp>
      <p:sp>
        <p:nvSpPr>
          <p:cNvPr id="21" name="Rounded Rectangle 20"/>
          <p:cNvSpPr/>
          <p:nvPr/>
        </p:nvSpPr>
        <p:spPr>
          <a:xfrm>
            <a:off x="822960" y="5138928"/>
            <a:ext cx="10543032" cy="713232"/>
          </a:xfrm>
          <a:prstGeom prst="roundRect">
            <a:avLst>
              <a:gd name="adj" fmla="val 10000"/>
            </a:avLst>
          </a:prstGeom>
          <a:solidFill>
            <a:srgbClr val="FCE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78992" y="5330952"/>
            <a:ext cx="1417320" cy="329184"/>
          </a:xfrm>
          <a:prstGeom prst="roundRect">
            <a:avLst>
              <a:gd name="adj" fmla="val 50000"/>
            </a:avLst>
          </a:prstGeom>
          <a:solidFill>
            <a:srgbClr val="E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78992" y="5390388"/>
            <a:ext cx="1417320" cy="219456"/>
          </a:xfrm>
          <a:prstGeom prst="rect">
            <a:avLst/>
          </a:prstGeom>
          <a:noFill/>
        </p:spPr>
        <p:txBody>
          <a:bodyPr wrap="square" anchor="t" lIns="0" rIns="0" tIns="0" bIns="0">
            <a:spAutoFit/>
          </a:bodyPr>
          <a:lstStyle/>
          <a:p>
            <a:pPr algn="ctr">
              <a:lnSpc>
                <a:spcPct val="100000"/>
              </a:lnSpc>
            </a:pPr>
            <a:r>
              <a:rPr sz="850" b="1" lang="en-US">
                <a:solidFill>
                  <a:srgbClr val="FFFFFF"/>
                </a:solidFill>
                <a:latin typeface="Menlo"/>
              </a:rPr>
              <a:t>REAL END TO END</a:t>
            </a:r>
          </a:p>
        </p:txBody>
      </p:sp>
      <p:sp>
        <p:nvSpPr>
          <p:cNvPr id="24" name="TextBox 23"/>
          <p:cNvSpPr txBox="1"/>
          <p:nvPr/>
        </p:nvSpPr>
        <p:spPr>
          <a:xfrm>
            <a:off x="2743200" y="5358384"/>
            <a:ext cx="8412480" cy="320040"/>
          </a:xfrm>
          <a:prstGeom prst="rect">
            <a:avLst/>
          </a:prstGeom>
          <a:noFill/>
        </p:spPr>
        <p:txBody>
          <a:bodyPr wrap="square" anchor="t" lIns="0" rIns="0" tIns="0" bIns="0">
            <a:spAutoFit/>
          </a:bodyPr>
          <a:lstStyle/>
          <a:p>
            <a:pPr algn="l">
              <a:lnSpc>
                <a:spcPct val="100000"/>
              </a:lnSpc>
            </a:pPr>
            <a:r>
              <a:rPr sz="1200" b="0" lang="en-US">
                <a:solidFill>
                  <a:srgbClr val="6B6058"/>
                </a:solidFill>
                <a:latin typeface="Avenir Next"/>
              </a:rPr>
              <a:t>ElevenLabs, Twilio PSTN, Supabase, OpenAI vision. </a:t>
            </a:r>
            <a:r>
              <a:rPr sz="1200" b="1" lang="en-US">
                <a:solidFill>
                  <a:srgbClr val="1A1410"/>
                </a:solidFill>
                <a:latin typeface="Avenir Next"/>
              </a:rPr>
              <a:t>Nothing on this slide is simulated.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463040" cy="365760"/>
          </a:xfrm>
          <a:prstGeom prst="rect">
            <a:avLst/>
          </a:prstGeom>
          <a:noFill/>
        </p:spPr>
        <p:txBody>
          <a:bodyPr wrap="square" anchor="t" lIns="0" rIns="0" tIns="0" bIns="0">
            <a:spAutoFit/>
          </a:bodyPr>
          <a:lstStyle/>
          <a:p>
            <a:pPr algn="l">
              <a:lnSpc>
                <a:spcPct val="100000"/>
              </a:lnSpc>
            </a:pPr>
            <a:r>
              <a:rPr sz="1700" b="1" lang="en-US">
                <a:solidFill>
                  <a:srgbClr val="1A1410"/>
                </a:solidFill>
                <a:latin typeface="Avenir Next"/>
              </a:rPr>
              <a:t>Haggl</a:t>
            </a:r>
          </a:p>
        </p:txBody>
      </p:sp>
      <p:sp>
        <p:nvSpPr>
          <p:cNvPr id="4" name="Rounded Rectangle 3"/>
          <p:cNvSpPr/>
          <p:nvPr/>
        </p:nvSpPr>
        <p:spPr>
          <a:xfrm rot="20520000">
            <a:off x="580644" y="461772"/>
            <a:ext cx="192024" cy="50292"/>
          </a:xfrm>
          <a:prstGeom prst="roundRect">
            <a:avLst>
              <a:gd name="adj" fmla="val 50000"/>
            </a:avLst>
          </a:prstGeom>
          <a:solidFill>
            <a:srgbClr val="E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881360" y="365760"/>
            <a:ext cx="1005840" cy="274320"/>
          </a:xfrm>
          <a:prstGeom prst="rect">
            <a:avLst/>
          </a:prstGeom>
          <a:noFill/>
        </p:spPr>
        <p:txBody>
          <a:bodyPr wrap="square" anchor="t" lIns="0" rIns="0" tIns="0" bIns="0">
            <a:spAutoFit/>
          </a:bodyPr>
          <a:lstStyle/>
          <a:p>
            <a:pPr algn="r">
              <a:lnSpc>
                <a:spcPct val="100000"/>
              </a:lnSpc>
            </a:pPr>
            <a:r>
              <a:rPr sz="1100" b="1" lang="en-US">
                <a:solidFill>
                  <a:srgbClr val="1A1410"/>
                </a:solidFill>
                <a:latin typeface="Menlo"/>
              </a:rPr>
              <a:t>08</a:t>
            </a:r>
            <a:r>
              <a:rPr sz="1100" b="0" lang="en-US">
                <a:solidFill>
                  <a:srgbClr val="A69C91"/>
                </a:solidFill>
                <a:latin typeface="Menlo"/>
              </a:rPr>
              <a:t> / 10</a:t>
            </a:r>
          </a:p>
        </p:txBody>
      </p:sp>
      <p:sp>
        <p:nvSpPr>
          <p:cNvPr id="6" name="Rectangle 5"/>
          <p:cNvSpPr/>
          <p:nvPr/>
        </p:nvSpPr>
        <p:spPr>
          <a:xfrm>
            <a:off x="0" y="6807200"/>
            <a:ext cx="9753356" cy="50800"/>
          </a:xfrm>
          <a:prstGeom prst="rect">
            <a:avLst/>
          </a:prstGeom>
          <a:solidFill>
            <a:srgbClr val="E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777240"/>
            <a:ext cx="8229600" cy="274320"/>
          </a:xfrm>
          <a:prstGeom prst="rect">
            <a:avLst/>
          </a:prstGeom>
          <a:noFill/>
        </p:spPr>
        <p:txBody>
          <a:bodyPr wrap="square" anchor="t" lIns="0" rIns="0" tIns="0" bIns="0">
            <a:spAutoFit/>
          </a:bodyPr>
          <a:lstStyle/>
          <a:p>
            <a:pPr algn="l">
              <a:lnSpc>
                <a:spcPct val="100000"/>
              </a:lnSpc>
            </a:pPr>
            <a:r>
              <a:rPr sz="1100" b="0" lang="en-US">
                <a:solidFill>
                  <a:srgbClr val="EF6B45"/>
                </a:solidFill>
                <a:latin typeface="Menlo"/>
              </a:rPr>
              <a:t>STACK + WORKFLOW</a:t>
            </a:r>
          </a:p>
        </p:txBody>
      </p:sp>
      <p:sp>
        <p:nvSpPr>
          <p:cNvPr id="8" name="TextBox 7"/>
          <p:cNvSpPr txBox="1"/>
          <p:nvPr/>
        </p:nvSpPr>
        <p:spPr>
          <a:xfrm>
            <a:off x="822960" y="1097280"/>
            <a:ext cx="5669280" cy="1234440"/>
          </a:xfrm>
          <a:prstGeom prst="rect">
            <a:avLst/>
          </a:prstGeom>
          <a:noFill/>
        </p:spPr>
        <p:txBody>
          <a:bodyPr wrap="square" anchor="t" lIns="0" rIns="0" tIns="0" bIns="0">
            <a:spAutoFit/>
          </a:bodyPr>
          <a:lstStyle/>
          <a:p>
            <a:pPr algn="l">
              <a:lnSpc>
                <a:spcPct val="108000"/>
              </a:lnSpc>
            </a:pPr>
            <a:r>
              <a:rPr sz="3000" b="1" lang="en-US">
                <a:solidFill>
                  <a:srgbClr val="1A1410"/>
                </a:solidFill>
                <a:latin typeface="Avenir Next"/>
              </a:rPr>
              <a:t>Real data. Real calls.</a:t>
            </a:r>
          </a:p>
          <a:p>
            <a:pPr algn="l">
              <a:lnSpc>
                <a:spcPct val="108000"/>
              </a:lnSpc>
            </a:pPr>
            <a:r>
              <a:rPr sz="3000" b="1" lang="en-US">
                <a:solidFill>
                  <a:srgbClr val="1A1410"/>
                </a:solidFill>
                <a:latin typeface="Avenir Next"/>
              </a:rPr>
              <a:t>Built to generalize.</a:t>
            </a:r>
          </a:p>
        </p:txBody>
      </p:sp>
      <p:sp>
        <p:nvSpPr>
          <p:cNvPr id="9" name="Rounded Rectangle 8"/>
          <p:cNvSpPr/>
          <p:nvPr/>
        </p:nvSpPr>
        <p:spPr>
          <a:xfrm>
            <a:off x="822960" y="2331720"/>
            <a:ext cx="2651760" cy="658368"/>
          </a:xfrm>
          <a:prstGeom prst="roundRect">
            <a:avLst>
              <a:gd name="adj" fmla="val 10000"/>
            </a:avLst>
          </a:prstGeom>
          <a:solidFill>
            <a:srgbClr val="FFFFFF"/>
          </a:solidFill>
          <a:ln w="9525">
            <a:solidFill>
              <a:srgbClr val="E8D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441448"/>
            <a:ext cx="2322576" cy="457200"/>
          </a:xfrm>
          <a:prstGeom prst="rect">
            <a:avLst/>
          </a:prstGeom>
          <a:noFill/>
        </p:spPr>
        <p:txBody>
          <a:bodyPr wrap="square" anchor="t" lIns="0" rIns="0" tIns="0" bIns="0">
            <a:spAutoFit/>
          </a:bodyPr>
          <a:lstStyle/>
          <a:p>
            <a:pPr algn="l">
              <a:lnSpc>
                <a:spcPct val="115000"/>
              </a:lnSpc>
            </a:pPr>
            <a:r>
              <a:rPr sz="1250" b="1" lang="en-US">
                <a:solidFill>
                  <a:srgbClr val="1A1410"/>
                </a:solidFill>
                <a:latin typeface="Avenir Next"/>
              </a:rPr>
              <a:t>Next.js</a:t>
            </a:r>
          </a:p>
          <a:p>
            <a:pPr algn="l">
              <a:lnSpc>
                <a:spcPct val="115000"/>
              </a:lnSpc>
            </a:pPr>
            <a:r>
              <a:rPr sz="950" b="0" lang="en-US">
                <a:solidFill>
                  <a:srgbClr val="6B6058"/>
                </a:solidFill>
                <a:latin typeface="Avenir Next"/>
              </a:rPr>
              <a:t>web + War Room</a:t>
            </a:r>
          </a:p>
        </p:txBody>
      </p:sp>
      <p:sp>
        <p:nvSpPr>
          <p:cNvPr id="11" name="Rounded Rectangle 10"/>
          <p:cNvSpPr/>
          <p:nvPr/>
        </p:nvSpPr>
        <p:spPr>
          <a:xfrm>
            <a:off x="3657600" y="2331720"/>
            <a:ext cx="2651760" cy="658368"/>
          </a:xfrm>
          <a:prstGeom prst="roundRect">
            <a:avLst>
              <a:gd name="adj" fmla="val 10000"/>
            </a:avLst>
          </a:prstGeom>
          <a:solidFill>
            <a:srgbClr val="FFFFFF"/>
          </a:solidFill>
          <a:ln w="9525">
            <a:solidFill>
              <a:srgbClr val="E8D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40480" y="2441448"/>
            <a:ext cx="2322576" cy="457200"/>
          </a:xfrm>
          <a:prstGeom prst="rect">
            <a:avLst/>
          </a:prstGeom>
          <a:noFill/>
        </p:spPr>
        <p:txBody>
          <a:bodyPr wrap="square" anchor="t" lIns="0" rIns="0" tIns="0" bIns="0">
            <a:spAutoFit/>
          </a:bodyPr>
          <a:lstStyle/>
          <a:p>
            <a:pPr algn="l">
              <a:lnSpc>
                <a:spcPct val="115000"/>
              </a:lnSpc>
            </a:pPr>
            <a:r>
              <a:rPr sz="1250" b="1" lang="en-US">
                <a:solidFill>
                  <a:srgbClr val="1A1410"/>
                </a:solidFill>
                <a:latin typeface="Avenir Next"/>
              </a:rPr>
              <a:t>FastAPI</a:t>
            </a:r>
          </a:p>
          <a:p>
            <a:pPr algn="l">
              <a:lnSpc>
                <a:spcPct val="115000"/>
              </a:lnSpc>
            </a:pPr>
            <a:r>
              <a:rPr sz="950" b="0" lang="en-US">
                <a:solidFill>
                  <a:srgbClr val="6B6058"/>
                </a:solidFill>
                <a:latin typeface="Avenir Next"/>
              </a:rPr>
              <a:t>engine + ladder</a:t>
            </a:r>
          </a:p>
        </p:txBody>
      </p:sp>
      <p:sp>
        <p:nvSpPr>
          <p:cNvPr id="13" name="Rounded Rectangle 12"/>
          <p:cNvSpPr/>
          <p:nvPr/>
        </p:nvSpPr>
        <p:spPr>
          <a:xfrm>
            <a:off x="822960" y="3136392"/>
            <a:ext cx="2651760" cy="658368"/>
          </a:xfrm>
          <a:prstGeom prst="roundRect">
            <a:avLst>
              <a:gd name="adj" fmla="val 10000"/>
            </a:avLst>
          </a:prstGeom>
          <a:solidFill>
            <a:srgbClr val="FFFFFF"/>
          </a:solidFill>
          <a:ln w="9525">
            <a:solidFill>
              <a:srgbClr val="E8D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3246120"/>
            <a:ext cx="2322576" cy="457200"/>
          </a:xfrm>
          <a:prstGeom prst="rect">
            <a:avLst/>
          </a:prstGeom>
          <a:noFill/>
        </p:spPr>
        <p:txBody>
          <a:bodyPr wrap="square" anchor="t" lIns="0" rIns="0" tIns="0" bIns="0">
            <a:spAutoFit/>
          </a:bodyPr>
          <a:lstStyle/>
          <a:p>
            <a:pPr algn="l">
              <a:lnSpc>
                <a:spcPct val="115000"/>
              </a:lnSpc>
            </a:pPr>
            <a:r>
              <a:rPr sz="1250" b="1" lang="en-US">
                <a:solidFill>
                  <a:srgbClr val="1A1410"/>
                </a:solidFill>
                <a:latin typeface="Avenir Next"/>
              </a:rPr>
              <a:t>Supabase</a:t>
            </a:r>
          </a:p>
          <a:p>
            <a:pPr algn="l">
              <a:lnSpc>
                <a:spcPct val="115000"/>
              </a:lnSpc>
            </a:pPr>
            <a:r>
              <a:rPr sz="950" b="0" lang="en-US">
                <a:solidFill>
                  <a:srgbClr val="6B6058"/>
                </a:solidFill>
                <a:latin typeface="Avenir Next"/>
              </a:rPr>
              <a:t>realtime + data</a:t>
            </a:r>
          </a:p>
        </p:txBody>
      </p:sp>
      <p:sp>
        <p:nvSpPr>
          <p:cNvPr id="15" name="Rounded Rectangle 14"/>
          <p:cNvSpPr/>
          <p:nvPr/>
        </p:nvSpPr>
        <p:spPr>
          <a:xfrm>
            <a:off x="3657600" y="3136392"/>
            <a:ext cx="2651760" cy="658368"/>
          </a:xfrm>
          <a:prstGeom prst="roundRect">
            <a:avLst>
              <a:gd name="adj" fmla="val 10000"/>
            </a:avLst>
          </a:prstGeom>
          <a:solidFill>
            <a:srgbClr val="FFFFFF"/>
          </a:solidFill>
          <a:ln w="9525">
            <a:solidFill>
              <a:srgbClr val="E8D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40480" y="3246120"/>
            <a:ext cx="2322576" cy="457200"/>
          </a:xfrm>
          <a:prstGeom prst="rect">
            <a:avLst/>
          </a:prstGeom>
          <a:noFill/>
        </p:spPr>
        <p:txBody>
          <a:bodyPr wrap="square" anchor="t" lIns="0" rIns="0" tIns="0" bIns="0">
            <a:spAutoFit/>
          </a:bodyPr>
          <a:lstStyle/>
          <a:p>
            <a:pPr algn="l">
              <a:lnSpc>
                <a:spcPct val="115000"/>
              </a:lnSpc>
            </a:pPr>
            <a:r>
              <a:rPr sz="1250" b="1" lang="en-US">
                <a:solidFill>
                  <a:srgbClr val="1A1410"/>
                </a:solidFill>
                <a:latin typeface="Avenir Next"/>
              </a:rPr>
              <a:t>ElevenLabs</a:t>
            </a:r>
          </a:p>
          <a:p>
            <a:pPr algn="l">
              <a:lnSpc>
                <a:spcPct val="115000"/>
              </a:lnSpc>
            </a:pPr>
            <a:r>
              <a:rPr sz="950" b="0" lang="en-US">
                <a:solidFill>
                  <a:srgbClr val="6B6058"/>
                </a:solidFill>
                <a:latin typeface="Avenir Next"/>
              </a:rPr>
              <a:t>voice agents</a:t>
            </a:r>
          </a:p>
        </p:txBody>
      </p:sp>
      <p:sp>
        <p:nvSpPr>
          <p:cNvPr id="17" name="Rounded Rectangle 16"/>
          <p:cNvSpPr/>
          <p:nvPr/>
        </p:nvSpPr>
        <p:spPr>
          <a:xfrm>
            <a:off x="822960" y="3941064"/>
            <a:ext cx="2651760" cy="658368"/>
          </a:xfrm>
          <a:prstGeom prst="roundRect">
            <a:avLst>
              <a:gd name="adj" fmla="val 10000"/>
            </a:avLst>
          </a:prstGeom>
          <a:solidFill>
            <a:srgbClr val="FFFFFF"/>
          </a:solidFill>
          <a:ln w="9525">
            <a:solidFill>
              <a:srgbClr val="E8D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050792"/>
            <a:ext cx="2322576" cy="457200"/>
          </a:xfrm>
          <a:prstGeom prst="rect">
            <a:avLst/>
          </a:prstGeom>
          <a:noFill/>
        </p:spPr>
        <p:txBody>
          <a:bodyPr wrap="square" anchor="t" lIns="0" rIns="0" tIns="0" bIns="0">
            <a:spAutoFit/>
          </a:bodyPr>
          <a:lstStyle/>
          <a:p>
            <a:pPr algn="l">
              <a:lnSpc>
                <a:spcPct val="115000"/>
              </a:lnSpc>
            </a:pPr>
            <a:r>
              <a:rPr sz="1250" b="1" lang="en-US">
                <a:solidFill>
                  <a:srgbClr val="1A1410"/>
                </a:solidFill>
                <a:latin typeface="Avenir Next"/>
              </a:rPr>
              <a:t>Twilio</a:t>
            </a:r>
          </a:p>
          <a:p>
            <a:pPr algn="l">
              <a:lnSpc>
                <a:spcPct val="115000"/>
              </a:lnSpc>
            </a:pPr>
            <a:r>
              <a:rPr sz="950" b="0" lang="en-US">
                <a:solidFill>
                  <a:srgbClr val="6B6058"/>
                </a:solidFill>
                <a:latin typeface="Avenir Next"/>
              </a:rPr>
              <a:t>PSTN calls</a:t>
            </a:r>
          </a:p>
        </p:txBody>
      </p:sp>
      <p:sp>
        <p:nvSpPr>
          <p:cNvPr id="19" name="Rounded Rectangle 18"/>
          <p:cNvSpPr/>
          <p:nvPr/>
        </p:nvSpPr>
        <p:spPr>
          <a:xfrm>
            <a:off x="3657600" y="3941064"/>
            <a:ext cx="2651760" cy="658368"/>
          </a:xfrm>
          <a:prstGeom prst="roundRect">
            <a:avLst>
              <a:gd name="adj" fmla="val 10000"/>
            </a:avLst>
          </a:prstGeom>
          <a:solidFill>
            <a:srgbClr val="FFFFFF"/>
          </a:solidFill>
          <a:ln w="9525">
            <a:solidFill>
              <a:srgbClr val="E8D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40480" y="4050792"/>
            <a:ext cx="2322576" cy="457200"/>
          </a:xfrm>
          <a:prstGeom prst="rect">
            <a:avLst/>
          </a:prstGeom>
          <a:noFill/>
        </p:spPr>
        <p:txBody>
          <a:bodyPr wrap="square" anchor="t" lIns="0" rIns="0" tIns="0" bIns="0">
            <a:spAutoFit/>
          </a:bodyPr>
          <a:lstStyle/>
          <a:p>
            <a:pPr algn="l">
              <a:lnSpc>
                <a:spcPct val="115000"/>
              </a:lnSpc>
            </a:pPr>
            <a:r>
              <a:rPr sz="1250" b="1" lang="en-US">
                <a:solidFill>
                  <a:srgbClr val="1A1410"/>
                </a:solidFill>
                <a:latin typeface="Avenir Next"/>
              </a:rPr>
              <a:t>OpenAI</a:t>
            </a:r>
          </a:p>
          <a:p>
            <a:pPr algn="l">
              <a:lnSpc>
                <a:spcPct val="115000"/>
              </a:lnSpc>
            </a:pPr>
            <a:r>
              <a:rPr sz="950" b="0" lang="en-US">
                <a:solidFill>
                  <a:srgbClr val="6B6058"/>
                </a:solidFill>
                <a:latin typeface="Avenir Next"/>
              </a:rPr>
              <a:t>vision parse</a:t>
            </a:r>
          </a:p>
        </p:txBody>
      </p:sp>
      <p:sp>
        <p:nvSpPr>
          <p:cNvPr id="21" name="Rounded Rectangle 20"/>
          <p:cNvSpPr/>
          <p:nvPr/>
        </p:nvSpPr>
        <p:spPr>
          <a:xfrm>
            <a:off x="822960" y="4892040"/>
            <a:ext cx="5486400" cy="1234440"/>
          </a:xfrm>
          <a:prstGeom prst="roundRect">
            <a:avLst>
              <a:gd name="adj" fmla="val 9000"/>
            </a:avLst>
          </a:prstGeom>
          <a:solidFill>
            <a:srgbClr val="FCE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97280" y="5084064"/>
            <a:ext cx="5029200" cy="228600"/>
          </a:xfrm>
          <a:prstGeom prst="rect">
            <a:avLst/>
          </a:prstGeom>
          <a:noFill/>
        </p:spPr>
        <p:txBody>
          <a:bodyPr wrap="square" anchor="t" lIns="0" rIns="0" tIns="0" bIns="0">
            <a:spAutoFit/>
          </a:bodyPr>
          <a:lstStyle/>
          <a:p>
            <a:pPr algn="l">
              <a:lnSpc>
                <a:spcPct val="100000"/>
              </a:lnSpc>
            </a:pPr>
            <a:r>
              <a:rPr sz="900" b="0" lang="en-US">
                <a:solidFill>
                  <a:srgbClr val="D95A34"/>
                </a:solidFill>
                <a:latin typeface="Menlo"/>
              </a:rPr>
              <a:t>CONFIG, NOT CODE</a:t>
            </a:r>
          </a:p>
        </p:txBody>
      </p:sp>
      <p:sp>
        <p:nvSpPr>
          <p:cNvPr id="23" name="TextBox 22"/>
          <p:cNvSpPr txBox="1"/>
          <p:nvPr/>
        </p:nvSpPr>
        <p:spPr>
          <a:xfrm>
            <a:off x="1097280" y="5358384"/>
            <a:ext cx="5029200" cy="457200"/>
          </a:xfrm>
          <a:prstGeom prst="rect">
            <a:avLst/>
          </a:prstGeom>
          <a:noFill/>
        </p:spPr>
        <p:txBody>
          <a:bodyPr wrap="square" anchor="t" lIns="0" rIns="0" tIns="0" bIns="0">
            <a:spAutoFit/>
          </a:bodyPr>
          <a:lstStyle/>
          <a:p>
            <a:pPr algn="l">
              <a:lnSpc>
                <a:spcPct val="125000"/>
              </a:lnSpc>
            </a:pPr>
            <a:r>
              <a:rPr sz="1200" b="0" lang="en-US">
                <a:solidFill>
                  <a:srgbClr val="1A1410"/>
                </a:solidFill>
                <a:latin typeface="Avenir Next"/>
              </a:rPr>
              <a:t>Medical bills today. Moving quotes tomorrow. </a:t>
            </a:r>
            <a:r>
              <a:rPr sz="1200" b="1" lang="en-US">
                <a:solidFill>
                  <a:srgbClr val="D95A34"/>
                </a:solidFill>
                <a:latin typeface="Avenir Next"/>
              </a:rPr>
              <a:t>Same engine, a different config file.</a:t>
            </a:r>
          </a:p>
        </p:txBody>
      </p:sp>
      <p:sp>
        <p:nvSpPr>
          <p:cNvPr id="24" name="TextBox 23"/>
          <p:cNvSpPr txBox="1"/>
          <p:nvPr/>
        </p:nvSpPr>
        <p:spPr>
          <a:xfrm>
            <a:off x="1097280" y="5833872"/>
            <a:ext cx="5029200" cy="228600"/>
          </a:xfrm>
          <a:prstGeom prst="rect">
            <a:avLst/>
          </a:prstGeom>
          <a:noFill/>
        </p:spPr>
        <p:txBody>
          <a:bodyPr wrap="square" anchor="t" lIns="0" rIns="0" tIns="0" bIns="0">
            <a:spAutoFit/>
          </a:bodyPr>
          <a:lstStyle/>
          <a:p>
            <a:pPr algn="l">
              <a:lnSpc>
                <a:spcPct val="100000"/>
              </a:lnSpc>
            </a:pPr>
            <a:r>
              <a:rPr sz="900" b="0" lang="en-US">
                <a:solidFill>
                  <a:srgbClr val="A69C91"/>
                </a:solidFill>
                <a:latin typeface="Menlo"/>
              </a:rPr>
              <a:t>config/verticals/medical_bills.yaml · moving.yaml</a:t>
            </a:r>
          </a:p>
        </p:txBody>
      </p:sp>
      <p:sp>
        <p:nvSpPr>
          <p:cNvPr id="25" name="TextBox 24"/>
          <p:cNvSpPr txBox="1"/>
          <p:nvPr/>
        </p:nvSpPr>
        <p:spPr>
          <a:xfrm>
            <a:off x="6720840" y="2057400"/>
            <a:ext cx="4663440" cy="228600"/>
          </a:xfrm>
          <a:prstGeom prst="rect">
            <a:avLst/>
          </a:prstGeom>
          <a:noFill/>
        </p:spPr>
        <p:txBody>
          <a:bodyPr wrap="square" anchor="t" lIns="0" rIns="0" tIns="0" bIns="0">
            <a:spAutoFit/>
          </a:bodyPr>
          <a:lstStyle/>
          <a:p>
            <a:pPr algn="l">
              <a:lnSpc>
                <a:spcPct val="100000"/>
              </a:lnSpc>
            </a:pPr>
            <a:r>
              <a:rPr sz="900" b="0" lang="en-US">
                <a:solidFill>
                  <a:srgbClr val="A69C91"/>
                </a:solidFill>
                <a:latin typeface="Menlo"/>
              </a:rPr>
              <a:t>REPORT · BILLED VS FAIR VS ACHIEVED</a:t>
            </a:r>
          </a:p>
        </p:txBody>
      </p:sp>
      <p:sp>
        <p:nvSpPr>
          <p:cNvPr id="26" name="Rounded Rectangle 25"/>
          <p:cNvSpPr/>
          <p:nvPr/>
        </p:nvSpPr>
        <p:spPr>
          <a:xfrm>
            <a:off x="6720840" y="2331720"/>
            <a:ext cx="4645152" cy="2606040"/>
          </a:xfrm>
          <a:prstGeom prst="roundRect">
            <a:avLst>
              <a:gd name="adj" fmla="val 6000"/>
            </a:avLst>
          </a:prstGeom>
          <a:solidFill>
            <a:srgbClr val="FFFFFF"/>
          </a:solidFill>
          <a:ln w="9525">
            <a:solidFill>
              <a:srgbClr val="E8DDD3"/>
            </a:solidFill>
          </a:ln>
          <a:effectLst/>
          <a:effectLst>
            <a:outerShdw blurRad="90000" dist="30000" dir="5400000" rotWithShape="0">
              <a:srgbClr val="241A15">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848856" y="2436876"/>
            <a:ext cx="64008" cy="64008"/>
          </a:xfrm>
          <a:prstGeom prst="roundRect">
            <a:avLst>
              <a:gd name="adj" fmla="val 50000"/>
            </a:avLst>
          </a:prstGeom>
          <a:solidFill>
            <a:srgbClr val="E8D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976872" y="2436876"/>
            <a:ext cx="64008" cy="64008"/>
          </a:xfrm>
          <a:prstGeom prst="roundRect">
            <a:avLst>
              <a:gd name="adj" fmla="val 50000"/>
            </a:avLst>
          </a:prstGeom>
          <a:solidFill>
            <a:srgbClr val="E8D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104888" y="2436876"/>
            <a:ext cx="64008" cy="64008"/>
          </a:xfrm>
          <a:prstGeom prst="roundRect">
            <a:avLst>
              <a:gd name="adj" fmla="val 50000"/>
            </a:avLst>
          </a:prstGeom>
          <a:solidFill>
            <a:srgbClr val="E8D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87768" y="2400300"/>
            <a:ext cx="3913632" cy="182880"/>
          </a:xfrm>
          <a:prstGeom prst="rect">
            <a:avLst/>
          </a:prstGeom>
          <a:noFill/>
        </p:spPr>
        <p:txBody>
          <a:bodyPr wrap="square" anchor="t" lIns="0" rIns="0" tIns="0" bIns="0">
            <a:spAutoFit/>
          </a:bodyPr>
          <a:lstStyle/>
          <a:p>
            <a:pPr algn="l">
              <a:lnSpc>
                <a:spcPct val="100000"/>
              </a:lnSpc>
            </a:pPr>
            <a:r>
              <a:rPr sz="850" b="0" lang="en-US">
                <a:solidFill>
                  <a:srgbClr val="A69C91"/>
                </a:solidFill>
                <a:latin typeface="Menlo"/>
              </a:rPr>
              <a:t>hagglfor.me/report</a:t>
            </a:r>
          </a:p>
        </p:txBody>
      </p:sp>
      <p:pic>
        <p:nvPicPr>
          <p:cNvPr id="31" name="Picture 30" descr="report.png"/>
          <p:cNvPicPr>
            <a:picLocks noChangeAspect="1"/>
          </p:cNvPicPr>
          <p:nvPr/>
        </p:nvPicPr>
        <p:blipFill>
          <a:blip r:embed="rId2"/>
          <a:srcRect b="7526"/>
          <a:stretch>
            <a:fillRect/>
          </a:stretch>
        </p:blipFill>
        <p:spPr>
          <a:xfrm>
            <a:off x="6739890" y="2606040"/>
            <a:ext cx="4607052" cy="2331720"/>
          </a:xfrm>
          <a:prstGeom prst="rect">
            <a:avLst/>
          </a:prstGeom>
        </p:spPr>
      </p:pic>
      <p:sp>
        <p:nvSpPr>
          <p:cNvPr id="32" name="TextBox 31"/>
          <p:cNvSpPr txBox="1"/>
          <p:nvPr/>
        </p:nvSpPr>
        <p:spPr>
          <a:xfrm>
            <a:off x="6720840" y="5102352"/>
            <a:ext cx="4617720" cy="457200"/>
          </a:xfrm>
          <a:prstGeom prst="rect">
            <a:avLst/>
          </a:prstGeom>
          <a:noFill/>
        </p:spPr>
        <p:txBody>
          <a:bodyPr wrap="square" anchor="t" lIns="0" rIns="0" tIns="0" bIns="0">
            <a:spAutoFit/>
          </a:bodyPr>
          <a:lstStyle/>
          <a:p>
            <a:pPr algn="l">
              <a:lnSpc>
                <a:spcPct val="135000"/>
              </a:lnSpc>
            </a:pPr>
            <a:r>
              <a:rPr sz="1050" b="0" lang="en-US">
                <a:solidFill>
                  <a:srgbClr val="6B6058"/>
                </a:solidFill>
                <a:latin typeface="Menlo"/>
              </a:rPr>
              <a:t>Benchmarks run on Mass General's real published price file. 159,000 rows.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463040" cy="365760"/>
          </a:xfrm>
          <a:prstGeom prst="rect">
            <a:avLst/>
          </a:prstGeom>
          <a:noFill/>
        </p:spPr>
        <p:txBody>
          <a:bodyPr wrap="square" anchor="t" lIns="0" rIns="0" tIns="0" bIns="0">
            <a:spAutoFit/>
          </a:bodyPr>
          <a:lstStyle/>
          <a:p>
            <a:pPr algn="l">
              <a:lnSpc>
                <a:spcPct val="100000"/>
              </a:lnSpc>
            </a:pPr>
            <a:r>
              <a:rPr sz="1700" b="1" lang="en-US">
                <a:solidFill>
                  <a:srgbClr val="1A1410"/>
                </a:solidFill>
                <a:latin typeface="Avenir Next"/>
              </a:rPr>
              <a:t>Haggl</a:t>
            </a:r>
          </a:p>
        </p:txBody>
      </p:sp>
      <p:sp>
        <p:nvSpPr>
          <p:cNvPr id="4" name="Rounded Rectangle 3"/>
          <p:cNvSpPr/>
          <p:nvPr/>
        </p:nvSpPr>
        <p:spPr>
          <a:xfrm rot="20520000">
            <a:off x="580644" y="461772"/>
            <a:ext cx="192024" cy="50292"/>
          </a:xfrm>
          <a:prstGeom prst="roundRect">
            <a:avLst>
              <a:gd name="adj" fmla="val 50000"/>
            </a:avLst>
          </a:prstGeom>
          <a:solidFill>
            <a:srgbClr val="E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881360" y="365760"/>
            <a:ext cx="1005840" cy="274320"/>
          </a:xfrm>
          <a:prstGeom prst="rect">
            <a:avLst/>
          </a:prstGeom>
          <a:noFill/>
        </p:spPr>
        <p:txBody>
          <a:bodyPr wrap="square" anchor="t" lIns="0" rIns="0" tIns="0" bIns="0">
            <a:spAutoFit/>
          </a:bodyPr>
          <a:lstStyle/>
          <a:p>
            <a:pPr algn="r">
              <a:lnSpc>
                <a:spcPct val="100000"/>
              </a:lnSpc>
            </a:pPr>
            <a:r>
              <a:rPr sz="1100" b="1" lang="en-US">
                <a:solidFill>
                  <a:srgbClr val="1A1410"/>
                </a:solidFill>
                <a:latin typeface="Menlo"/>
              </a:rPr>
              <a:t>09</a:t>
            </a:r>
            <a:r>
              <a:rPr sz="1100" b="0" lang="en-US">
                <a:solidFill>
                  <a:srgbClr val="A69C91"/>
                </a:solidFill>
                <a:latin typeface="Menlo"/>
              </a:rPr>
              <a:t> / 10</a:t>
            </a:r>
          </a:p>
        </p:txBody>
      </p:sp>
      <p:sp>
        <p:nvSpPr>
          <p:cNvPr id="6" name="Rectangle 5"/>
          <p:cNvSpPr/>
          <p:nvPr/>
        </p:nvSpPr>
        <p:spPr>
          <a:xfrm>
            <a:off x="0" y="6807200"/>
            <a:ext cx="10972525" cy="50800"/>
          </a:xfrm>
          <a:prstGeom prst="rect">
            <a:avLst/>
          </a:prstGeom>
          <a:solidFill>
            <a:srgbClr val="E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777240"/>
            <a:ext cx="8229600" cy="274320"/>
          </a:xfrm>
          <a:prstGeom prst="rect">
            <a:avLst/>
          </a:prstGeom>
          <a:noFill/>
        </p:spPr>
        <p:txBody>
          <a:bodyPr wrap="square" anchor="t" lIns="0" rIns="0" tIns="0" bIns="0">
            <a:spAutoFit/>
          </a:bodyPr>
          <a:lstStyle/>
          <a:p>
            <a:pPr algn="l">
              <a:lnSpc>
                <a:spcPct val="100000"/>
              </a:lnSpc>
            </a:pPr>
            <a:r>
              <a:rPr sz="1100" b="0" lang="en-US">
                <a:solidFill>
                  <a:srgbClr val="EF6B45"/>
                </a:solidFill>
                <a:latin typeface="Menlo"/>
              </a:rPr>
              <a:t>PRICING</a:t>
            </a:r>
          </a:p>
        </p:txBody>
      </p:sp>
      <p:sp>
        <p:nvSpPr>
          <p:cNvPr id="8" name="TextBox 7"/>
          <p:cNvSpPr txBox="1"/>
          <p:nvPr/>
        </p:nvSpPr>
        <p:spPr>
          <a:xfrm>
            <a:off x="749808" y="1188720"/>
            <a:ext cx="4114800" cy="1554480"/>
          </a:xfrm>
          <a:prstGeom prst="rect">
            <a:avLst/>
          </a:prstGeom>
          <a:noFill/>
        </p:spPr>
        <p:txBody>
          <a:bodyPr wrap="square" anchor="t" lIns="0" rIns="0" tIns="0" bIns="0">
            <a:spAutoFit/>
          </a:bodyPr>
          <a:lstStyle/>
          <a:p>
            <a:pPr algn="l">
              <a:lnSpc>
                <a:spcPct val="100000"/>
              </a:lnSpc>
            </a:pPr>
            <a:r>
              <a:rPr sz="10000" b="0" lang="en-US">
                <a:solidFill>
                  <a:srgbClr val="EF6B45"/>
                </a:solidFill>
                <a:latin typeface="Menlo"/>
              </a:rPr>
              <a:t>25%</a:t>
            </a:r>
          </a:p>
        </p:txBody>
      </p:sp>
      <p:sp>
        <p:nvSpPr>
          <p:cNvPr id="9" name="TextBox 8"/>
          <p:cNvSpPr txBox="1"/>
          <p:nvPr/>
        </p:nvSpPr>
        <p:spPr>
          <a:xfrm>
            <a:off x="822960" y="2834640"/>
            <a:ext cx="5212080" cy="777240"/>
          </a:xfrm>
          <a:prstGeom prst="rect">
            <a:avLst/>
          </a:prstGeom>
          <a:noFill/>
        </p:spPr>
        <p:txBody>
          <a:bodyPr wrap="square" anchor="t" lIns="0" rIns="0" tIns="0" bIns="0">
            <a:spAutoFit/>
          </a:bodyPr>
          <a:lstStyle/>
          <a:p>
            <a:pPr algn="l">
              <a:lnSpc>
                <a:spcPct val="130000"/>
              </a:lnSpc>
            </a:pPr>
            <a:r>
              <a:rPr sz="1450" b="0" lang="en-US">
                <a:solidFill>
                  <a:srgbClr val="1A1410"/>
                </a:solidFill>
                <a:latin typeface="Avenir Next"/>
              </a:rPr>
              <a:t>of what we save you, capped at </a:t>
            </a:r>
            <a:r>
              <a:rPr sz="1450" b="1" lang="en-US">
                <a:solidFill>
                  <a:srgbClr val="1A1410"/>
                </a:solidFill>
                <a:latin typeface="Avenir Next"/>
              </a:rPr>
              <a:t>$2,000</a:t>
            </a:r>
            <a:r>
              <a:rPr sz="1450" b="0" lang="en-US">
                <a:solidFill>
                  <a:srgbClr val="1A1410"/>
                </a:solidFill>
                <a:latin typeface="Avenir Next"/>
              </a:rPr>
              <a:t> per bill.</a:t>
            </a:r>
          </a:p>
          <a:p>
            <a:pPr algn="l">
              <a:lnSpc>
                <a:spcPct val="130000"/>
              </a:lnSpc>
            </a:pPr>
            <a:r>
              <a:rPr sz="1450" b="0" lang="en-US">
                <a:solidFill>
                  <a:srgbClr val="1A1410"/>
                </a:solidFill>
                <a:latin typeface="Avenir Next"/>
              </a:rPr>
              <a:t>Nothing upfront, nothing if we don't save you anything.</a:t>
            </a:r>
          </a:p>
        </p:txBody>
      </p:sp>
      <p:sp>
        <p:nvSpPr>
          <p:cNvPr id="10" name="Rounded Rectangle 9"/>
          <p:cNvSpPr/>
          <p:nvPr/>
        </p:nvSpPr>
        <p:spPr>
          <a:xfrm>
            <a:off x="822960" y="3858768"/>
            <a:ext cx="256032" cy="256032"/>
          </a:xfrm>
          <a:prstGeom prst="roundRect">
            <a:avLst>
              <a:gd name="adj" fmla="val 50000"/>
            </a:avLst>
          </a:prstGeom>
          <a:solidFill>
            <a:srgbClr val="FCE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884371"/>
            <a:ext cx="256032" cy="201168"/>
          </a:xfrm>
          <a:prstGeom prst="rect">
            <a:avLst/>
          </a:prstGeom>
          <a:noFill/>
        </p:spPr>
        <p:txBody>
          <a:bodyPr wrap="square" anchor="t" lIns="0" rIns="0" tIns="0" bIns="0">
            <a:spAutoFit/>
          </a:bodyPr>
          <a:lstStyle/>
          <a:p>
            <a:pPr algn="ctr">
              <a:lnSpc>
                <a:spcPct val="100000"/>
              </a:lnSpc>
            </a:pPr>
            <a:r>
              <a:rPr sz="1100" b="1" lang="en-US">
                <a:solidFill>
                  <a:srgbClr val="D95A34"/>
                </a:solidFill>
                <a:latin typeface="Avenir Next"/>
              </a:rPr>
              <a:t>✓</a:t>
            </a:r>
          </a:p>
        </p:txBody>
      </p:sp>
      <p:sp>
        <p:nvSpPr>
          <p:cNvPr id="12" name="TextBox 11"/>
          <p:cNvSpPr txBox="1"/>
          <p:nvPr/>
        </p:nvSpPr>
        <p:spPr>
          <a:xfrm>
            <a:off x="1225296" y="3867912"/>
            <a:ext cx="4937760" cy="457200"/>
          </a:xfrm>
          <a:prstGeom prst="rect">
            <a:avLst/>
          </a:prstGeom>
          <a:noFill/>
        </p:spPr>
        <p:txBody>
          <a:bodyPr wrap="square" anchor="t" lIns="0" rIns="0" tIns="0" bIns="0">
            <a:spAutoFit/>
          </a:bodyPr>
          <a:lstStyle/>
          <a:p>
            <a:pPr algn="l">
              <a:lnSpc>
                <a:spcPct val="120000"/>
              </a:lnSpc>
            </a:pPr>
            <a:r>
              <a:rPr sz="1200" b="0" lang="en-US">
                <a:solidFill>
                  <a:srgbClr val="1A1410"/>
                </a:solidFill>
                <a:latin typeface="Avenir Next"/>
              </a:rPr>
              <a:t>No savings, no fee, ever</a:t>
            </a:r>
          </a:p>
        </p:txBody>
      </p:sp>
      <p:sp>
        <p:nvSpPr>
          <p:cNvPr id="13" name="Rounded Rectangle 12"/>
          <p:cNvSpPr/>
          <p:nvPr/>
        </p:nvSpPr>
        <p:spPr>
          <a:xfrm>
            <a:off x="822960" y="4334256"/>
            <a:ext cx="256032" cy="256032"/>
          </a:xfrm>
          <a:prstGeom prst="roundRect">
            <a:avLst>
              <a:gd name="adj" fmla="val 50000"/>
            </a:avLst>
          </a:prstGeom>
          <a:solidFill>
            <a:srgbClr val="FCE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359859"/>
            <a:ext cx="256032" cy="201168"/>
          </a:xfrm>
          <a:prstGeom prst="rect">
            <a:avLst/>
          </a:prstGeom>
          <a:noFill/>
        </p:spPr>
        <p:txBody>
          <a:bodyPr wrap="square" anchor="t" lIns="0" rIns="0" tIns="0" bIns="0">
            <a:spAutoFit/>
          </a:bodyPr>
          <a:lstStyle/>
          <a:p>
            <a:pPr algn="ctr">
              <a:lnSpc>
                <a:spcPct val="100000"/>
              </a:lnSpc>
            </a:pPr>
            <a:r>
              <a:rPr sz="1100" b="1" lang="en-US">
                <a:solidFill>
                  <a:srgbClr val="D95A34"/>
                </a:solidFill>
                <a:latin typeface="Avenir Next"/>
              </a:rPr>
              <a:t>✓</a:t>
            </a:r>
          </a:p>
        </p:txBody>
      </p:sp>
      <p:sp>
        <p:nvSpPr>
          <p:cNvPr id="15" name="TextBox 14"/>
          <p:cNvSpPr txBox="1"/>
          <p:nvPr/>
        </p:nvSpPr>
        <p:spPr>
          <a:xfrm>
            <a:off x="1225296" y="4343400"/>
            <a:ext cx="4937760" cy="457200"/>
          </a:xfrm>
          <a:prstGeom prst="rect">
            <a:avLst/>
          </a:prstGeom>
          <a:noFill/>
        </p:spPr>
        <p:txBody>
          <a:bodyPr wrap="square" anchor="t" lIns="0" rIns="0" tIns="0" bIns="0">
            <a:spAutoFit/>
          </a:bodyPr>
          <a:lstStyle/>
          <a:p>
            <a:pPr algn="l">
              <a:lnSpc>
                <a:spcPct val="120000"/>
              </a:lnSpc>
            </a:pPr>
            <a:r>
              <a:rPr sz="1200" b="0" lang="en-US">
                <a:solidFill>
                  <a:srgbClr val="1A1410"/>
                </a:solidFill>
                <a:latin typeface="Avenir Next"/>
              </a:rPr>
              <a:t>You see the exact math before you pay anything</a:t>
            </a:r>
          </a:p>
        </p:txBody>
      </p:sp>
      <p:sp>
        <p:nvSpPr>
          <p:cNvPr id="16" name="Rounded Rectangle 15"/>
          <p:cNvSpPr/>
          <p:nvPr/>
        </p:nvSpPr>
        <p:spPr>
          <a:xfrm>
            <a:off x="822960" y="4809744"/>
            <a:ext cx="256032" cy="256032"/>
          </a:xfrm>
          <a:prstGeom prst="roundRect">
            <a:avLst>
              <a:gd name="adj" fmla="val 50000"/>
            </a:avLst>
          </a:prstGeom>
          <a:solidFill>
            <a:srgbClr val="FCE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835347"/>
            <a:ext cx="256032" cy="201168"/>
          </a:xfrm>
          <a:prstGeom prst="rect">
            <a:avLst/>
          </a:prstGeom>
          <a:noFill/>
        </p:spPr>
        <p:txBody>
          <a:bodyPr wrap="square" anchor="t" lIns="0" rIns="0" tIns="0" bIns="0">
            <a:spAutoFit/>
          </a:bodyPr>
          <a:lstStyle/>
          <a:p>
            <a:pPr algn="ctr">
              <a:lnSpc>
                <a:spcPct val="100000"/>
              </a:lnSpc>
            </a:pPr>
            <a:r>
              <a:rPr sz="1100" b="1" lang="en-US">
                <a:solidFill>
                  <a:srgbClr val="D95A34"/>
                </a:solidFill>
                <a:latin typeface="Avenir Next"/>
              </a:rPr>
              <a:t>✓</a:t>
            </a:r>
          </a:p>
        </p:txBody>
      </p:sp>
      <p:sp>
        <p:nvSpPr>
          <p:cNvPr id="18" name="TextBox 17"/>
          <p:cNvSpPr txBox="1"/>
          <p:nvPr/>
        </p:nvSpPr>
        <p:spPr>
          <a:xfrm>
            <a:off x="1225296" y="4818888"/>
            <a:ext cx="4937760" cy="457200"/>
          </a:xfrm>
          <a:prstGeom prst="rect">
            <a:avLst/>
          </a:prstGeom>
          <a:noFill/>
        </p:spPr>
        <p:txBody>
          <a:bodyPr wrap="square" anchor="t" lIns="0" rIns="0" tIns="0" bIns="0">
            <a:spAutoFit/>
          </a:bodyPr>
          <a:lstStyle/>
          <a:p>
            <a:pPr algn="l">
              <a:lnSpc>
                <a:spcPct val="120000"/>
              </a:lnSpc>
            </a:pPr>
            <a:r>
              <a:rPr sz="1200" b="0" lang="en-US">
                <a:solidFill>
                  <a:srgbClr val="1A1410"/>
                </a:solidFill>
                <a:latin typeface="Avenir Next"/>
              </a:rPr>
              <a:t>Cash in partial savings anytime; we only charge on what's actually confirmed</a:t>
            </a:r>
          </a:p>
        </p:txBody>
      </p:sp>
      <p:sp>
        <p:nvSpPr>
          <p:cNvPr id="19" name="TextBox 18"/>
          <p:cNvSpPr txBox="1"/>
          <p:nvPr/>
        </p:nvSpPr>
        <p:spPr>
          <a:xfrm>
            <a:off x="822960" y="5440680"/>
            <a:ext cx="5303520" cy="1005840"/>
          </a:xfrm>
          <a:prstGeom prst="rect">
            <a:avLst/>
          </a:prstGeom>
          <a:noFill/>
        </p:spPr>
        <p:txBody>
          <a:bodyPr wrap="square" anchor="t" lIns="0" rIns="0" tIns="0" bIns="0">
            <a:spAutoFit/>
          </a:bodyPr>
          <a:lstStyle/>
          <a:p>
            <a:pPr algn="l">
              <a:lnSpc>
                <a:spcPct val="135000"/>
              </a:lnSpc>
            </a:pPr>
            <a:r>
              <a:rPr sz="1050" b="0" lang="en-US">
                <a:solidFill>
                  <a:srgbClr val="A69C91"/>
                </a:solidFill>
                <a:latin typeface="Avenir Next"/>
              </a:rPr>
              <a:t>Higher than a document-only bill-review service, because we're doing more: real phone calls, not just a negotiation letter. Still well under what a human medical-bill advocate charges.</a:t>
            </a:r>
          </a:p>
        </p:txBody>
      </p:sp>
      <p:sp>
        <p:nvSpPr>
          <p:cNvPr id="20" name="Rounded Rectangle 19"/>
          <p:cNvSpPr/>
          <p:nvPr/>
        </p:nvSpPr>
        <p:spPr>
          <a:xfrm>
            <a:off x="6720840" y="1417320"/>
            <a:ext cx="4645152" cy="4160520"/>
          </a:xfrm>
          <a:prstGeom prst="roundRect">
            <a:avLst>
              <a:gd name="adj" fmla="val 6000"/>
            </a:avLst>
          </a:prstGeom>
          <a:solidFill>
            <a:srgbClr val="FFFFFF"/>
          </a:solidFill>
          <a:ln w="9525">
            <a:solidFill>
              <a:srgbClr val="E8DDD3"/>
            </a:solidFill>
          </a:ln>
          <a:effectLst/>
          <a:effectLst>
            <a:outerShdw blurRad="90000" dist="30000" dir="5400000" rotWithShape="0">
              <a:srgbClr val="241A15">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0" y="1737360"/>
            <a:ext cx="2926080" cy="365760"/>
          </a:xfrm>
          <a:prstGeom prst="rect">
            <a:avLst/>
          </a:prstGeom>
          <a:noFill/>
        </p:spPr>
        <p:txBody>
          <a:bodyPr wrap="square" anchor="t" lIns="0" rIns="0" tIns="0" bIns="0">
            <a:spAutoFit/>
          </a:bodyPr>
          <a:lstStyle/>
          <a:p>
            <a:pPr algn="l">
              <a:lnSpc>
                <a:spcPct val="100000"/>
              </a:lnSpc>
            </a:pPr>
            <a:r>
              <a:rPr sz="1600" b="1" lang="en-US">
                <a:solidFill>
                  <a:srgbClr val="1A1410"/>
                </a:solidFill>
                <a:latin typeface="Avenir Next"/>
              </a:rPr>
              <a:t>The exact math</a:t>
            </a:r>
          </a:p>
        </p:txBody>
      </p:sp>
      <p:sp>
        <p:nvSpPr>
          <p:cNvPr id="22" name="TextBox 21"/>
          <p:cNvSpPr txBox="1"/>
          <p:nvPr/>
        </p:nvSpPr>
        <p:spPr>
          <a:xfrm>
            <a:off x="9692640" y="1819656"/>
            <a:ext cx="1371600" cy="274320"/>
          </a:xfrm>
          <a:prstGeom prst="rect">
            <a:avLst/>
          </a:prstGeom>
          <a:noFill/>
        </p:spPr>
        <p:txBody>
          <a:bodyPr wrap="square" anchor="t" lIns="0" rIns="0" tIns="0" bIns="0">
            <a:spAutoFit/>
          </a:bodyPr>
          <a:lstStyle/>
          <a:p>
            <a:pPr algn="r">
              <a:lnSpc>
                <a:spcPct val="100000"/>
              </a:lnSpc>
            </a:pPr>
            <a:r>
              <a:rPr sz="950" b="0" lang="en-US">
                <a:solidFill>
                  <a:srgbClr val="A69C91"/>
                </a:solidFill>
                <a:latin typeface="Menlo"/>
              </a:rPr>
              <a:t>Maya's bill</a:t>
            </a:r>
          </a:p>
        </p:txBody>
      </p:sp>
      <p:sp>
        <p:nvSpPr>
          <p:cNvPr id="23" name="Rectangle 22"/>
          <p:cNvSpPr/>
          <p:nvPr/>
        </p:nvSpPr>
        <p:spPr>
          <a:xfrm>
            <a:off x="7040880" y="2176272"/>
            <a:ext cx="4023360" cy="10160"/>
          </a:xfrm>
          <a:prstGeom prst="rect">
            <a:avLst/>
          </a:prstGeom>
          <a:solidFill>
            <a:srgbClr val="E8D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40880" y="2267712"/>
            <a:ext cx="2651760" cy="320040"/>
          </a:xfrm>
          <a:prstGeom prst="rect">
            <a:avLst/>
          </a:prstGeom>
          <a:noFill/>
        </p:spPr>
        <p:txBody>
          <a:bodyPr wrap="square" anchor="t" lIns="0" rIns="0" tIns="0" bIns="0">
            <a:spAutoFit/>
          </a:bodyPr>
          <a:lstStyle/>
          <a:p>
            <a:pPr algn="l">
              <a:lnSpc>
                <a:spcPct val="100000"/>
              </a:lnSpc>
            </a:pPr>
            <a:r>
              <a:rPr sz="1150" b="0" lang="en-US">
                <a:solidFill>
                  <a:srgbClr val="6B6058"/>
                </a:solidFill>
                <a:latin typeface="Avenir Next"/>
              </a:rPr>
              <a:t>Billed</a:t>
            </a:r>
          </a:p>
        </p:txBody>
      </p:sp>
      <p:sp>
        <p:nvSpPr>
          <p:cNvPr id="25" name="TextBox 24"/>
          <p:cNvSpPr txBox="1"/>
          <p:nvPr/>
        </p:nvSpPr>
        <p:spPr>
          <a:xfrm>
            <a:off x="9326880" y="2249424"/>
            <a:ext cx="1737360" cy="320040"/>
          </a:xfrm>
          <a:prstGeom prst="rect">
            <a:avLst/>
          </a:prstGeom>
          <a:noFill/>
        </p:spPr>
        <p:txBody>
          <a:bodyPr wrap="square" anchor="t" lIns="0" rIns="0" tIns="0" bIns="0">
            <a:spAutoFit/>
          </a:bodyPr>
          <a:lstStyle/>
          <a:p>
            <a:pPr algn="r">
              <a:lnSpc>
                <a:spcPct val="100000"/>
              </a:lnSpc>
            </a:pPr>
            <a:r>
              <a:rPr sz="1300" b="0" lang="en-US">
                <a:solidFill>
                  <a:srgbClr val="1A1410"/>
                </a:solidFill>
                <a:latin typeface="Menlo"/>
              </a:rPr>
              <a:t>$4,287</a:t>
            </a:r>
          </a:p>
        </p:txBody>
      </p:sp>
      <p:sp>
        <p:nvSpPr>
          <p:cNvPr id="26" name="Rectangle 25"/>
          <p:cNvSpPr/>
          <p:nvPr/>
        </p:nvSpPr>
        <p:spPr>
          <a:xfrm>
            <a:off x="7040880" y="2724912"/>
            <a:ext cx="4023360" cy="10160"/>
          </a:xfrm>
          <a:prstGeom prst="rect">
            <a:avLst/>
          </a:prstGeom>
          <a:solidFill>
            <a:srgbClr val="E8D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0" y="2816352"/>
            <a:ext cx="2651760" cy="320040"/>
          </a:xfrm>
          <a:prstGeom prst="rect">
            <a:avLst/>
          </a:prstGeom>
          <a:noFill/>
        </p:spPr>
        <p:txBody>
          <a:bodyPr wrap="square" anchor="t" lIns="0" rIns="0" tIns="0" bIns="0">
            <a:spAutoFit/>
          </a:bodyPr>
          <a:lstStyle/>
          <a:p>
            <a:pPr algn="l">
              <a:lnSpc>
                <a:spcPct val="100000"/>
              </a:lnSpc>
            </a:pPr>
            <a:r>
              <a:rPr sz="1150" b="0" lang="en-US">
                <a:solidFill>
                  <a:srgbClr val="6B6058"/>
                </a:solidFill>
                <a:latin typeface="Avenir Next"/>
              </a:rPr>
              <a:t>Settled on the call</a:t>
            </a:r>
          </a:p>
        </p:txBody>
      </p:sp>
      <p:sp>
        <p:nvSpPr>
          <p:cNvPr id="28" name="TextBox 27"/>
          <p:cNvSpPr txBox="1"/>
          <p:nvPr/>
        </p:nvSpPr>
        <p:spPr>
          <a:xfrm>
            <a:off x="9326880" y="2798064"/>
            <a:ext cx="1737360" cy="320040"/>
          </a:xfrm>
          <a:prstGeom prst="rect">
            <a:avLst/>
          </a:prstGeom>
          <a:noFill/>
        </p:spPr>
        <p:txBody>
          <a:bodyPr wrap="square" anchor="t" lIns="0" rIns="0" tIns="0" bIns="0">
            <a:spAutoFit/>
          </a:bodyPr>
          <a:lstStyle/>
          <a:p>
            <a:pPr algn="r">
              <a:lnSpc>
                <a:spcPct val="100000"/>
              </a:lnSpc>
            </a:pPr>
            <a:r>
              <a:rPr sz="1300" b="0" lang="en-US">
                <a:solidFill>
                  <a:srgbClr val="1A1410"/>
                </a:solidFill>
                <a:latin typeface="Menlo"/>
              </a:rPr>
              <a:t>$1,650</a:t>
            </a:r>
          </a:p>
        </p:txBody>
      </p:sp>
      <p:sp>
        <p:nvSpPr>
          <p:cNvPr id="29" name="Rectangle 28"/>
          <p:cNvSpPr/>
          <p:nvPr/>
        </p:nvSpPr>
        <p:spPr>
          <a:xfrm>
            <a:off x="7040880" y="3273552"/>
            <a:ext cx="4023360" cy="10160"/>
          </a:xfrm>
          <a:prstGeom prst="rect">
            <a:avLst/>
          </a:prstGeom>
          <a:solidFill>
            <a:srgbClr val="E8D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0" y="3364992"/>
            <a:ext cx="2651760" cy="320040"/>
          </a:xfrm>
          <a:prstGeom prst="rect">
            <a:avLst/>
          </a:prstGeom>
          <a:noFill/>
        </p:spPr>
        <p:txBody>
          <a:bodyPr wrap="square" anchor="t" lIns="0" rIns="0" tIns="0" bIns="0">
            <a:spAutoFit/>
          </a:bodyPr>
          <a:lstStyle/>
          <a:p>
            <a:pPr algn="l">
              <a:lnSpc>
                <a:spcPct val="100000"/>
              </a:lnSpc>
            </a:pPr>
            <a:r>
              <a:rPr sz="1150" b="1" lang="en-US">
                <a:solidFill>
                  <a:srgbClr val="6B6058"/>
                </a:solidFill>
                <a:latin typeface="Avenir Next"/>
              </a:rPr>
              <a:t>Saved</a:t>
            </a:r>
          </a:p>
        </p:txBody>
      </p:sp>
      <p:sp>
        <p:nvSpPr>
          <p:cNvPr id="31" name="TextBox 30"/>
          <p:cNvSpPr txBox="1"/>
          <p:nvPr/>
        </p:nvSpPr>
        <p:spPr>
          <a:xfrm>
            <a:off x="9326880" y="3346704"/>
            <a:ext cx="1737360" cy="320040"/>
          </a:xfrm>
          <a:prstGeom prst="rect">
            <a:avLst/>
          </a:prstGeom>
          <a:noFill/>
        </p:spPr>
        <p:txBody>
          <a:bodyPr wrap="square" anchor="t" lIns="0" rIns="0" tIns="0" bIns="0">
            <a:spAutoFit/>
          </a:bodyPr>
          <a:lstStyle/>
          <a:p>
            <a:pPr algn="r">
              <a:lnSpc>
                <a:spcPct val="100000"/>
              </a:lnSpc>
            </a:pPr>
            <a:r>
              <a:rPr sz="1300" b="1" lang="en-US">
                <a:solidFill>
                  <a:srgbClr val="EF6B45"/>
                </a:solidFill>
                <a:latin typeface="Menlo"/>
              </a:rPr>
              <a:t>$2,637</a:t>
            </a:r>
          </a:p>
        </p:txBody>
      </p:sp>
      <p:sp>
        <p:nvSpPr>
          <p:cNvPr id="32" name="Rectangle 31"/>
          <p:cNvSpPr/>
          <p:nvPr/>
        </p:nvSpPr>
        <p:spPr>
          <a:xfrm>
            <a:off x="7040880" y="3822192"/>
            <a:ext cx="4023360" cy="10160"/>
          </a:xfrm>
          <a:prstGeom prst="rect">
            <a:avLst/>
          </a:prstGeom>
          <a:solidFill>
            <a:srgbClr val="E8D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0" y="3913632"/>
            <a:ext cx="2651760" cy="320040"/>
          </a:xfrm>
          <a:prstGeom prst="rect">
            <a:avLst/>
          </a:prstGeom>
          <a:noFill/>
        </p:spPr>
        <p:txBody>
          <a:bodyPr wrap="square" anchor="t" lIns="0" rIns="0" tIns="0" bIns="0">
            <a:spAutoFit/>
          </a:bodyPr>
          <a:lstStyle/>
          <a:p>
            <a:pPr algn="l">
              <a:lnSpc>
                <a:spcPct val="100000"/>
              </a:lnSpc>
            </a:pPr>
            <a:r>
              <a:rPr sz="1150" b="0" lang="en-US">
                <a:solidFill>
                  <a:srgbClr val="6B6058"/>
                </a:solidFill>
                <a:latin typeface="Avenir Next"/>
              </a:rPr>
              <a:t>Our fee · 25% of savings</a:t>
            </a:r>
          </a:p>
        </p:txBody>
      </p:sp>
      <p:sp>
        <p:nvSpPr>
          <p:cNvPr id="34" name="TextBox 33"/>
          <p:cNvSpPr txBox="1"/>
          <p:nvPr/>
        </p:nvSpPr>
        <p:spPr>
          <a:xfrm>
            <a:off x="9326880" y="3895344"/>
            <a:ext cx="1737360" cy="320040"/>
          </a:xfrm>
          <a:prstGeom prst="rect">
            <a:avLst/>
          </a:prstGeom>
          <a:noFill/>
        </p:spPr>
        <p:txBody>
          <a:bodyPr wrap="square" anchor="t" lIns="0" rIns="0" tIns="0" bIns="0">
            <a:spAutoFit/>
          </a:bodyPr>
          <a:lstStyle/>
          <a:p>
            <a:pPr algn="r">
              <a:lnSpc>
                <a:spcPct val="100000"/>
              </a:lnSpc>
            </a:pPr>
            <a:r>
              <a:rPr sz="1300" b="0" lang="en-US">
                <a:solidFill>
                  <a:srgbClr val="1A1410"/>
                </a:solidFill>
                <a:latin typeface="Menlo"/>
              </a:rPr>
              <a:t>$659.25</a:t>
            </a:r>
          </a:p>
        </p:txBody>
      </p:sp>
      <p:sp>
        <p:nvSpPr>
          <p:cNvPr id="35" name="TextBox 34"/>
          <p:cNvSpPr txBox="1"/>
          <p:nvPr/>
        </p:nvSpPr>
        <p:spPr>
          <a:xfrm>
            <a:off x="7040880" y="4443984"/>
            <a:ext cx="3840480" cy="274320"/>
          </a:xfrm>
          <a:prstGeom prst="rect">
            <a:avLst/>
          </a:prstGeom>
          <a:noFill/>
        </p:spPr>
        <p:txBody>
          <a:bodyPr wrap="square" anchor="t" lIns="0" rIns="0" tIns="0" bIns="0">
            <a:spAutoFit/>
          </a:bodyPr>
          <a:lstStyle/>
          <a:p>
            <a:pPr algn="l">
              <a:lnSpc>
                <a:spcPct val="100000"/>
              </a:lnSpc>
            </a:pPr>
            <a:r>
              <a:rPr sz="950" b="0" lang="en-US">
                <a:solidFill>
                  <a:srgbClr val="A69C91"/>
                </a:solidFill>
                <a:latin typeface="Menlo"/>
              </a:rPr>
              <a:t>$2,000 cap · not hit</a:t>
            </a:r>
          </a:p>
        </p:txBody>
      </p:sp>
      <p:sp>
        <p:nvSpPr>
          <p:cNvPr id="36" name="Rounded Rectangle 35"/>
          <p:cNvSpPr/>
          <p:nvPr/>
        </p:nvSpPr>
        <p:spPr>
          <a:xfrm>
            <a:off x="7040880" y="4773168"/>
            <a:ext cx="4023360" cy="548640"/>
          </a:xfrm>
          <a:prstGeom prst="roundRect">
            <a:avLst>
              <a:gd name="adj" fmla="val 14000"/>
            </a:avLst>
          </a:prstGeom>
          <a:solidFill>
            <a:srgbClr val="FCE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69480" y="4919472"/>
            <a:ext cx="2011680" cy="274320"/>
          </a:xfrm>
          <a:prstGeom prst="rect">
            <a:avLst/>
          </a:prstGeom>
          <a:noFill/>
        </p:spPr>
        <p:txBody>
          <a:bodyPr wrap="square" anchor="t" lIns="0" rIns="0" tIns="0" bIns="0">
            <a:spAutoFit/>
          </a:bodyPr>
          <a:lstStyle/>
          <a:p>
            <a:pPr algn="l">
              <a:lnSpc>
                <a:spcPct val="100000"/>
              </a:lnSpc>
            </a:pPr>
            <a:r>
              <a:rPr sz="1250" b="1" lang="en-US">
                <a:solidFill>
                  <a:srgbClr val="1A1410"/>
                </a:solidFill>
                <a:latin typeface="Avenir Next"/>
              </a:rPr>
              <a:t>Maya keeps</a:t>
            </a:r>
          </a:p>
        </p:txBody>
      </p:sp>
      <p:sp>
        <p:nvSpPr>
          <p:cNvPr id="38" name="TextBox 37"/>
          <p:cNvSpPr txBox="1"/>
          <p:nvPr/>
        </p:nvSpPr>
        <p:spPr>
          <a:xfrm>
            <a:off x="9052560" y="4873752"/>
            <a:ext cx="1828800" cy="347472"/>
          </a:xfrm>
          <a:prstGeom prst="rect">
            <a:avLst/>
          </a:prstGeom>
          <a:noFill/>
        </p:spPr>
        <p:txBody>
          <a:bodyPr wrap="square" anchor="t" lIns="0" rIns="0" tIns="0" bIns="0">
            <a:spAutoFit/>
          </a:bodyPr>
          <a:lstStyle/>
          <a:p>
            <a:pPr algn="r">
              <a:lnSpc>
                <a:spcPct val="100000"/>
              </a:lnSpc>
            </a:pPr>
            <a:r>
              <a:rPr sz="1800" b="0" lang="en-US">
                <a:solidFill>
                  <a:srgbClr val="D95A34"/>
                </a:solidFill>
                <a:latin typeface="Menlo"/>
              </a:rPr>
              <a:t>$1,977.75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463040" cy="365760"/>
          </a:xfrm>
          <a:prstGeom prst="rect">
            <a:avLst/>
          </a:prstGeom>
          <a:noFill/>
        </p:spPr>
        <p:txBody>
          <a:bodyPr wrap="square" anchor="t" lIns="0" rIns="0" tIns="0" bIns="0">
            <a:spAutoFit/>
          </a:bodyPr>
          <a:lstStyle/>
          <a:p>
            <a:pPr algn="l">
              <a:lnSpc>
                <a:spcPct val="100000"/>
              </a:lnSpc>
            </a:pPr>
            <a:r>
              <a:rPr sz="1700" b="1" lang="en-US">
                <a:solidFill>
                  <a:srgbClr val="1A1410"/>
                </a:solidFill>
                <a:latin typeface="Avenir Next"/>
              </a:rPr>
              <a:t>Haggl</a:t>
            </a:r>
          </a:p>
        </p:txBody>
      </p:sp>
      <p:sp>
        <p:nvSpPr>
          <p:cNvPr id="4" name="Rounded Rectangle 3"/>
          <p:cNvSpPr/>
          <p:nvPr/>
        </p:nvSpPr>
        <p:spPr>
          <a:xfrm rot="20520000">
            <a:off x="580644" y="461772"/>
            <a:ext cx="192024" cy="50292"/>
          </a:xfrm>
          <a:prstGeom prst="roundRect">
            <a:avLst>
              <a:gd name="adj" fmla="val 50000"/>
            </a:avLst>
          </a:prstGeom>
          <a:solidFill>
            <a:srgbClr val="E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881360" y="365760"/>
            <a:ext cx="1005840" cy="274320"/>
          </a:xfrm>
          <a:prstGeom prst="rect">
            <a:avLst/>
          </a:prstGeom>
          <a:noFill/>
        </p:spPr>
        <p:txBody>
          <a:bodyPr wrap="square" anchor="t" lIns="0" rIns="0" tIns="0" bIns="0">
            <a:spAutoFit/>
          </a:bodyPr>
          <a:lstStyle/>
          <a:p>
            <a:pPr algn="r">
              <a:lnSpc>
                <a:spcPct val="100000"/>
              </a:lnSpc>
            </a:pPr>
            <a:r>
              <a:rPr sz="1100" b="1" lang="en-US">
                <a:solidFill>
                  <a:srgbClr val="1A1410"/>
                </a:solidFill>
                <a:latin typeface="Menlo"/>
              </a:rPr>
              <a:t>10</a:t>
            </a:r>
            <a:r>
              <a:rPr sz="1100" b="0" lang="en-US">
                <a:solidFill>
                  <a:srgbClr val="A69C91"/>
                </a:solidFill>
                <a:latin typeface="Menlo"/>
              </a:rPr>
              <a:t> / 10</a:t>
            </a:r>
          </a:p>
        </p:txBody>
      </p:sp>
      <p:sp>
        <p:nvSpPr>
          <p:cNvPr id="6" name="Rectangle 5"/>
          <p:cNvSpPr/>
          <p:nvPr/>
        </p:nvSpPr>
        <p:spPr>
          <a:xfrm>
            <a:off x="0" y="6807200"/>
            <a:ext cx="12191695" cy="50800"/>
          </a:xfrm>
          <a:prstGeom prst="rect">
            <a:avLst/>
          </a:prstGeom>
          <a:solidFill>
            <a:srgbClr val="E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rot="20760000">
            <a:off x="4042769" y="1234759"/>
            <a:ext cx="365760" cy="219456"/>
          </a:xfrm>
          <a:prstGeom prst="roundRect">
            <a:avLst>
              <a:gd name="adj" fmla="val 20000"/>
            </a:avLst>
          </a:prstGeom>
          <a:solidFill>
            <a:srgbClr val="F6D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rot="360000">
            <a:off x="1330221" y="3452826"/>
            <a:ext cx="365760" cy="219456"/>
          </a:xfrm>
          <a:prstGeom prst="roundRect">
            <a:avLst>
              <a:gd name="adj" fmla="val 20000"/>
            </a:avLst>
          </a:prstGeom>
          <a:solidFill>
            <a:srgbClr val="F6D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rot="21180000">
            <a:off x="6836875" y="5606310"/>
            <a:ext cx="365760" cy="219456"/>
          </a:xfrm>
          <a:prstGeom prst="roundRect">
            <a:avLst>
              <a:gd name="adj" fmla="val 20000"/>
            </a:avLst>
          </a:prstGeom>
          <a:solidFill>
            <a:srgbClr val="F6D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rot="20760000">
            <a:off x="953215" y="2863871"/>
            <a:ext cx="365760" cy="219456"/>
          </a:xfrm>
          <a:prstGeom prst="roundRect">
            <a:avLst>
              <a:gd name="adj" fmla="val 20000"/>
            </a:avLst>
          </a:prstGeom>
          <a:solidFill>
            <a:srgbClr val="F6D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rot="20760000">
            <a:off x="3145374" y="3540188"/>
            <a:ext cx="365760" cy="219456"/>
          </a:xfrm>
          <a:prstGeom prst="roundRect">
            <a:avLst>
              <a:gd name="adj" fmla="val 20000"/>
            </a:avLst>
          </a:prstGeom>
          <a:solidFill>
            <a:srgbClr val="F6D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rot="21180000">
            <a:off x="9470308" y="1078948"/>
            <a:ext cx="365760" cy="219456"/>
          </a:xfrm>
          <a:prstGeom prst="roundRect">
            <a:avLst>
              <a:gd name="adj" fmla="val 20000"/>
            </a:avLst>
          </a:prstGeom>
          <a:solidFill>
            <a:srgbClr val="F6D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rot="20760000">
            <a:off x="7353043" y="3724241"/>
            <a:ext cx="365760" cy="219456"/>
          </a:xfrm>
          <a:prstGeom prst="roundRect">
            <a:avLst>
              <a:gd name="adj" fmla="val 20000"/>
            </a:avLst>
          </a:prstGeom>
          <a:solidFill>
            <a:srgbClr val="F6D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777240"/>
            <a:ext cx="8229600" cy="274320"/>
          </a:xfrm>
          <a:prstGeom prst="rect">
            <a:avLst/>
          </a:prstGeom>
          <a:noFill/>
        </p:spPr>
        <p:txBody>
          <a:bodyPr wrap="square" anchor="t" lIns="0" rIns="0" tIns="0" bIns="0">
            <a:spAutoFit/>
          </a:bodyPr>
          <a:lstStyle/>
          <a:p>
            <a:pPr algn="l">
              <a:lnSpc>
                <a:spcPct val="100000"/>
              </a:lnSpc>
            </a:pPr>
            <a:r>
              <a:rPr sz="1100" b="0" lang="en-US">
                <a:solidFill>
                  <a:srgbClr val="EF6B45"/>
                </a:solidFill>
                <a:latin typeface="Menlo"/>
              </a:rPr>
              <a:t>THE TEAM</a:t>
            </a:r>
          </a:p>
        </p:txBody>
      </p:sp>
      <p:sp>
        <p:nvSpPr>
          <p:cNvPr id="15" name="Rounded Rectangle 14"/>
          <p:cNvSpPr/>
          <p:nvPr/>
        </p:nvSpPr>
        <p:spPr>
          <a:xfrm>
            <a:off x="822960" y="1143000"/>
            <a:ext cx="2487168" cy="1810512"/>
          </a:xfrm>
          <a:prstGeom prst="roundRect">
            <a:avLst>
              <a:gd name="adj" fmla="val 10000"/>
            </a:avLst>
          </a:prstGeom>
          <a:solidFill>
            <a:srgbClr val="FFFFFF"/>
          </a:solidFill>
          <a:ln w="9525">
            <a:solidFill>
              <a:srgbClr val="E8DDD3"/>
            </a:solidFill>
          </a:ln>
          <a:effectLst/>
          <a:effectLst>
            <a:outerShdw blurRad="90000" dist="30000" dir="5400000" rotWithShape="0">
              <a:srgbClr val="241A15">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2416" y="1353312"/>
            <a:ext cx="2121408" cy="320040"/>
          </a:xfrm>
          <a:prstGeom prst="rect">
            <a:avLst/>
          </a:prstGeom>
          <a:noFill/>
        </p:spPr>
        <p:txBody>
          <a:bodyPr wrap="square" anchor="t" lIns="0" rIns="0" tIns="0" bIns="0">
            <a:spAutoFit/>
          </a:bodyPr>
          <a:lstStyle/>
          <a:p>
            <a:pPr algn="l">
              <a:lnSpc>
                <a:spcPct val="100000"/>
              </a:lnSpc>
            </a:pPr>
            <a:r>
              <a:rPr sz="1500" b="1" lang="en-US">
                <a:solidFill>
                  <a:srgbClr val="1A1410"/>
                </a:solidFill>
                <a:latin typeface="Avenir Next"/>
              </a:rPr>
              <a:t>Hamza</a:t>
            </a:r>
          </a:p>
        </p:txBody>
      </p:sp>
      <p:sp>
        <p:nvSpPr>
          <p:cNvPr id="17" name="TextBox 16"/>
          <p:cNvSpPr txBox="1"/>
          <p:nvPr/>
        </p:nvSpPr>
        <p:spPr>
          <a:xfrm>
            <a:off x="1042416" y="1664208"/>
            <a:ext cx="2121408" cy="274320"/>
          </a:xfrm>
          <a:prstGeom prst="rect">
            <a:avLst/>
          </a:prstGeom>
          <a:noFill/>
        </p:spPr>
        <p:txBody>
          <a:bodyPr wrap="square" anchor="t" lIns="0" rIns="0" tIns="0" bIns="0">
            <a:spAutoFit/>
          </a:bodyPr>
          <a:lstStyle/>
          <a:p>
            <a:pPr algn="l">
              <a:lnSpc>
                <a:spcPct val="100000"/>
              </a:lnSpc>
            </a:pPr>
            <a:r>
              <a:rPr sz="1050" b="0" lang="en-US">
                <a:solidFill>
                  <a:srgbClr val="6B6058"/>
                </a:solidFill>
                <a:latin typeface="Avenir Next"/>
              </a:rPr>
              <a:t>product + engine</a:t>
            </a:r>
          </a:p>
        </p:txBody>
      </p:sp>
      <p:pic>
        <p:nvPicPr>
          <p:cNvPr id="18" name="Picture 17" descr="hamza.png"/>
          <p:cNvPicPr>
            <a:picLocks noChangeAspect="1"/>
          </p:cNvPicPr>
          <p:nvPr/>
        </p:nvPicPr>
        <p:blipFill>
          <a:blip r:embed="rId2"/>
          <a:stretch>
            <a:fillRect/>
          </a:stretch>
        </p:blipFill>
        <p:spPr>
          <a:xfrm>
            <a:off x="1042416" y="1993392"/>
            <a:ext cx="777240" cy="777240"/>
          </a:xfrm>
          <a:prstGeom prst="rect">
            <a:avLst/>
          </a:prstGeom>
        </p:spPr>
      </p:pic>
      <p:sp>
        <p:nvSpPr>
          <p:cNvPr id="19" name="TextBox 18"/>
          <p:cNvSpPr txBox="1"/>
          <p:nvPr/>
        </p:nvSpPr>
        <p:spPr>
          <a:xfrm>
            <a:off x="1920240" y="2578608"/>
            <a:ext cx="1280160" cy="228600"/>
          </a:xfrm>
          <a:prstGeom prst="rect">
            <a:avLst/>
          </a:prstGeom>
          <a:noFill/>
        </p:spPr>
        <p:txBody>
          <a:bodyPr wrap="square" anchor="t" lIns="0" rIns="0" tIns="0" bIns="0">
            <a:spAutoFit/>
          </a:bodyPr>
          <a:lstStyle/>
          <a:p>
            <a:pPr algn="l">
              <a:lnSpc>
                <a:spcPct val="100000"/>
              </a:lnSpc>
            </a:pPr>
            <a:r>
              <a:rPr sz="750" b="0" lang="en-US">
                <a:solidFill>
                  <a:srgbClr val="A69C91"/>
                </a:solidFill>
                <a:latin typeface="Menlo"/>
              </a:rPr>
              <a:t>LINKEDIN</a:t>
            </a:r>
          </a:p>
        </p:txBody>
      </p:sp>
      <p:sp>
        <p:nvSpPr>
          <p:cNvPr id="20" name="Rounded Rectangle 19"/>
          <p:cNvSpPr/>
          <p:nvPr/>
        </p:nvSpPr>
        <p:spPr>
          <a:xfrm>
            <a:off x="3511296" y="1143000"/>
            <a:ext cx="2487168" cy="1810512"/>
          </a:xfrm>
          <a:prstGeom prst="roundRect">
            <a:avLst>
              <a:gd name="adj" fmla="val 10000"/>
            </a:avLst>
          </a:prstGeom>
          <a:solidFill>
            <a:srgbClr val="FFFFFF"/>
          </a:solidFill>
          <a:ln w="9525">
            <a:solidFill>
              <a:srgbClr val="E8DDD3"/>
            </a:solidFill>
          </a:ln>
          <a:effectLst/>
          <a:effectLst>
            <a:outerShdw blurRad="90000" dist="30000" dir="5400000" rotWithShape="0">
              <a:srgbClr val="241A15">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30752" y="1353312"/>
            <a:ext cx="2121408" cy="320040"/>
          </a:xfrm>
          <a:prstGeom prst="rect">
            <a:avLst/>
          </a:prstGeom>
          <a:noFill/>
        </p:spPr>
        <p:txBody>
          <a:bodyPr wrap="square" anchor="t" lIns="0" rIns="0" tIns="0" bIns="0">
            <a:spAutoFit/>
          </a:bodyPr>
          <a:lstStyle/>
          <a:p>
            <a:pPr algn="l">
              <a:lnSpc>
                <a:spcPct val="100000"/>
              </a:lnSpc>
            </a:pPr>
            <a:r>
              <a:rPr sz="1500" b="1" lang="en-US">
                <a:solidFill>
                  <a:srgbClr val="1A1410"/>
                </a:solidFill>
                <a:latin typeface="Avenir Next"/>
              </a:rPr>
              <a:t>Susy</a:t>
            </a:r>
          </a:p>
        </p:txBody>
      </p:sp>
      <p:sp>
        <p:nvSpPr>
          <p:cNvPr id="22" name="TextBox 21"/>
          <p:cNvSpPr txBox="1"/>
          <p:nvPr/>
        </p:nvSpPr>
        <p:spPr>
          <a:xfrm>
            <a:off x="3730752" y="1664208"/>
            <a:ext cx="2121408" cy="274320"/>
          </a:xfrm>
          <a:prstGeom prst="rect">
            <a:avLst/>
          </a:prstGeom>
          <a:noFill/>
        </p:spPr>
        <p:txBody>
          <a:bodyPr wrap="square" anchor="t" lIns="0" rIns="0" tIns="0" bIns="0">
            <a:spAutoFit/>
          </a:bodyPr>
          <a:lstStyle/>
          <a:p>
            <a:pPr algn="l">
              <a:lnSpc>
                <a:spcPct val="100000"/>
              </a:lnSpc>
            </a:pPr>
            <a:r>
              <a:rPr sz="1050" b="0" lang="en-US">
                <a:solidFill>
                  <a:srgbClr val="6B6058"/>
                </a:solidFill>
                <a:latin typeface="Avenir Next"/>
              </a:rPr>
              <a:t>UX + frontend</a:t>
            </a:r>
          </a:p>
        </p:txBody>
      </p:sp>
      <p:pic>
        <p:nvPicPr>
          <p:cNvPr id="23" name="Picture 22" descr="susy.png"/>
          <p:cNvPicPr>
            <a:picLocks noChangeAspect="1"/>
          </p:cNvPicPr>
          <p:nvPr/>
        </p:nvPicPr>
        <p:blipFill>
          <a:blip r:embed="rId3"/>
          <a:stretch>
            <a:fillRect/>
          </a:stretch>
        </p:blipFill>
        <p:spPr>
          <a:xfrm>
            <a:off x="3730752" y="1993392"/>
            <a:ext cx="777240" cy="777240"/>
          </a:xfrm>
          <a:prstGeom prst="rect">
            <a:avLst/>
          </a:prstGeom>
        </p:spPr>
      </p:pic>
      <p:sp>
        <p:nvSpPr>
          <p:cNvPr id="24" name="TextBox 23"/>
          <p:cNvSpPr txBox="1"/>
          <p:nvPr/>
        </p:nvSpPr>
        <p:spPr>
          <a:xfrm>
            <a:off x="4608576" y="2578608"/>
            <a:ext cx="1280160" cy="228600"/>
          </a:xfrm>
          <a:prstGeom prst="rect">
            <a:avLst/>
          </a:prstGeom>
          <a:noFill/>
        </p:spPr>
        <p:txBody>
          <a:bodyPr wrap="square" anchor="t" lIns="0" rIns="0" tIns="0" bIns="0">
            <a:spAutoFit/>
          </a:bodyPr>
          <a:lstStyle/>
          <a:p>
            <a:pPr algn="l">
              <a:lnSpc>
                <a:spcPct val="100000"/>
              </a:lnSpc>
            </a:pPr>
            <a:r>
              <a:rPr sz="750" b="0" lang="en-US">
                <a:solidFill>
                  <a:srgbClr val="A69C91"/>
                </a:solidFill>
                <a:latin typeface="Menlo"/>
              </a:rPr>
              <a:t>LINKEDIN</a:t>
            </a:r>
          </a:p>
        </p:txBody>
      </p:sp>
      <p:sp>
        <p:nvSpPr>
          <p:cNvPr id="25" name="Rounded Rectangle 24"/>
          <p:cNvSpPr/>
          <p:nvPr/>
        </p:nvSpPr>
        <p:spPr>
          <a:xfrm>
            <a:off x="6199632" y="1143000"/>
            <a:ext cx="2487168" cy="1810512"/>
          </a:xfrm>
          <a:prstGeom prst="roundRect">
            <a:avLst>
              <a:gd name="adj" fmla="val 10000"/>
            </a:avLst>
          </a:prstGeom>
          <a:solidFill>
            <a:srgbClr val="FFFFFF"/>
          </a:solidFill>
          <a:ln w="9525">
            <a:solidFill>
              <a:srgbClr val="E8DDD3"/>
            </a:solidFill>
          </a:ln>
          <a:effectLst/>
          <a:effectLst>
            <a:outerShdw blurRad="90000" dist="30000" dir="5400000" rotWithShape="0">
              <a:srgbClr val="241A15">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1353312"/>
            <a:ext cx="2121408" cy="320040"/>
          </a:xfrm>
          <a:prstGeom prst="rect">
            <a:avLst/>
          </a:prstGeom>
          <a:noFill/>
        </p:spPr>
        <p:txBody>
          <a:bodyPr wrap="square" anchor="t" lIns="0" rIns="0" tIns="0" bIns="0">
            <a:spAutoFit/>
          </a:bodyPr>
          <a:lstStyle/>
          <a:p>
            <a:pPr algn="l">
              <a:lnSpc>
                <a:spcPct val="100000"/>
              </a:lnSpc>
            </a:pPr>
            <a:r>
              <a:rPr sz="1500" b="1" lang="en-US">
                <a:solidFill>
                  <a:srgbClr val="1A1410"/>
                </a:solidFill>
                <a:latin typeface="Avenir Next"/>
              </a:rPr>
              <a:t>Jay</a:t>
            </a:r>
          </a:p>
        </p:txBody>
      </p:sp>
      <p:sp>
        <p:nvSpPr>
          <p:cNvPr id="27" name="TextBox 26"/>
          <p:cNvSpPr txBox="1"/>
          <p:nvPr/>
        </p:nvSpPr>
        <p:spPr>
          <a:xfrm>
            <a:off x="6419088" y="1664208"/>
            <a:ext cx="2121408" cy="274320"/>
          </a:xfrm>
          <a:prstGeom prst="rect">
            <a:avLst/>
          </a:prstGeom>
          <a:noFill/>
        </p:spPr>
        <p:txBody>
          <a:bodyPr wrap="square" anchor="t" lIns="0" rIns="0" tIns="0" bIns="0">
            <a:spAutoFit/>
          </a:bodyPr>
          <a:lstStyle/>
          <a:p>
            <a:pPr algn="l">
              <a:lnSpc>
                <a:spcPct val="100000"/>
              </a:lnSpc>
            </a:pPr>
            <a:r>
              <a:rPr sz="1050" b="0" lang="en-US">
                <a:solidFill>
                  <a:srgbClr val="6B6058"/>
                </a:solidFill>
                <a:latin typeface="Avenir Next"/>
              </a:rPr>
              <a:t>data</a:t>
            </a:r>
          </a:p>
        </p:txBody>
      </p:sp>
      <p:pic>
        <p:nvPicPr>
          <p:cNvPr id="28" name="Picture 27" descr="jay.png"/>
          <p:cNvPicPr>
            <a:picLocks noChangeAspect="1"/>
          </p:cNvPicPr>
          <p:nvPr/>
        </p:nvPicPr>
        <p:blipFill>
          <a:blip r:embed="rId4"/>
          <a:stretch>
            <a:fillRect/>
          </a:stretch>
        </p:blipFill>
        <p:spPr>
          <a:xfrm>
            <a:off x="6419088" y="1993392"/>
            <a:ext cx="777240" cy="777240"/>
          </a:xfrm>
          <a:prstGeom prst="rect">
            <a:avLst/>
          </a:prstGeom>
        </p:spPr>
      </p:pic>
      <p:sp>
        <p:nvSpPr>
          <p:cNvPr id="29" name="TextBox 28"/>
          <p:cNvSpPr txBox="1"/>
          <p:nvPr/>
        </p:nvSpPr>
        <p:spPr>
          <a:xfrm>
            <a:off x="7296912" y="2578608"/>
            <a:ext cx="1280160" cy="228600"/>
          </a:xfrm>
          <a:prstGeom prst="rect">
            <a:avLst/>
          </a:prstGeom>
          <a:noFill/>
        </p:spPr>
        <p:txBody>
          <a:bodyPr wrap="square" anchor="t" lIns="0" rIns="0" tIns="0" bIns="0">
            <a:spAutoFit/>
          </a:bodyPr>
          <a:lstStyle/>
          <a:p>
            <a:pPr algn="l">
              <a:lnSpc>
                <a:spcPct val="100000"/>
              </a:lnSpc>
            </a:pPr>
            <a:r>
              <a:rPr sz="750" b="0" lang="en-US">
                <a:solidFill>
                  <a:srgbClr val="A69C91"/>
                </a:solidFill>
                <a:latin typeface="Menlo"/>
              </a:rPr>
              <a:t>LINKEDIN</a:t>
            </a:r>
          </a:p>
        </p:txBody>
      </p:sp>
      <p:sp>
        <p:nvSpPr>
          <p:cNvPr id="30" name="Rounded Rectangle 29"/>
          <p:cNvSpPr/>
          <p:nvPr/>
        </p:nvSpPr>
        <p:spPr>
          <a:xfrm>
            <a:off x="8887968" y="1143000"/>
            <a:ext cx="2487168" cy="1810512"/>
          </a:xfrm>
          <a:prstGeom prst="roundRect">
            <a:avLst>
              <a:gd name="adj" fmla="val 10000"/>
            </a:avLst>
          </a:prstGeom>
          <a:solidFill>
            <a:srgbClr val="FFFFFF"/>
          </a:solidFill>
          <a:ln w="9525">
            <a:solidFill>
              <a:srgbClr val="E8DDD3"/>
            </a:solidFill>
          </a:ln>
          <a:effectLst/>
          <a:effectLst>
            <a:outerShdw blurRad="90000" dist="30000" dir="5400000" rotWithShape="0">
              <a:srgbClr val="241A15">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07424" y="1353312"/>
            <a:ext cx="2121408" cy="320040"/>
          </a:xfrm>
          <a:prstGeom prst="rect">
            <a:avLst/>
          </a:prstGeom>
          <a:noFill/>
        </p:spPr>
        <p:txBody>
          <a:bodyPr wrap="square" anchor="t" lIns="0" rIns="0" tIns="0" bIns="0">
            <a:spAutoFit/>
          </a:bodyPr>
          <a:lstStyle/>
          <a:p>
            <a:pPr algn="l">
              <a:lnSpc>
                <a:spcPct val="100000"/>
              </a:lnSpc>
            </a:pPr>
            <a:r>
              <a:rPr sz="1500" b="1" lang="en-US">
                <a:solidFill>
                  <a:srgbClr val="1A1410"/>
                </a:solidFill>
                <a:latin typeface="Avenir Next"/>
              </a:rPr>
              <a:t>Kar Shin</a:t>
            </a:r>
          </a:p>
        </p:txBody>
      </p:sp>
      <p:sp>
        <p:nvSpPr>
          <p:cNvPr id="32" name="TextBox 31"/>
          <p:cNvSpPr txBox="1"/>
          <p:nvPr/>
        </p:nvSpPr>
        <p:spPr>
          <a:xfrm>
            <a:off x="9107424" y="1664208"/>
            <a:ext cx="2121408" cy="274320"/>
          </a:xfrm>
          <a:prstGeom prst="rect">
            <a:avLst/>
          </a:prstGeom>
          <a:noFill/>
        </p:spPr>
        <p:txBody>
          <a:bodyPr wrap="square" anchor="t" lIns="0" rIns="0" tIns="0" bIns="0">
            <a:spAutoFit/>
          </a:bodyPr>
          <a:lstStyle/>
          <a:p>
            <a:pPr algn="l">
              <a:lnSpc>
                <a:spcPct val="100000"/>
              </a:lnSpc>
            </a:pPr>
            <a:r>
              <a:rPr sz="1050" b="0" lang="en-US">
                <a:solidFill>
                  <a:srgbClr val="6B6058"/>
                </a:solidFill>
                <a:latin typeface="Avenir Next"/>
              </a:rPr>
              <a:t>personas + voice</a:t>
            </a:r>
          </a:p>
        </p:txBody>
      </p:sp>
      <p:pic>
        <p:nvPicPr>
          <p:cNvPr id="33" name="Picture 32" descr="karshin.png"/>
          <p:cNvPicPr>
            <a:picLocks noChangeAspect="1"/>
          </p:cNvPicPr>
          <p:nvPr/>
        </p:nvPicPr>
        <p:blipFill>
          <a:blip r:embed="rId5"/>
          <a:stretch>
            <a:fillRect/>
          </a:stretch>
        </p:blipFill>
        <p:spPr>
          <a:xfrm>
            <a:off x="9107424" y="1993392"/>
            <a:ext cx="777240" cy="777240"/>
          </a:xfrm>
          <a:prstGeom prst="rect">
            <a:avLst/>
          </a:prstGeom>
        </p:spPr>
      </p:pic>
      <p:sp>
        <p:nvSpPr>
          <p:cNvPr id="34" name="TextBox 33"/>
          <p:cNvSpPr txBox="1"/>
          <p:nvPr/>
        </p:nvSpPr>
        <p:spPr>
          <a:xfrm>
            <a:off x="9985248" y="2578608"/>
            <a:ext cx="1280160" cy="228600"/>
          </a:xfrm>
          <a:prstGeom prst="rect">
            <a:avLst/>
          </a:prstGeom>
          <a:noFill/>
        </p:spPr>
        <p:txBody>
          <a:bodyPr wrap="square" anchor="t" lIns="0" rIns="0" tIns="0" bIns="0">
            <a:spAutoFit/>
          </a:bodyPr>
          <a:lstStyle/>
          <a:p>
            <a:pPr algn="l">
              <a:lnSpc>
                <a:spcPct val="100000"/>
              </a:lnSpc>
            </a:pPr>
            <a:r>
              <a:rPr sz="750" b="0" lang="en-US">
                <a:solidFill>
                  <a:srgbClr val="A69C91"/>
                </a:solidFill>
                <a:latin typeface="Menlo"/>
              </a:rPr>
              <a:t>LINKEDIN</a:t>
            </a:r>
          </a:p>
        </p:txBody>
      </p:sp>
      <p:sp>
        <p:nvSpPr>
          <p:cNvPr id="35" name="TextBox 34"/>
          <p:cNvSpPr txBox="1"/>
          <p:nvPr/>
        </p:nvSpPr>
        <p:spPr>
          <a:xfrm>
            <a:off x="822960" y="3346704"/>
            <a:ext cx="10058400" cy="1737360"/>
          </a:xfrm>
          <a:prstGeom prst="rect">
            <a:avLst/>
          </a:prstGeom>
          <a:noFill/>
        </p:spPr>
        <p:txBody>
          <a:bodyPr wrap="square" anchor="t" lIns="0" rIns="0" tIns="0" bIns="0">
            <a:spAutoFit/>
          </a:bodyPr>
          <a:lstStyle/>
          <a:p>
            <a:pPr algn="l">
              <a:lnSpc>
                <a:spcPct val="106000"/>
              </a:lnSpc>
            </a:pPr>
            <a:r>
              <a:rPr sz="4400" b="1" lang="en-US">
                <a:solidFill>
                  <a:srgbClr val="1A1410"/>
                </a:solidFill>
                <a:latin typeface="Avenir Next"/>
              </a:rPr>
              <a:t>your medical bill</a:t>
            </a:r>
          </a:p>
          <a:p>
            <a:pPr algn="l">
              <a:lnSpc>
                <a:spcPct val="106000"/>
              </a:lnSpc>
            </a:pPr>
            <a:r>
              <a:rPr sz="4400" b="1" lang="en-US">
                <a:solidFill>
                  <a:srgbClr val="1A1410"/>
                </a:solidFill>
                <a:latin typeface="Avenir Next"/>
              </a:rPr>
              <a:t>just met its </a:t>
            </a:r>
            <a:r>
              <a:rPr sz="4400" b="1" lang="en-US">
                <a:solidFill>
                  <a:srgbClr val="EF6B45"/>
                </a:solidFill>
                <a:latin typeface="Avenir Next"/>
              </a:rPr>
              <a:t>match</a:t>
            </a:r>
            <a:r>
              <a:rPr sz="4400" b="1" lang="en-US">
                <a:solidFill>
                  <a:srgbClr val="1A1410"/>
                </a:solidFill>
                <a:latin typeface="Avenir Next"/>
              </a:rPr>
              <a:t>.</a:t>
            </a:r>
          </a:p>
        </p:txBody>
      </p:sp>
      <p:sp>
        <p:nvSpPr>
          <p:cNvPr id="36" name="Rounded Rectangle 35"/>
          <p:cNvSpPr/>
          <p:nvPr/>
        </p:nvSpPr>
        <p:spPr>
          <a:xfrm>
            <a:off x="3913632" y="4946904"/>
            <a:ext cx="1481328" cy="54864"/>
          </a:xfrm>
          <a:prstGeom prst="roundRect">
            <a:avLst>
              <a:gd name="adj" fmla="val 50000"/>
            </a:avLst>
          </a:prstGeom>
          <a:solidFill>
            <a:srgbClr val="E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960" y="5449824"/>
            <a:ext cx="10058400" cy="365760"/>
          </a:xfrm>
          <a:prstGeom prst="rect">
            <a:avLst/>
          </a:prstGeom>
          <a:noFill/>
        </p:spPr>
        <p:txBody>
          <a:bodyPr wrap="square" anchor="t" lIns="0" rIns="0" tIns="0" bIns="0">
            <a:spAutoFit/>
          </a:bodyPr>
          <a:lstStyle/>
          <a:p>
            <a:pPr algn="l">
              <a:lnSpc>
                <a:spcPct val="100000"/>
              </a:lnSpc>
            </a:pPr>
            <a:r>
              <a:rPr sz="1400" b="0" lang="en-US">
                <a:solidFill>
                  <a:srgbClr val="1A1410"/>
                </a:solidFill>
                <a:latin typeface="Menlo"/>
              </a:rPr>
              <a:t>hagglfor.me</a:t>
            </a:r>
            <a:r>
              <a:rPr sz="1200" b="0" lang="en-US">
                <a:solidFill>
                  <a:srgbClr val="A69C91"/>
                </a:solidFill>
                <a:latin typeface="Avenir Next"/>
              </a:rPr>
              <a:t>   ·   </a:t>
            </a:r>
            <a:r>
              <a:rPr sz="1200" b="0" lang="en-US">
                <a:solidFill>
                  <a:srgbClr val="6B6058"/>
                </a:solidFill>
                <a:latin typeface="Avenir Next"/>
              </a:rPr>
              <a:t>an AI advocate that haggles, on real calls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