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Open cold. 'This is Haggl. You upload a hospital bill, and an AI picks up the phone, calls the billing department, and negotiates it down on a real call while you go touch grass. It is live right now at hagglfor.me. Let me show you why that matters, then show you it working.'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[0:15-0:45] 'None of this is a billing accident. Hospitals charge 3.4 times their own costs. Private plans pay 254 percent of Medicare for identical care. One in five claims gets denied on the first pass. The prices are set high on purpose, and the fair number is already sitting in the hospital's own price file. Nobody is hiding it. Almost nobody goes and gets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[0:45-1:15] 'Here is the gap we sell into. Roughly 64 percent of people never challenge a medical bill. Of the ones who do, about 78 percent get a reduction. The fight works. People just do not have the hours, the scripts, or the stomach for the hold music. Maya did not either. Her bill went from 4,287 to 1,650, a 62 percent cut, on one live call our agent placed. The stars are self-reported survey numbers, and I am flagging them as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[1:15-1:50] 'The whole thing is one loop. Two inputs, the bill plus EOB parsed by vision and a voice intake, collapse into ONE confirmed JobSpec. From that spec we place parallel real phone calls. Mid-call, the agent hits a FastAPI tool loop that talks to a deterministic ladder state machine, so the server decides the next move, not the model. Every event streams over Supabase Realtime into the live War Room and, at the end, a ranked evidence report. It is live, it runs on a real 159,000-row hospital price file, 69 tests are green, and the calls are real PSTN.'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[1:50-2:20] 'The leverage is not a threat, it is the hospital's own data. We pull three levers in order: billing errors in the itemized bill, then the statutes, the No Surprises Act and 501(r) charity care, then the benchmarks. And the benchmark is devastating because it is theirs. Medicare pays 438 dollars. Their own posted cash price is 2,633. Their own insurers pay 999. We put those numbers on the call.'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[2:20-3:00] 'This is the part judges should push on. The model is the mouth, not the brain. Code computes every number, threshold, and legal claim, walks the ladder, sets the floors and targets, and audits the call afterward. The model just listens and talks, and it can only speak facts a tool handed it. It cannot say a number it was not served. We watched a tool-less version invent a CPT code and a date once, which is exactly why the boundary exists. And asked if it is an AI, it says yes,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[3:00-4:15] The money beat. 'Watch the number move. It starts at 4,287. The agent finds a duplicate X-ray and it drops to 3,875. It cites the hospital's own benchmark and the rep counters at 2,400. It offers a paid-in-full settlement and closes at 1,650, under the ceiling the code set. On the left is the live War Room for that exact call, honesty audit passing. On the right is the ranked report. And it holds up against different reps: a stonewaller who hangs up becomes a documented decline with a callback, a policy-citer turns into a started charity application, and a collections agent settles 980 dollars at 392. Same code, different humans.'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Close. 'Everything specific to medical bills is this one config file, on the left: the flags, the bands, the ladder. Retargeting the whole system to a new market is writing the file on the right, plus its benchmark data. Contractors, auto repair, freight, any market where a human quotes a price over the phone is one config file away. It is live now. Try it at hagglfor.me.'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0" y="868680"/>
            <a:ext cx="12191695" cy="274320"/>
          </a:xfrm>
          <a:prstGeom prst="rect">
            <a:avLst/>
          </a:prstGeom>
          <a:noFill/>
        </p:spPr>
        <p:txBody>
          <a:bodyPr wrap="square" anchor="t" lIns="0" rIns="0" tIns="0" bIns="0">
            <a:spAutoFit/>
          </a:bodyPr>
          <a:lstStyle/>
          <a:p>
            <a:pPr algn="ctr"/>
            <a:r>
              <a:rPr sz="1200" b="1" spc="260">
                <a:solidFill>
                  <a:srgbClr val="6B6058"/>
                </a:solidFill>
                <a:latin typeface="Avenir Next"/>
              </a:rPr>
              <a:t>AI VOICE AGENTS · LIVE NOW</a:t>
            </a:r>
          </a:p>
        </p:txBody>
      </p:sp>
      <p:sp>
        <p:nvSpPr>
          <p:cNvPr id="4" name="TextBox 3"/>
          <p:cNvSpPr txBox="1"/>
          <p:nvPr/>
        </p:nvSpPr>
        <p:spPr>
          <a:xfrm>
            <a:off x="0" y="1600200"/>
            <a:ext cx="12191695" cy="1188720"/>
          </a:xfrm>
          <a:prstGeom prst="rect">
            <a:avLst/>
          </a:prstGeom>
          <a:noFill/>
        </p:spPr>
        <p:txBody>
          <a:bodyPr wrap="square" anchor="t" lIns="0" rIns="0" tIns="0" bIns="0">
            <a:spAutoFit/>
          </a:bodyPr>
          <a:lstStyle/>
          <a:p>
            <a:pPr algn="ctr"/>
            <a:r>
              <a:rPr sz="8400" b="1">
                <a:solidFill>
                  <a:srgbClr val="1A1410"/>
                </a:solidFill>
                <a:latin typeface="Avenir Next"/>
              </a:rPr>
              <a:t>Haggl</a:t>
            </a:r>
          </a:p>
        </p:txBody>
      </p:sp>
      <p:sp>
        <p:nvSpPr>
          <p:cNvPr id="5" name="Rounded Rectangle 4"/>
          <p:cNvSpPr/>
          <p:nvPr/>
        </p:nvSpPr>
        <p:spPr>
          <a:xfrm rot="21120000">
            <a:off x="5138928" y="2761488"/>
            <a:ext cx="566928" cy="100584"/>
          </a:xfrm>
          <a:prstGeom prst="roundRect">
            <a:avLst>
              <a:gd name="adj" fmla="val 50000"/>
            </a:avLst>
          </a:prstGeom>
          <a:solidFill>
            <a:srgbClr val="EF6B45"/>
          </a:solidFill>
          <a:ln>
            <a:noFill/>
          </a:ln>
          <a:effectLst/>
        </p:spPr>
        <p:txBody>
          <a:bodyPr rtlCol="0" anchor="ctr"/>
          <a:lstStyle/>
          <a:p>
            <a:pPr algn="ctr"/>
          </a:p>
        </p:txBody>
      </p:sp>
      <p:sp>
        <p:nvSpPr>
          <p:cNvPr id="6" name="TextBox 5"/>
          <p:cNvSpPr txBox="1"/>
          <p:nvPr/>
        </p:nvSpPr>
        <p:spPr>
          <a:xfrm>
            <a:off x="1280160" y="3246120"/>
            <a:ext cx="9631375" cy="1280160"/>
          </a:xfrm>
          <a:prstGeom prst="rect">
            <a:avLst/>
          </a:prstGeom>
          <a:noFill/>
        </p:spPr>
        <p:txBody>
          <a:bodyPr wrap="square" anchor="t" lIns="0" rIns="0" tIns="0" bIns="0">
            <a:spAutoFit/>
          </a:bodyPr>
          <a:lstStyle/>
          <a:p>
            <a:pPr algn="ctr"/>
            <a:r>
              <a:rPr sz="2700" b="1">
                <a:solidFill>
                  <a:srgbClr val="1A1410"/>
                </a:solidFill>
                <a:latin typeface="Avenir Next"/>
              </a:rPr>
              <a:t>An AI that calls your hospital and negotiates</a:t>
            </a:r>
          </a:p>
        </p:txBody>
      </p:sp>
      <p:sp>
        <p:nvSpPr>
          <p:cNvPr id="7" name="TextBox 6"/>
          <p:cNvSpPr txBox="1"/>
          <p:nvPr/>
        </p:nvSpPr>
        <p:spPr>
          <a:xfrm>
            <a:off x="1280160" y="3703320"/>
            <a:ext cx="9631375" cy="1280160"/>
          </a:xfrm>
          <a:prstGeom prst="rect">
            <a:avLst/>
          </a:prstGeom>
          <a:noFill/>
        </p:spPr>
        <p:txBody>
          <a:bodyPr wrap="square" anchor="t" lIns="0" rIns="0" tIns="0" bIns="0">
            <a:spAutoFit/>
          </a:bodyPr>
          <a:lstStyle/>
          <a:p>
            <a:pPr algn="ctr"/>
            <a:r>
              <a:rPr sz="2700" b="1">
                <a:solidFill>
                  <a:srgbClr val="1A1410"/>
                </a:solidFill>
                <a:latin typeface="Avenir Next"/>
              </a:rPr>
              <a:t>your bill down, </a:t>
            </a:r>
            <a:r>
              <a:rPr sz="2700" b="1">
                <a:solidFill>
                  <a:srgbClr val="EF6B45"/>
                </a:solidFill>
                <a:latin typeface="Avenir Next"/>
              </a:rPr>
              <a:t>live.</a:t>
            </a:r>
          </a:p>
        </p:txBody>
      </p:sp>
      <p:pic>
        <p:nvPicPr>
          <p:cNvPr id="8" name="Picture 7" descr="home-hero.png"/>
          <p:cNvPicPr>
            <a:picLocks noChangeAspect="1"/>
          </p:cNvPicPr>
          <p:nvPr/>
        </p:nvPicPr>
        <p:blipFill>
          <a:blip r:embed="rId2"/>
          <a:stretch>
            <a:fillRect/>
          </a:stretch>
        </p:blipFill>
        <p:spPr>
          <a:xfrm>
            <a:off x="4590288" y="4407408"/>
            <a:ext cx="3017520" cy="1883664"/>
          </a:xfrm>
          <a:prstGeom prst="rect">
            <a:avLst/>
          </a:prstGeom>
          <a:ln w="15875">
            <a:solidFill>
              <a:srgbClr val="E8DDD3"/>
            </a:solidFill>
          </a:ln>
          <a:effectLst/>
        </p:spPr>
      </p:pic>
      <p:sp>
        <p:nvSpPr>
          <p:cNvPr id="9" name="TextBox 8"/>
          <p:cNvSpPr txBox="1"/>
          <p:nvPr/>
        </p:nvSpPr>
        <p:spPr>
          <a:xfrm>
            <a:off x="822960" y="6419088"/>
            <a:ext cx="5486400" cy="274320"/>
          </a:xfrm>
          <a:prstGeom prst="rect">
            <a:avLst/>
          </a:prstGeom>
          <a:noFill/>
        </p:spPr>
        <p:txBody>
          <a:bodyPr wrap="square" anchor="t" lIns="0" rIns="0" tIns="0" bIns="0">
            <a:spAutoFit/>
          </a:bodyPr>
          <a:lstStyle/>
          <a:p>
            <a:pPr algn="l"/>
            <a:r>
              <a:rPr sz="1300" b="0">
                <a:solidFill>
                  <a:srgbClr val="6B6058"/>
                </a:solidFill>
                <a:latin typeface="Avenir Next"/>
              </a:rPr>
              <a:t>Susy · J · Hamza · Kar Shin</a:t>
            </a:r>
          </a:p>
        </p:txBody>
      </p:sp>
      <p:sp>
        <p:nvSpPr>
          <p:cNvPr id="10" name="TextBox 9"/>
          <p:cNvSpPr txBox="1"/>
          <p:nvPr/>
        </p:nvSpPr>
        <p:spPr>
          <a:xfrm>
            <a:off x="5882335" y="6419088"/>
            <a:ext cx="5486400" cy="274320"/>
          </a:xfrm>
          <a:prstGeom prst="rect">
            <a:avLst/>
          </a:prstGeom>
          <a:noFill/>
        </p:spPr>
        <p:txBody>
          <a:bodyPr wrap="square" anchor="t" lIns="0" rIns="0" tIns="0" bIns="0">
            <a:spAutoFit/>
          </a:bodyPr>
          <a:lstStyle/>
          <a:p>
            <a:pPr algn="r"/>
            <a:r>
              <a:rPr sz="1400" b="1">
                <a:solidFill>
                  <a:srgbClr val="1A1410"/>
                </a:solidFill>
                <a:latin typeface="Menlo"/>
              </a:rPr>
              <a:t>hagglfor.me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822960" y="548640"/>
            <a:ext cx="9144000" cy="274320"/>
          </a:xfrm>
          <a:prstGeom prst="rect">
            <a:avLst/>
          </a:prstGeom>
          <a:noFill/>
        </p:spPr>
        <p:txBody>
          <a:bodyPr wrap="square" anchor="t" lIns="0" rIns="0" tIns="0" bIns="0">
            <a:spAutoFit/>
          </a:bodyPr>
          <a:lstStyle/>
          <a:p>
            <a:pPr algn="l"/>
            <a:r>
              <a:rPr sz="1100" b="1" spc="220">
                <a:solidFill>
                  <a:srgbClr val="6B6058"/>
                </a:solidFill>
                <a:latin typeface="Avenir Next"/>
              </a:rPr>
              <a:t>THE MARKET</a:t>
            </a:r>
          </a:p>
        </p:txBody>
      </p:sp>
      <p:sp>
        <p:nvSpPr>
          <p:cNvPr id="4" name="TextBox 3"/>
          <p:cNvSpPr txBox="1"/>
          <p:nvPr/>
        </p:nvSpPr>
        <p:spPr>
          <a:xfrm>
            <a:off x="822960" y="896112"/>
            <a:ext cx="10515600" cy="1207008"/>
          </a:xfrm>
          <a:prstGeom prst="rect">
            <a:avLst/>
          </a:prstGeom>
          <a:noFill/>
        </p:spPr>
        <p:txBody>
          <a:bodyPr wrap="square" anchor="t" lIns="0" rIns="0" tIns="0" bIns="0">
            <a:spAutoFit/>
          </a:bodyPr>
          <a:lstStyle/>
          <a:p>
            <a:pPr algn="l">
              <a:lnSpc>
                <a:spcPct val="102000"/>
              </a:lnSpc>
            </a:pPr>
            <a:r>
              <a:rPr sz="3400" b="1">
                <a:solidFill>
                  <a:srgbClr val="1A1410"/>
                </a:solidFill>
                <a:latin typeface="Avenir Next"/>
              </a:rPr>
              <a:t>The problem is a rigged market, not a mystery.</a:t>
            </a:r>
          </a:p>
        </p:txBody>
      </p:sp>
      <p:cxnSp>
        <p:nvCxnSpPr>
          <p:cNvPr id="5" name="Connector 4"/>
          <p:cNvCxnSpPr/>
          <p:nvPr/>
        </p:nvCxnSpPr>
        <p:spPr>
          <a:xfrm>
            <a:off x="822960" y="2148840"/>
            <a:ext cx="201168" cy="0"/>
          </a:xfrm>
          <a:prstGeom prst="line">
            <a:avLst/>
          </a:prstGeom>
          <a:ln w="17780">
            <a:solidFill>
              <a:srgbClr val="1A1410"/>
            </a:solidFill>
          </a:ln>
          <a:effectLst/>
        </p:spPr>
      </p:cxnSp>
      <p:cxnSp>
        <p:nvCxnSpPr>
          <p:cNvPr id="6" name="Connector 5"/>
          <p:cNvCxnSpPr/>
          <p:nvPr/>
        </p:nvCxnSpPr>
        <p:spPr>
          <a:xfrm>
            <a:off x="822960" y="2148840"/>
            <a:ext cx="0" cy="201168"/>
          </a:xfrm>
          <a:prstGeom prst="line">
            <a:avLst/>
          </a:prstGeom>
          <a:ln w="17780">
            <a:solidFill>
              <a:srgbClr val="1A1410"/>
            </a:solidFill>
          </a:ln>
          <a:effectLst/>
        </p:spPr>
      </p:cxnSp>
      <p:cxnSp>
        <p:nvCxnSpPr>
          <p:cNvPr id="7" name="Connector 6"/>
          <p:cNvCxnSpPr/>
          <p:nvPr/>
        </p:nvCxnSpPr>
        <p:spPr>
          <a:xfrm>
            <a:off x="5285232" y="2148840"/>
            <a:ext cx="201168" cy="0"/>
          </a:xfrm>
          <a:prstGeom prst="line">
            <a:avLst/>
          </a:prstGeom>
          <a:ln w="17780">
            <a:solidFill>
              <a:srgbClr val="1A1410"/>
            </a:solidFill>
          </a:ln>
          <a:effectLst/>
        </p:spPr>
      </p:cxnSp>
      <p:cxnSp>
        <p:nvCxnSpPr>
          <p:cNvPr id="8" name="Connector 7"/>
          <p:cNvCxnSpPr/>
          <p:nvPr/>
        </p:nvCxnSpPr>
        <p:spPr>
          <a:xfrm>
            <a:off x="5486400" y="2148840"/>
            <a:ext cx="0" cy="201168"/>
          </a:xfrm>
          <a:prstGeom prst="line">
            <a:avLst/>
          </a:prstGeom>
          <a:ln w="17780">
            <a:solidFill>
              <a:srgbClr val="1A1410"/>
            </a:solidFill>
          </a:ln>
          <a:effectLst/>
        </p:spPr>
      </p:cxnSp>
      <p:cxnSp>
        <p:nvCxnSpPr>
          <p:cNvPr id="9" name="Connector 8"/>
          <p:cNvCxnSpPr/>
          <p:nvPr/>
        </p:nvCxnSpPr>
        <p:spPr>
          <a:xfrm>
            <a:off x="822960" y="5029200"/>
            <a:ext cx="201168" cy="0"/>
          </a:xfrm>
          <a:prstGeom prst="line">
            <a:avLst/>
          </a:prstGeom>
          <a:ln w="17780">
            <a:solidFill>
              <a:srgbClr val="1A1410"/>
            </a:solidFill>
          </a:ln>
          <a:effectLst/>
        </p:spPr>
      </p:cxnSp>
      <p:cxnSp>
        <p:nvCxnSpPr>
          <p:cNvPr id="10" name="Connector 9"/>
          <p:cNvCxnSpPr/>
          <p:nvPr/>
        </p:nvCxnSpPr>
        <p:spPr>
          <a:xfrm>
            <a:off x="822960" y="4828032"/>
            <a:ext cx="0" cy="201168"/>
          </a:xfrm>
          <a:prstGeom prst="line">
            <a:avLst/>
          </a:prstGeom>
          <a:ln w="17780">
            <a:solidFill>
              <a:srgbClr val="1A1410"/>
            </a:solidFill>
          </a:ln>
          <a:effectLst/>
        </p:spPr>
      </p:cxnSp>
      <p:cxnSp>
        <p:nvCxnSpPr>
          <p:cNvPr id="11" name="Connector 10"/>
          <p:cNvCxnSpPr/>
          <p:nvPr/>
        </p:nvCxnSpPr>
        <p:spPr>
          <a:xfrm>
            <a:off x="5285232" y="5029200"/>
            <a:ext cx="201168" cy="0"/>
          </a:xfrm>
          <a:prstGeom prst="line">
            <a:avLst/>
          </a:prstGeom>
          <a:ln w="17780">
            <a:solidFill>
              <a:srgbClr val="1A1410"/>
            </a:solidFill>
          </a:ln>
          <a:effectLst/>
        </p:spPr>
      </p:cxnSp>
      <p:cxnSp>
        <p:nvCxnSpPr>
          <p:cNvPr id="12" name="Connector 11"/>
          <p:cNvCxnSpPr/>
          <p:nvPr/>
        </p:nvCxnSpPr>
        <p:spPr>
          <a:xfrm>
            <a:off x="5486400" y="4828032"/>
            <a:ext cx="0" cy="201168"/>
          </a:xfrm>
          <a:prstGeom prst="line">
            <a:avLst/>
          </a:prstGeom>
          <a:ln w="17780">
            <a:solidFill>
              <a:srgbClr val="1A1410"/>
            </a:solidFill>
          </a:ln>
          <a:effectLst/>
        </p:spPr>
      </p:cxnSp>
      <p:sp>
        <p:nvSpPr>
          <p:cNvPr id="13" name="TextBox 12"/>
          <p:cNvSpPr txBox="1"/>
          <p:nvPr/>
        </p:nvSpPr>
        <p:spPr>
          <a:xfrm>
            <a:off x="1051560" y="2423160"/>
            <a:ext cx="4297680" cy="1737360"/>
          </a:xfrm>
          <a:prstGeom prst="rect">
            <a:avLst/>
          </a:prstGeom>
          <a:noFill/>
        </p:spPr>
        <p:txBody>
          <a:bodyPr wrap="square" anchor="t" lIns="0" rIns="0" tIns="0" bIns="0">
            <a:spAutoFit/>
          </a:bodyPr>
          <a:lstStyle/>
          <a:p>
            <a:pPr algn="l"/>
            <a:r>
              <a:rPr sz="13000" b="1">
                <a:solidFill>
                  <a:srgbClr val="EF6B45"/>
                </a:solidFill>
                <a:latin typeface="Menlo"/>
              </a:rPr>
              <a:t>3.4×</a:t>
            </a:r>
          </a:p>
        </p:txBody>
      </p:sp>
      <p:sp>
        <p:nvSpPr>
          <p:cNvPr id="14" name="TextBox 13"/>
          <p:cNvSpPr txBox="1"/>
          <p:nvPr/>
        </p:nvSpPr>
        <p:spPr>
          <a:xfrm>
            <a:off x="1097280" y="4160520"/>
            <a:ext cx="4206240" cy="548640"/>
          </a:xfrm>
          <a:prstGeom prst="rect">
            <a:avLst/>
          </a:prstGeom>
          <a:noFill/>
        </p:spPr>
        <p:txBody>
          <a:bodyPr wrap="square" anchor="t" lIns="0" rIns="0" tIns="0" bIns="0">
            <a:spAutoFit/>
          </a:bodyPr>
          <a:lstStyle/>
          <a:p>
            <a:pPr algn="l">
              <a:lnSpc>
                <a:spcPct val="105000"/>
              </a:lnSpc>
            </a:pPr>
            <a:r>
              <a:rPr sz="1500" b="1">
                <a:solidFill>
                  <a:srgbClr val="1A1410"/>
                </a:solidFill>
                <a:latin typeface="Avenir Next"/>
              </a:rPr>
              <a:t>what hospitals charge over their own costs</a:t>
            </a:r>
          </a:p>
        </p:txBody>
      </p:sp>
      <p:sp>
        <p:nvSpPr>
          <p:cNvPr id="15" name="TextBox 14"/>
          <p:cNvSpPr txBox="1"/>
          <p:nvPr/>
        </p:nvSpPr>
        <p:spPr>
          <a:xfrm>
            <a:off x="1097280" y="4617720"/>
            <a:ext cx="4206240" cy="274320"/>
          </a:xfrm>
          <a:prstGeom prst="rect">
            <a:avLst/>
          </a:prstGeom>
          <a:noFill/>
        </p:spPr>
        <p:txBody>
          <a:bodyPr wrap="square" anchor="t" lIns="0" rIns="0" tIns="0" bIns="0">
            <a:spAutoFit/>
          </a:bodyPr>
          <a:lstStyle/>
          <a:p>
            <a:pPr algn="l"/>
            <a:r>
              <a:rPr sz="1050" b="0">
                <a:solidFill>
                  <a:srgbClr val="6B6058"/>
                </a:solidFill>
                <a:latin typeface="Avenir Next"/>
              </a:rPr>
              <a:t>Bai &amp; Anderson, Health Affairs 2015</a:t>
            </a:r>
          </a:p>
        </p:txBody>
      </p:sp>
      <p:sp>
        <p:nvSpPr>
          <p:cNvPr id="16" name="TextBox 15"/>
          <p:cNvSpPr txBox="1"/>
          <p:nvPr/>
        </p:nvSpPr>
        <p:spPr>
          <a:xfrm>
            <a:off x="6126480" y="2286000"/>
            <a:ext cx="2331720" cy="868680"/>
          </a:xfrm>
          <a:prstGeom prst="rect">
            <a:avLst/>
          </a:prstGeom>
          <a:noFill/>
        </p:spPr>
        <p:txBody>
          <a:bodyPr wrap="square" anchor="ctr" lIns="0" rIns="0" tIns="0" bIns="0">
            <a:spAutoFit/>
          </a:bodyPr>
          <a:lstStyle/>
          <a:p>
            <a:pPr algn="l"/>
            <a:r>
              <a:rPr sz="4400" b="1">
                <a:solidFill>
                  <a:srgbClr val="1A1410"/>
                </a:solidFill>
                <a:latin typeface="Menlo"/>
              </a:rPr>
              <a:t>254%</a:t>
            </a:r>
          </a:p>
        </p:txBody>
      </p:sp>
      <p:sp>
        <p:nvSpPr>
          <p:cNvPr id="17" name="TextBox 16"/>
          <p:cNvSpPr txBox="1"/>
          <p:nvPr/>
        </p:nvSpPr>
        <p:spPr>
          <a:xfrm>
            <a:off x="8595360" y="2331720"/>
            <a:ext cx="2788920" cy="658368"/>
          </a:xfrm>
          <a:prstGeom prst="rect">
            <a:avLst/>
          </a:prstGeom>
          <a:noFill/>
        </p:spPr>
        <p:txBody>
          <a:bodyPr wrap="square" anchor="t" lIns="0" rIns="0" tIns="0" bIns="0">
            <a:spAutoFit/>
          </a:bodyPr>
          <a:lstStyle/>
          <a:p>
            <a:pPr algn="l">
              <a:lnSpc>
                <a:spcPct val="108000"/>
              </a:lnSpc>
            </a:pPr>
            <a:r>
              <a:rPr sz="1350" b="1">
                <a:solidFill>
                  <a:srgbClr val="1A1410"/>
                </a:solidFill>
                <a:latin typeface="Avenir Next"/>
              </a:rPr>
              <a:t>of Medicare, what private plans pay for the same care</a:t>
            </a:r>
          </a:p>
        </p:txBody>
      </p:sp>
      <p:sp>
        <p:nvSpPr>
          <p:cNvPr id="18" name="TextBox 17"/>
          <p:cNvSpPr txBox="1"/>
          <p:nvPr/>
        </p:nvSpPr>
        <p:spPr>
          <a:xfrm>
            <a:off x="8595360" y="3035808"/>
            <a:ext cx="2788920" cy="274320"/>
          </a:xfrm>
          <a:prstGeom prst="rect">
            <a:avLst/>
          </a:prstGeom>
          <a:noFill/>
        </p:spPr>
        <p:txBody>
          <a:bodyPr wrap="square" anchor="t" lIns="0" rIns="0" tIns="0" bIns="0">
            <a:spAutoFit/>
          </a:bodyPr>
          <a:lstStyle/>
          <a:p>
            <a:pPr algn="l"/>
            <a:r>
              <a:rPr sz="1050" b="0">
                <a:solidFill>
                  <a:srgbClr val="6B6058"/>
                </a:solidFill>
                <a:latin typeface="Avenir Next"/>
              </a:rPr>
              <a:t>RAND 2024</a:t>
            </a:r>
          </a:p>
        </p:txBody>
      </p:sp>
      <p:cxnSp>
        <p:nvCxnSpPr>
          <p:cNvPr id="19" name="Connector 18"/>
          <p:cNvCxnSpPr/>
          <p:nvPr/>
        </p:nvCxnSpPr>
        <p:spPr>
          <a:xfrm>
            <a:off x="6126480" y="3566160"/>
            <a:ext cx="5257800" cy="0"/>
          </a:xfrm>
          <a:prstGeom prst="line">
            <a:avLst/>
          </a:prstGeom>
          <a:ln w="12700">
            <a:solidFill>
              <a:srgbClr val="E8DDD3"/>
            </a:solidFill>
          </a:ln>
          <a:effectLst/>
        </p:spPr>
      </p:cxnSp>
      <p:sp>
        <p:nvSpPr>
          <p:cNvPr id="20" name="TextBox 19"/>
          <p:cNvSpPr txBox="1"/>
          <p:nvPr/>
        </p:nvSpPr>
        <p:spPr>
          <a:xfrm>
            <a:off x="6126480" y="3886200"/>
            <a:ext cx="2331720" cy="868680"/>
          </a:xfrm>
          <a:prstGeom prst="rect">
            <a:avLst/>
          </a:prstGeom>
          <a:noFill/>
        </p:spPr>
        <p:txBody>
          <a:bodyPr wrap="square" anchor="ctr" lIns="0" rIns="0" tIns="0" bIns="0">
            <a:spAutoFit/>
          </a:bodyPr>
          <a:lstStyle/>
          <a:p>
            <a:pPr algn="l"/>
            <a:r>
              <a:rPr sz="4400" b="1">
                <a:solidFill>
                  <a:srgbClr val="1A1410"/>
                </a:solidFill>
                <a:latin typeface="Menlo"/>
              </a:rPr>
              <a:t>~20%</a:t>
            </a:r>
          </a:p>
        </p:txBody>
      </p:sp>
      <p:sp>
        <p:nvSpPr>
          <p:cNvPr id="21" name="TextBox 20"/>
          <p:cNvSpPr txBox="1"/>
          <p:nvPr/>
        </p:nvSpPr>
        <p:spPr>
          <a:xfrm>
            <a:off x="8595360" y="3931920"/>
            <a:ext cx="2788920" cy="658368"/>
          </a:xfrm>
          <a:prstGeom prst="rect">
            <a:avLst/>
          </a:prstGeom>
          <a:noFill/>
        </p:spPr>
        <p:txBody>
          <a:bodyPr wrap="square" anchor="t" lIns="0" rIns="0" tIns="0" bIns="0">
            <a:spAutoFit/>
          </a:bodyPr>
          <a:lstStyle/>
          <a:p>
            <a:pPr algn="l">
              <a:lnSpc>
                <a:spcPct val="108000"/>
              </a:lnSpc>
            </a:pPr>
            <a:r>
              <a:rPr sz="1350" b="1">
                <a:solidFill>
                  <a:srgbClr val="1A1410"/>
                </a:solidFill>
                <a:latin typeface="Avenir Next"/>
              </a:rPr>
              <a:t>of claims denied on first submission</a:t>
            </a:r>
          </a:p>
        </p:txBody>
      </p:sp>
      <p:sp>
        <p:nvSpPr>
          <p:cNvPr id="22" name="TextBox 21"/>
          <p:cNvSpPr txBox="1"/>
          <p:nvPr/>
        </p:nvSpPr>
        <p:spPr>
          <a:xfrm>
            <a:off x="8595360" y="4636008"/>
            <a:ext cx="2788920" cy="274320"/>
          </a:xfrm>
          <a:prstGeom prst="rect">
            <a:avLst/>
          </a:prstGeom>
          <a:noFill/>
        </p:spPr>
        <p:txBody>
          <a:bodyPr wrap="square" anchor="t" lIns="0" rIns="0" tIns="0" bIns="0">
            <a:spAutoFit/>
          </a:bodyPr>
          <a:lstStyle/>
          <a:p>
            <a:pPr algn="l"/>
            <a:r>
              <a:rPr sz="1050" b="0">
                <a:solidFill>
                  <a:srgbClr val="6B6058"/>
                </a:solidFill>
                <a:latin typeface="Avenir Next"/>
              </a:rPr>
              <a:t>KFF</a:t>
            </a:r>
          </a:p>
        </p:txBody>
      </p:sp>
      <p:sp>
        <p:nvSpPr>
          <p:cNvPr id="23" name="TextBox 22"/>
          <p:cNvSpPr txBox="1"/>
          <p:nvPr/>
        </p:nvSpPr>
        <p:spPr>
          <a:xfrm>
            <a:off x="822960" y="5806440"/>
            <a:ext cx="10515600" cy="640080"/>
          </a:xfrm>
          <a:prstGeom prst="rect">
            <a:avLst/>
          </a:prstGeom>
          <a:noFill/>
        </p:spPr>
        <p:txBody>
          <a:bodyPr wrap="square" anchor="t" lIns="0" rIns="0" tIns="0" bIns="0">
            <a:spAutoFit/>
          </a:bodyPr>
          <a:lstStyle/>
          <a:p>
            <a:pPr algn="l">
              <a:lnSpc>
                <a:spcPct val="110000"/>
              </a:lnSpc>
            </a:pPr>
            <a:r>
              <a:rPr sz="1500" b="0">
                <a:solidFill>
                  <a:srgbClr val="6B6058"/>
                </a:solidFill>
                <a:latin typeface="Avenir Next"/>
              </a:rPr>
              <a:t>The list price is set high on purpose. </a:t>
            </a:r>
            <a:r>
              <a:rPr sz="1500" b="1">
                <a:solidFill>
                  <a:srgbClr val="1A1410"/>
                </a:solidFill>
                <a:latin typeface="Avenir Next"/>
              </a:rPr>
              <a:t>The discount is already sitting in the hospital's own files.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822960" y="548640"/>
            <a:ext cx="9144000" cy="274320"/>
          </a:xfrm>
          <a:prstGeom prst="rect">
            <a:avLst/>
          </a:prstGeom>
          <a:noFill/>
        </p:spPr>
        <p:txBody>
          <a:bodyPr wrap="square" anchor="t" lIns="0" rIns="0" tIns="0" bIns="0">
            <a:spAutoFit/>
          </a:bodyPr>
          <a:lstStyle/>
          <a:p>
            <a:pPr algn="l"/>
            <a:r>
              <a:rPr sz="1100" b="1" spc="220">
                <a:solidFill>
                  <a:srgbClr val="6B6058"/>
                </a:solidFill>
                <a:latin typeface="Avenir Next"/>
              </a:rPr>
              <a:t>THE BEHAVIOR GAP</a:t>
            </a:r>
          </a:p>
        </p:txBody>
      </p:sp>
      <p:sp>
        <p:nvSpPr>
          <p:cNvPr id="4" name="TextBox 3"/>
          <p:cNvSpPr txBox="1"/>
          <p:nvPr/>
        </p:nvSpPr>
        <p:spPr>
          <a:xfrm>
            <a:off x="822960" y="896112"/>
            <a:ext cx="10515600" cy="2139696"/>
          </a:xfrm>
          <a:prstGeom prst="rect">
            <a:avLst/>
          </a:prstGeom>
          <a:noFill/>
        </p:spPr>
        <p:txBody>
          <a:bodyPr wrap="square" anchor="t" lIns="0" rIns="0" tIns="0" bIns="0">
            <a:spAutoFit/>
          </a:bodyPr>
          <a:lstStyle/>
          <a:p>
            <a:pPr algn="l">
              <a:lnSpc>
                <a:spcPct val="102000"/>
              </a:lnSpc>
            </a:pPr>
            <a:r>
              <a:rPr sz="3400" b="1">
                <a:solidFill>
                  <a:srgbClr val="1A1410"/>
                </a:solidFill>
                <a:latin typeface="Avenir Next"/>
              </a:rPr>
              <a:t>Most people who fight, win.</a:t>
            </a:r>
          </a:p>
          <a:p>
            <a:pPr algn="l">
              <a:lnSpc>
                <a:spcPct val="102000"/>
              </a:lnSpc>
            </a:pPr>
            <a:r>
              <a:rPr sz="3400" b="1">
                <a:solidFill>
                  <a:srgbClr val="1A1410"/>
                </a:solidFill>
                <a:latin typeface="Avenir Next"/>
              </a:rPr>
              <a:t>Almost nobody fights.</a:t>
            </a:r>
          </a:p>
        </p:txBody>
      </p:sp>
      <p:sp>
        <p:nvSpPr>
          <p:cNvPr id="5" name="TextBox 4"/>
          <p:cNvSpPr txBox="1"/>
          <p:nvPr/>
        </p:nvSpPr>
        <p:spPr>
          <a:xfrm>
            <a:off x="822960" y="2514600"/>
            <a:ext cx="4937760" cy="1188720"/>
          </a:xfrm>
          <a:prstGeom prst="rect">
            <a:avLst/>
          </a:prstGeom>
          <a:noFill/>
        </p:spPr>
        <p:txBody>
          <a:bodyPr wrap="square" anchor="t" lIns="0" rIns="0" tIns="0" bIns="0">
            <a:spAutoFit/>
          </a:bodyPr>
          <a:lstStyle/>
          <a:p>
            <a:pPr algn="l"/>
            <a:r>
              <a:rPr sz="7800" b="1">
                <a:solidFill>
                  <a:srgbClr val="1A1410"/>
                </a:solidFill>
                <a:latin typeface="Menlo"/>
              </a:rPr>
              <a:t>64%</a:t>
            </a:r>
            <a:r>
              <a:rPr sz="3000" b="1" baseline="30000">
                <a:solidFill>
                  <a:srgbClr val="6B6058"/>
                </a:solidFill>
                <a:latin typeface="Menlo"/>
              </a:rPr>
              <a:t>*</a:t>
            </a:r>
          </a:p>
        </p:txBody>
      </p:sp>
      <p:sp>
        <p:nvSpPr>
          <p:cNvPr id="6" name="TextBox 5"/>
          <p:cNvSpPr txBox="1"/>
          <p:nvPr/>
        </p:nvSpPr>
        <p:spPr>
          <a:xfrm>
            <a:off x="868680" y="3703320"/>
            <a:ext cx="4754880" cy="640080"/>
          </a:xfrm>
          <a:prstGeom prst="rect">
            <a:avLst/>
          </a:prstGeom>
          <a:noFill/>
        </p:spPr>
        <p:txBody>
          <a:bodyPr wrap="square" anchor="t" lIns="0" rIns="0" tIns="0" bIns="0">
            <a:spAutoFit/>
          </a:bodyPr>
          <a:lstStyle/>
          <a:p>
            <a:pPr algn="l"/>
            <a:r>
              <a:rPr sz="1600" b="1">
                <a:solidFill>
                  <a:srgbClr val="1A1410"/>
                </a:solidFill>
                <a:latin typeface="Avenir Next"/>
              </a:rPr>
              <a:t>never challenge a medical bill</a:t>
            </a:r>
          </a:p>
        </p:txBody>
      </p:sp>
      <p:sp>
        <p:nvSpPr>
          <p:cNvPr id="7" name="TextBox 6"/>
          <p:cNvSpPr txBox="1"/>
          <p:nvPr/>
        </p:nvSpPr>
        <p:spPr>
          <a:xfrm>
            <a:off x="6309360" y="2514600"/>
            <a:ext cx="4937760" cy="1188720"/>
          </a:xfrm>
          <a:prstGeom prst="rect">
            <a:avLst/>
          </a:prstGeom>
          <a:noFill/>
        </p:spPr>
        <p:txBody>
          <a:bodyPr wrap="square" anchor="t" lIns="0" rIns="0" tIns="0" bIns="0">
            <a:spAutoFit/>
          </a:bodyPr>
          <a:lstStyle/>
          <a:p>
            <a:pPr algn="l"/>
            <a:r>
              <a:rPr sz="7800" b="1">
                <a:solidFill>
                  <a:srgbClr val="1A1410"/>
                </a:solidFill>
                <a:latin typeface="Menlo"/>
              </a:rPr>
              <a:t>~78%</a:t>
            </a:r>
            <a:r>
              <a:rPr sz="3000" b="1" baseline="30000">
                <a:solidFill>
                  <a:srgbClr val="6B6058"/>
                </a:solidFill>
                <a:latin typeface="Menlo"/>
              </a:rPr>
              <a:t>*</a:t>
            </a:r>
          </a:p>
        </p:txBody>
      </p:sp>
      <p:sp>
        <p:nvSpPr>
          <p:cNvPr id="8" name="TextBox 7"/>
          <p:cNvSpPr txBox="1"/>
          <p:nvPr/>
        </p:nvSpPr>
        <p:spPr>
          <a:xfrm>
            <a:off x="6355080" y="3703320"/>
            <a:ext cx="4754880" cy="640080"/>
          </a:xfrm>
          <a:prstGeom prst="rect">
            <a:avLst/>
          </a:prstGeom>
          <a:noFill/>
        </p:spPr>
        <p:txBody>
          <a:bodyPr wrap="square" anchor="t" lIns="0" rIns="0" tIns="0" bIns="0">
            <a:spAutoFit/>
          </a:bodyPr>
          <a:lstStyle/>
          <a:p>
            <a:pPr algn="l"/>
            <a:r>
              <a:rPr sz="1600" b="1">
                <a:solidFill>
                  <a:srgbClr val="1A1410"/>
                </a:solidFill>
                <a:latin typeface="Avenir Next"/>
              </a:rPr>
              <a:t>of those who dispute get a reduction</a:t>
            </a:r>
          </a:p>
        </p:txBody>
      </p:sp>
      <p:sp>
        <p:nvSpPr>
          <p:cNvPr id="9" name="Rounded Rectangle 8"/>
          <p:cNvSpPr/>
          <p:nvPr/>
        </p:nvSpPr>
        <p:spPr>
          <a:xfrm>
            <a:off x="822960" y="4572000"/>
            <a:ext cx="10545775" cy="1051560"/>
          </a:xfrm>
          <a:prstGeom prst="roundRect">
            <a:avLst>
              <a:gd name="adj" fmla="val 18000"/>
            </a:avLst>
          </a:prstGeom>
          <a:solidFill>
            <a:srgbClr val="FCE3D8"/>
          </a:solidFill>
          <a:ln w="15875">
            <a:solidFill>
              <a:srgbClr val="EF6B45"/>
            </a:solidFill>
          </a:ln>
          <a:effectLst/>
        </p:spPr>
        <p:txBody>
          <a:bodyPr rtlCol="0" anchor="ctr"/>
          <a:lstStyle/>
          <a:p>
            <a:pPr algn="ctr"/>
          </a:p>
        </p:txBody>
      </p:sp>
      <p:sp>
        <p:nvSpPr>
          <p:cNvPr id="10" name="TextBox 9"/>
          <p:cNvSpPr txBox="1"/>
          <p:nvPr/>
        </p:nvSpPr>
        <p:spPr>
          <a:xfrm>
            <a:off x="1143000" y="4572000"/>
            <a:ext cx="9966960" cy="1051560"/>
          </a:xfrm>
          <a:prstGeom prst="rect">
            <a:avLst/>
          </a:prstGeom>
          <a:noFill/>
        </p:spPr>
        <p:txBody>
          <a:bodyPr wrap="square" anchor="ctr" lIns="0" rIns="0" tIns="0" bIns="0">
            <a:spAutoFit/>
          </a:bodyPr>
          <a:lstStyle/>
          <a:p>
            <a:pPr algn="l"/>
            <a:r>
              <a:rPr sz="2000" b="1">
                <a:solidFill>
                  <a:srgbClr val="1A1410"/>
                </a:solidFill>
                <a:latin typeface="Avenir Next"/>
              </a:rPr>
              <a:t>Maya's </a:t>
            </a:r>
            <a:r>
              <a:rPr sz="2000" b="1">
                <a:solidFill>
                  <a:srgbClr val="1A1410"/>
                </a:solidFill>
                <a:latin typeface="Menlo"/>
              </a:rPr>
              <a:t>$4,287</a:t>
            </a:r>
            <a:r>
              <a:rPr sz="2000" b="1">
                <a:solidFill>
                  <a:srgbClr val="6B6058"/>
                </a:solidFill>
                <a:latin typeface="Avenir Next"/>
              </a:rPr>
              <a:t> → </a:t>
            </a:r>
            <a:r>
              <a:rPr sz="2200" b="1">
                <a:solidFill>
                  <a:srgbClr val="EF6B45"/>
                </a:solidFill>
                <a:latin typeface="Menlo"/>
              </a:rPr>
              <a:t>$1,650</a:t>
            </a:r>
            <a:r>
              <a:rPr sz="2000" b="1">
                <a:solidFill>
                  <a:srgbClr val="1A1410"/>
                </a:solidFill>
                <a:latin typeface="Avenir Next"/>
              </a:rPr>
              <a:t>   a 62% cut, on one live call.</a:t>
            </a:r>
          </a:p>
        </p:txBody>
      </p:sp>
      <p:sp>
        <p:nvSpPr>
          <p:cNvPr id="11" name="TextBox 10"/>
          <p:cNvSpPr txBox="1"/>
          <p:nvPr/>
        </p:nvSpPr>
        <p:spPr>
          <a:xfrm>
            <a:off x="822960" y="5989320"/>
            <a:ext cx="10515600" cy="274320"/>
          </a:xfrm>
          <a:prstGeom prst="rect">
            <a:avLst/>
          </a:prstGeom>
          <a:noFill/>
        </p:spPr>
        <p:txBody>
          <a:bodyPr wrap="square" anchor="t" lIns="0" rIns="0" tIns="0" bIns="0">
            <a:spAutoFit/>
          </a:bodyPr>
          <a:lstStyle/>
          <a:p>
            <a:pPr algn="l"/>
            <a:r>
              <a:rPr sz="900" b="0">
                <a:solidFill>
                  <a:srgbClr val="6B6058"/>
                </a:solidFill>
                <a:latin typeface="Avenir Next"/>
              </a:rPr>
              <a:t>* Self-reported, consumer medical-billing surveys.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822960" y="502920"/>
            <a:ext cx="9144000" cy="274320"/>
          </a:xfrm>
          <a:prstGeom prst="rect">
            <a:avLst/>
          </a:prstGeom>
          <a:noFill/>
        </p:spPr>
        <p:txBody>
          <a:bodyPr wrap="square" anchor="t" lIns="0" rIns="0" tIns="0" bIns="0">
            <a:spAutoFit/>
          </a:bodyPr>
          <a:lstStyle/>
          <a:p>
            <a:pPr algn="l"/>
            <a:r>
              <a:rPr sz="1100" b="1" spc="220">
                <a:solidFill>
                  <a:srgbClr val="6B6058"/>
                </a:solidFill>
                <a:latin typeface="Avenir Next"/>
              </a:rPr>
              <a:t>THE SYSTEM</a:t>
            </a:r>
          </a:p>
        </p:txBody>
      </p:sp>
      <p:sp>
        <p:nvSpPr>
          <p:cNvPr id="4" name="TextBox 3"/>
          <p:cNvSpPr txBox="1"/>
          <p:nvPr/>
        </p:nvSpPr>
        <p:spPr>
          <a:xfrm>
            <a:off x="822960" y="841248"/>
            <a:ext cx="10515600" cy="1207008"/>
          </a:xfrm>
          <a:prstGeom prst="rect">
            <a:avLst/>
          </a:prstGeom>
          <a:noFill/>
        </p:spPr>
        <p:txBody>
          <a:bodyPr wrap="square" anchor="t" lIns="0" rIns="0" tIns="0" bIns="0">
            <a:spAutoFit/>
          </a:bodyPr>
          <a:lstStyle/>
          <a:p>
            <a:pPr algn="l">
              <a:lnSpc>
                <a:spcPct val="102000"/>
              </a:lnSpc>
            </a:pPr>
            <a:r>
              <a:rPr sz="3400" b="1">
                <a:solidFill>
                  <a:srgbClr val="1A1410"/>
                </a:solidFill>
                <a:latin typeface="Avenir Next"/>
              </a:rPr>
              <a:t>One closed loop.</a:t>
            </a:r>
          </a:p>
        </p:txBody>
      </p:sp>
      <p:sp>
        <p:nvSpPr>
          <p:cNvPr id="5" name="Rounded Rectangle 4"/>
          <p:cNvSpPr/>
          <p:nvPr/>
        </p:nvSpPr>
        <p:spPr>
          <a:xfrm>
            <a:off x="640080" y="1783080"/>
            <a:ext cx="2286000" cy="868680"/>
          </a:xfrm>
          <a:prstGeom prst="roundRect">
            <a:avLst>
              <a:gd name="adj" fmla="val 16000"/>
            </a:avLst>
          </a:prstGeom>
          <a:solidFill>
            <a:srgbClr val="FCE3D8"/>
          </a:solidFill>
          <a:ln w="9525">
            <a:solidFill>
              <a:srgbClr val="E8DDD3"/>
            </a:solidFill>
          </a:ln>
          <a:effectLst/>
        </p:spPr>
        <p:txBody>
          <a:bodyPr rtlCol="0" anchor="ctr" wrap="square" lIns="109728" rIns="109728"/>
          <a:lstStyle/>
          <a:p>
            <a:pPr algn="ctr"/>
            <a:r>
              <a:rPr sz="1250" b="1">
                <a:solidFill>
                  <a:srgbClr val="1A1410"/>
                </a:solidFill>
                <a:latin typeface="Avenir Next"/>
              </a:rPr>
              <a:t>Bill + EOB parse</a:t>
            </a:r>
          </a:p>
          <a:p>
            <a:pPr algn="ctr">
              <a:spcBef>
                <a:spcPts val="200"/>
              </a:spcBef>
            </a:pPr>
            <a:r>
              <a:rPr sz="850" b="0">
                <a:solidFill>
                  <a:srgbClr val="6B6058"/>
                </a:solidFill>
                <a:latin typeface="Menlo"/>
              </a:rPr>
              <a:t>OpenAI vision</a:t>
            </a:r>
          </a:p>
        </p:txBody>
      </p:sp>
      <p:sp>
        <p:nvSpPr>
          <p:cNvPr id="6" name="Rounded Rectangle 5"/>
          <p:cNvSpPr/>
          <p:nvPr/>
        </p:nvSpPr>
        <p:spPr>
          <a:xfrm>
            <a:off x="640080" y="2880360"/>
            <a:ext cx="2286000" cy="868680"/>
          </a:xfrm>
          <a:prstGeom prst="roundRect">
            <a:avLst>
              <a:gd name="adj" fmla="val 16000"/>
            </a:avLst>
          </a:prstGeom>
          <a:solidFill>
            <a:srgbClr val="F6E7CC"/>
          </a:solidFill>
          <a:ln w="9525">
            <a:solidFill>
              <a:srgbClr val="E8DDD3"/>
            </a:solidFill>
          </a:ln>
          <a:effectLst/>
        </p:spPr>
        <p:txBody>
          <a:bodyPr rtlCol="0" anchor="ctr" wrap="square" lIns="109728" rIns="109728"/>
          <a:lstStyle/>
          <a:p>
            <a:pPr algn="ctr"/>
            <a:r>
              <a:rPr sz="1250" b="1">
                <a:solidFill>
                  <a:srgbClr val="1A1410"/>
                </a:solidFill>
                <a:latin typeface="Avenir Next"/>
              </a:rPr>
              <a:t>Voice intake</a:t>
            </a:r>
          </a:p>
          <a:p>
            <a:pPr algn="ctr">
              <a:spcBef>
                <a:spcPts val="200"/>
              </a:spcBef>
            </a:pPr>
            <a:r>
              <a:rPr sz="850" b="0">
                <a:solidFill>
                  <a:srgbClr val="6B6058"/>
                </a:solidFill>
                <a:latin typeface="Menlo"/>
              </a:rPr>
              <a:t>ElevenLabs</a:t>
            </a:r>
          </a:p>
        </p:txBody>
      </p:sp>
      <p:sp>
        <p:nvSpPr>
          <p:cNvPr id="7" name="Rounded Rectangle 6"/>
          <p:cNvSpPr/>
          <p:nvPr/>
        </p:nvSpPr>
        <p:spPr>
          <a:xfrm>
            <a:off x="3291840" y="2331720"/>
            <a:ext cx="2240280" cy="914400"/>
          </a:xfrm>
          <a:prstGeom prst="roundRect">
            <a:avLst>
              <a:gd name="adj" fmla="val 16000"/>
            </a:avLst>
          </a:prstGeom>
          <a:solidFill>
            <a:srgbClr val="EDF2EC"/>
          </a:solidFill>
          <a:ln w="22225">
            <a:solidFill>
              <a:srgbClr val="EF6B45"/>
            </a:solidFill>
          </a:ln>
          <a:effectLst/>
        </p:spPr>
        <p:txBody>
          <a:bodyPr rtlCol="0" anchor="ctr" wrap="square" lIns="109728" rIns="109728"/>
          <a:lstStyle/>
          <a:p>
            <a:pPr algn="ctr"/>
            <a:r>
              <a:rPr sz="1250" b="1">
                <a:solidFill>
                  <a:srgbClr val="1A1410"/>
                </a:solidFill>
                <a:latin typeface="Avenir Next"/>
              </a:rPr>
              <a:t>ONE confirmed JobSpec</a:t>
            </a:r>
          </a:p>
          <a:p>
            <a:pPr algn="ctr">
              <a:spcBef>
                <a:spcPts val="200"/>
              </a:spcBef>
            </a:pPr>
            <a:r>
              <a:rPr sz="850" b="0">
                <a:solidFill>
                  <a:srgbClr val="6B6058"/>
                </a:solidFill>
                <a:latin typeface="Menlo"/>
              </a:rPr>
              <a:t>contracts/job_spec</a:t>
            </a:r>
          </a:p>
        </p:txBody>
      </p:sp>
      <p:sp>
        <p:nvSpPr>
          <p:cNvPr id="8" name="Rounded Rectangle 7"/>
          <p:cNvSpPr/>
          <p:nvPr/>
        </p:nvSpPr>
        <p:spPr>
          <a:xfrm>
            <a:off x="5897880" y="2331720"/>
            <a:ext cx="2377440" cy="914400"/>
          </a:xfrm>
          <a:prstGeom prst="roundRect">
            <a:avLst>
              <a:gd name="adj" fmla="val 16000"/>
            </a:avLst>
          </a:prstGeom>
          <a:solidFill>
            <a:srgbClr val="EEF0F6"/>
          </a:solidFill>
          <a:ln w="9525">
            <a:solidFill>
              <a:srgbClr val="E8DDD3"/>
            </a:solidFill>
          </a:ln>
          <a:effectLst/>
        </p:spPr>
        <p:txBody>
          <a:bodyPr rtlCol="0" anchor="ctr" wrap="square" lIns="109728" rIns="109728"/>
          <a:lstStyle/>
          <a:p>
            <a:pPr algn="ctr"/>
            <a:r>
              <a:rPr sz="1250" b="1">
                <a:solidFill>
                  <a:srgbClr val="1A1410"/>
                </a:solidFill>
                <a:latin typeface="Avenir Next"/>
              </a:rPr>
              <a:t>Parallel Twilio PSTN calls</a:t>
            </a:r>
          </a:p>
          <a:p>
            <a:pPr algn="ctr">
              <a:spcBef>
                <a:spcPts val="200"/>
              </a:spcBef>
            </a:pPr>
            <a:r>
              <a:rPr sz="850" b="0">
                <a:solidFill>
                  <a:srgbClr val="6B6058"/>
                </a:solidFill>
                <a:latin typeface="Menlo"/>
              </a:rPr>
              <a:t>ElevenLabs agents</a:t>
            </a:r>
          </a:p>
        </p:txBody>
      </p:sp>
      <p:sp>
        <p:nvSpPr>
          <p:cNvPr id="9" name="Rounded Rectangle 8"/>
          <p:cNvSpPr/>
          <p:nvPr/>
        </p:nvSpPr>
        <p:spPr>
          <a:xfrm>
            <a:off x="8686800" y="2331720"/>
            <a:ext cx="2788920" cy="914400"/>
          </a:xfrm>
          <a:prstGeom prst="roundRect">
            <a:avLst>
              <a:gd name="adj" fmla="val 16000"/>
            </a:avLst>
          </a:prstGeom>
          <a:solidFill>
            <a:srgbClr val="FCE3D8"/>
          </a:solidFill>
          <a:ln w="9525">
            <a:solidFill>
              <a:srgbClr val="E8DDD3"/>
            </a:solidFill>
          </a:ln>
          <a:effectLst/>
        </p:spPr>
        <p:txBody>
          <a:bodyPr rtlCol="0" anchor="ctr" wrap="square" lIns="109728" rIns="109728"/>
          <a:lstStyle/>
          <a:p>
            <a:pPr algn="ctr"/>
            <a:r>
              <a:rPr sz="1250" b="1">
                <a:solidFill>
                  <a:srgbClr val="1A1410"/>
                </a:solidFill>
                <a:latin typeface="Avenir Next"/>
              </a:rPr>
              <a:t>FastAPI tool loop</a:t>
            </a:r>
          </a:p>
          <a:p>
            <a:pPr algn="ctr">
              <a:spcBef>
                <a:spcPts val="200"/>
              </a:spcBef>
            </a:pPr>
            <a:r>
              <a:rPr sz="850" b="0">
                <a:solidFill>
                  <a:srgbClr val="6B6058"/>
                </a:solidFill>
                <a:latin typeface="Menlo"/>
              </a:rPr>
              <a:t>get_case_brief · get_benchmark · report_lever_result</a:t>
            </a:r>
          </a:p>
        </p:txBody>
      </p:sp>
      <p:sp>
        <p:nvSpPr>
          <p:cNvPr id="10" name="Rounded Rectangle 9"/>
          <p:cNvSpPr/>
          <p:nvPr/>
        </p:nvSpPr>
        <p:spPr>
          <a:xfrm>
            <a:off x="8686800" y="3931920"/>
            <a:ext cx="2788920" cy="914400"/>
          </a:xfrm>
          <a:prstGeom prst="roundRect">
            <a:avLst>
              <a:gd name="adj" fmla="val 16000"/>
            </a:avLst>
          </a:prstGeom>
          <a:solidFill>
            <a:srgbClr val="F6E7CC"/>
          </a:solidFill>
          <a:ln w="9525">
            <a:solidFill>
              <a:srgbClr val="E8DDD3"/>
            </a:solidFill>
          </a:ln>
          <a:effectLst/>
        </p:spPr>
        <p:txBody>
          <a:bodyPr rtlCol="0" anchor="ctr" wrap="square" lIns="109728" rIns="109728"/>
          <a:lstStyle/>
          <a:p>
            <a:pPr algn="ctr"/>
            <a:r>
              <a:rPr sz="1250" b="1">
                <a:solidFill>
                  <a:srgbClr val="1A1410"/>
                </a:solidFill>
                <a:latin typeface="Avenir Next"/>
              </a:rPr>
              <a:t>Deterministic ladder</a:t>
            </a:r>
          </a:p>
          <a:p>
            <a:pPr algn="ctr">
              <a:spcBef>
                <a:spcPts val="200"/>
              </a:spcBef>
            </a:pPr>
            <a:r>
              <a:rPr sz="850" b="0">
                <a:solidFill>
                  <a:srgbClr val="6B6058"/>
                </a:solidFill>
                <a:latin typeface="Menlo"/>
              </a:rPr>
              <a:t>state machine</a:t>
            </a:r>
          </a:p>
        </p:txBody>
      </p:sp>
      <p:sp>
        <p:nvSpPr>
          <p:cNvPr id="11" name="Rounded Rectangle 10"/>
          <p:cNvSpPr/>
          <p:nvPr/>
        </p:nvSpPr>
        <p:spPr>
          <a:xfrm>
            <a:off x="5897880" y="3931920"/>
            <a:ext cx="2377440" cy="914400"/>
          </a:xfrm>
          <a:prstGeom prst="roundRect">
            <a:avLst>
              <a:gd name="adj" fmla="val 16000"/>
            </a:avLst>
          </a:prstGeom>
          <a:solidFill>
            <a:srgbClr val="EDF2EC"/>
          </a:solidFill>
          <a:ln w="9525">
            <a:solidFill>
              <a:srgbClr val="E8DDD3"/>
            </a:solidFill>
          </a:ln>
          <a:effectLst/>
        </p:spPr>
        <p:txBody>
          <a:bodyPr rtlCol="0" anchor="ctr" wrap="square" lIns="109728" rIns="109728"/>
          <a:lstStyle/>
          <a:p>
            <a:pPr algn="ctr"/>
            <a:r>
              <a:rPr sz="1250" b="1">
                <a:solidFill>
                  <a:srgbClr val="1A1410"/>
                </a:solidFill>
                <a:latin typeface="Avenir Next"/>
              </a:rPr>
              <a:t>Supabase Realtime</a:t>
            </a:r>
          </a:p>
          <a:p>
            <a:pPr algn="ctr">
              <a:spcBef>
                <a:spcPts val="200"/>
              </a:spcBef>
            </a:pPr>
            <a:r>
              <a:rPr sz="850" b="0">
                <a:solidFill>
                  <a:srgbClr val="6B6058"/>
                </a:solidFill>
                <a:latin typeface="Menlo"/>
              </a:rPr>
              <a:t>call_events stream</a:t>
            </a:r>
          </a:p>
        </p:txBody>
      </p:sp>
      <p:sp>
        <p:nvSpPr>
          <p:cNvPr id="12" name="Rounded Rectangle 11"/>
          <p:cNvSpPr/>
          <p:nvPr/>
        </p:nvSpPr>
        <p:spPr>
          <a:xfrm>
            <a:off x="3291840" y="3931920"/>
            <a:ext cx="2240280" cy="914400"/>
          </a:xfrm>
          <a:prstGeom prst="roundRect">
            <a:avLst>
              <a:gd name="adj" fmla="val 16000"/>
            </a:avLst>
          </a:prstGeom>
          <a:solidFill>
            <a:srgbClr val="EEF0F6"/>
          </a:solidFill>
          <a:ln w="9525">
            <a:solidFill>
              <a:srgbClr val="E8DDD3"/>
            </a:solidFill>
          </a:ln>
          <a:effectLst/>
        </p:spPr>
        <p:txBody>
          <a:bodyPr rtlCol="0" anchor="ctr" wrap="square" lIns="109728" rIns="109728"/>
          <a:lstStyle/>
          <a:p>
            <a:pPr algn="ctr"/>
            <a:r>
              <a:rPr sz="1250" b="1">
                <a:solidFill>
                  <a:srgbClr val="1A1410"/>
                </a:solidFill>
                <a:latin typeface="Avenir Next"/>
              </a:rPr>
              <a:t>Live War Room</a:t>
            </a:r>
          </a:p>
          <a:p>
            <a:pPr algn="ctr">
              <a:spcBef>
                <a:spcPts val="200"/>
              </a:spcBef>
            </a:pPr>
            <a:r>
              <a:rPr sz="850" b="0">
                <a:solidFill>
                  <a:srgbClr val="6B6058"/>
                </a:solidFill>
                <a:latin typeface="Menlo"/>
              </a:rPr>
              <a:t>spectator view</a:t>
            </a:r>
          </a:p>
        </p:txBody>
      </p:sp>
      <p:sp>
        <p:nvSpPr>
          <p:cNvPr id="13" name="Rounded Rectangle 12"/>
          <p:cNvSpPr/>
          <p:nvPr/>
        </p:nvSpPr>
        <p:spPr>
          <a:xfrm>
            <a:off x="640080" y="3931920"/>
            <a:ext cx="2286000" cy="914400"/>
          </a:xfrm>
          <a:prstGeom prst="roundRect">
            <a:avLst>
              <a:gd name="adj" fmla="val 16000"/>
            </a:avLst>
          </a:prstGeom>
          <a:solidFill>
            <a:srgbClr val="FCE3D8"/>
          </a:solidFill>
          <a:ln w="9525">
            <a:solidFill>
              <a:srgbClr val="E8DDD3"/>
            </a:solidFill>
          </a:ln>
          <a:effectLst/>
        </p:spPr>
        <p:txBody>
          <a:bodyPr rtlCol="0" anchor="ctr" wrap="square" lIns="109728" rIns="109728"/>
          <a:lstStyle/>
          <a:p>
            <a:pPr algn="ctr"/>
            <a:r>
              <a:rPr sz="1250" b="1">
                <a:solidFill>
                  <a:srgbClr val="1A1410"/>
                </a:solidFill>
                <a:latin typeface="Avenir Next"/>
              </a:rPr>
              <a:t>Ranked evidence report</a:t>
            </a:r>
          </a:p>
          <a:p>
            <a:pPr algn="ctr">
              <a:spcBef>
                <a:spcPts val="200"/>
              </a:spcBef>
            </a:pPr>
            <a:r>
              <a:rPr sz="850" b="0">
                <a:solidFill>
                  <a:srgbClr val="6B6058"/>
                </a:solidFill>
                <a:latin typeface="Menlo"/>
              </a:rPr>
              <a:t>best outcome first</a:t>
            </a:r>
          </a:p>
        </p:txBody>
      </p:sp>
      <p:cxnSp>
        <p:nvCxnSpPr>
          <p:cNvPr id="14" name="Connector 13"/>
          <p:cNvCxnSpPr/>
          <p:nvPr/>
        </p:nvCxnSpPr>
        <p:spPr>
          <a:xfrm>
            <a:off x="2926080" y="2212848"/>
            <a:ext cx="365760" cy="393192"/>
          </a:xfrm>
          <a:prstGeom prst="line">
            <a:avLst/>
          </a:prstGeom>
          <a:ln w="13970">
            <a:solidFill>
              <a:srgbClr val="6B6058"/>
            </a:solidFill>
            <a:tailEnd type="triangle" w="med" len="med"/>
          </a:ln>
          <a:effectLst/>
        </p:spPr>
      </p:cxnSp>
      <p:cxnSp>
        <p:nvCxnSpPr>
          <p:cNvPr id="15" name="Connector 14"/>
          <p:cNvCxnSpPr/>
          <p:nvPr/>
        </p:nvCxnSpPr>
        <p:spPr>
          <a:xfrm flipV="1">
            <a:off x="2926080" y="2971800"/>
            <a:ext cx="365760" cy="338328"/>
          </a:xfrm>
          <a:prstGeom prst="line">
            <a:avLst/>
          </a:prstGeom>
          <a:ln w="13970">
            <a:solidFill>
              <a:srgbClr val="6B6058"/>
            </a:solidFill>
            <a:tailEnd type="triangle" w="med" len="med"/>
          </a:ln>
          <a:effectLst/>
        </p:spPr>
      </p:cxnSp>
      <p:cxnSp>
        <p:nvCxnSpPr>
          <p:cNvPr id="16" name="Connector 15"/>
          <p:cNvCxnSpPr/>
          <p:nvPr/>
        </p:nvCxnSpPr>
        <p:spPr>
          <a:xfrm>
            <a:off x="5532120" y="2788920"/>
            <a:ext cx="365760" cy="0"/>
          </a:xfrm>
          <a:prstGeom prst="line">
            <a:avLst/>
          </a:prstGeom>
          <a:ln w="13970">
            <a:solidFill>
              <a:srgbClr val="6B6058"/>
            </a:solidFill>
            <a:tailEnd type="triangle" w="med" len="med"/>
          </a:ln>
          <a:effectLst/>
        </p:spPr>
      </p:cxnSp>
      <p:sp>
        <p:nvSpPr>
          <p:cNvPr id="17" name="TextBox 16"/>
          <p:cNvSpPr txBox="1"/>
          <p:nvPr/>
        </p:nvSpPr>
        <p:spPr>
          <a:xfrm>
            <a:off x="5349240" y="2331720"/>
            <a:ext cx="2011680" cy="219456"/>
          </a:xfrm>
          <a:prstGeom prst="rect">
            <a:avLst/>
          </a:prstGeom>
          <a:noFill/>
        </p:spPr>
        <p:txBody>
          <a:bodyPr wrap="square" anchor="t" lIns="0" rIns="0" tIns="0" bIns="0">
            <a:spAutoFit/>
          </a:bodyPr>
          <a:lstStyle/>
          <a:p>
            <a:pPr algn="ctr"/>
            <a:r>
              <a:rPr sz="850" b="0">
                <a:solidFill>
                  <a:srgbClr val="6B6058"/>
                </a:solidFill>
                <a:latin typeface="Menlo"/>
              </a:rPr>
              <a:t>dial out</a:t>
            </a:r>
          </a:p>
        </p:txBody>
      </p:sp>
      <p:cxnSp>
        <p:nvCxnSpPr>
          <p:cNvPr id="18" name="Connector 17"/>
          <p:cNvCxnSpPr/>
          <p:nvPr/>
        </p:nvCxnSpPr>
        <p:spPr>
          <a:xfrm>
            <a:off x="8275320" y="2788920"/>
            <a:ext cx="411480" cy="0"/>
          </a:xfrm>
          <a:prstGeom prst="line">
            <a:avLst/>
          </a:prstGeom>
          <a:ln w="13970">
            <a:solidFill>
              <a:srgbClr val="6B6058"/>
            </a:solidFill>
            <a:tailEnd type="triangle" w="med" len="med"/>
          </a:ln>
          <a:effectLst/>
        </p:spPr>
      </p:cxnSp>
      <p:cxnSp>
        <p:nvCxnSpPr>
          <p:cNvPr id="19" name="Connector 18"/>
          <p:cNvCxnSpPr/>
          <p:nvPr/>
        </p:nvCxnSpPr>
        <p:spPr>
          <a:xfrm>
            <a:off x="10076688" y="3246120"/>
            <a:ext cx="0" cy="685800"/>
          </a:xfrm>
          <a:prstGeom prst="line">
            <a:avLst/>
          </a:prstGeom>
          <a:ln w="13970">
            <a:solidFill>
              <a:srgbClr val="6B6058"/>
            </a:solidFill>
            <a:tailEnd type="triangle" w="med" len="med"/>
            <a:headEnd type="triangle" w="med" len="med"/>
          </a:ln>
          <a:effectLst/>
        </p:spPr>
      </p:cxnSp>
      <p:sp>
        <p:nvSpPr>
          <p:cNvPr id="20" name="TextBox 19"/>
          <p:cNvSpPr txBox="1"/>
          <p:nvPr/>
        </p:nvSpPr>
        <p:spPr>
          <a:xfrm>
            <a:off x="10195560" y="3401568"/>
            <a:ext cx="2011680" cy="219456"/>
          </a:xfrm>
          <a:prstGeom prst="rect">
            <a:avLst/>
          </a:prstGeom>
          <a:noFill/>
        </p:spPr>
        <p:txBody>
          <a:bodyPr wrap="square" anchor="t" lIns="0" rIns="0" tIns="0" bIns="0">
            <a:spAutoFit/>
          </a:bodyPr>
          <a:lstStyle/>
          <a:p>
            <a:pPr algn="ctr"/>
            <a:r>
              <a:rPr sz="850" b="0">
                <a:solidFill>
                  <a:srgbClr val="6B6058"/>
                </a:solidFill>
                <a:latin typeface="Menlo"/>
              </a:rPr>
              <a:t>tool loop</a:t>
            </a:r>
          </a:p>
        </p:txBody>
      </p:sp>
      <p:cxnSp>
        <p:nvCxnSpPr>
          <p:cNvPr id="21" name="Connector 20"/>
          <p:cNvCxnSpPr/>
          <p:nvPr/>
        </p:nvCxnSpPr>
        <p:spPr>
          <a:xfrm flipH="1">
            <a:off x="8275320" y="4389120"/>
            <a:ext cx="411480" cy="0"/>
          </a:xfrm>
          <a:prstGeom prst="line">
            <a:avLst/>
          </a:prstGeom>
          <a:ln w="13970">
            <a:solidFill>
              <a:srgbClr val="6B6058"/>
            </a:solidFill>
            <a:tailEnd type="triangle" w="med" len="med"/>
          </a:ln>
          <a:effectLst/>
        </p:spPr>
      </p:cxnSp>
      <p:sp>
        <p:nvSpPr>
          <p:cNvPr id="22" name="TextBox 21"/>
          <p:cNvSpPr txBox="1"/>
          <p:nvPr/>
        </p:nvSpPr>
        <p:spPr>
          <a:xfrm>
            <a:off x="8138160" y="4590288"/>
            <a:ext cx="2011680" cy="219456"/>
          </a:xfrm>
          <a:prstGeom prst="rect">
            <a:avLst/>
          </a:prstGeom>
          <a:noFill/>
        </p:spPr>
        <p:txBody>
          <a:bodyPr wrap="square" anchor="t" lIns="0" rIns="0" tIns="0" bIns="0">
            <a:spAutoFit/>
          </a:bodyPr>
          <a:lstStyle/>
          <a:p>
            <a:pPr algn="ctr"/>
            <a:r>
              <a:rPr sz="850" b="0">
                <a:solidFill>
                  <a:srgbClr val="6B6058"/>
                </a:solidFill>
                <a:latin typeface="Menlo"/>
              </a:rPr>
              <a:t>next move</a:t>
            </a:r>
          </a:p>
        </p:txBody>
      </p:sp>
      <p:cxnSp>
        <p:nvCxnSpPr>
          <p:cNvPr id="23" name="Connector 22"/>
          <p:cNvCxnSpPr/>
          <p:nvPr/>
        </p:nvCxnSpPr>
        <p:spPr>
          <a:xfrm flipH="1">
            <a:off x="5532120" y="4389120"/>
            <a:ext cx="365760" cy="0"/>
          </a:xfrm>
          <a:prstGeom prst="line">
            <a:avLst/>
          </a:prstGeom>
          <a:ln w="13970">
            <a:solidFill>
              <a:srgbClr val="6B6058"/>
            </a:solidFill>
            <a:tailEnd type="triangle" w="med" len="med"/>
          </a:ln>
          <a:effectLst/>
        </p:spPr>
      </p:cxnSp>
      <p:cxnSp>
        <p:nvCxnSpPr>
          <p:cNvPr id="24" name="Connector 23"/>
          <p:cNvCxnSpPr/>
          <p:nvPr/>
        </p:nvCxnSpPr>
        <p:spPr>
          <a:xfrm flipH="1">
            <a:off x="2926080" y="4389120"/>
            <a:ext cx="365760" cy="0"/>
          </a:xfrm>
          <a:prstGeom prst="line">
            <a:avLst/>
          </a:prstGeom>
          <a:ln w="13970">
            <a:solidFill>
              <a:srgbClr val="6B6058"/>
            </a:solidFill>
            <a:tailEnd type="triangle" w="med" len="med"/>
          </a:ln>
          <a:effectLst/>
        </p:spPr>
      </p:cxnSp>
      <p:sp>
        <p:nvSpPr>
          <p:cNvPr id="25" name="TextBox 24"/>
          <p:cNvSpPr txBox="1"/>
          <p:nvPr/>
        </p:nvSpPr>
        <p:spPr>
          <a:xfrm>
            <a:off x="822960" y="5440680"/>
            <a:ext cx="10607040" cy="365760"/>
          </a:xfrm>
          <a:prstGeom prst="rect">
            <a:avLst/>
          </a:prstGeom>
          <a:noFill/>
        </p:spPr>
        <p:txBody>
          <a:bodyPr wrap="square" anchor="t" lIns="0" rIns="0" tIns="0" bIns="0">
            <a:spAutoFit/>
          </a:bodyPr>
          <a:lstStyle/>
          <a:p>
            <a:pPr algn="ctr"/>
            <a:r>
              <a:rPr sz="1100" b="1" spc="140">
                <a:solidFill>
                  <a:srgbClr val="6B6058"/>
                </a:solidFill>
                <a:latin typeface="Avenir Next"/>
              </a:rPr>
              <a:t>LIVE AT HAGGLFOR.ME  ·  REAL MGH PRICE FILE, 159K ROWS  ·  69 TESTS GREEN  ·  REAL PSTN CALLS PLACED</a:t>
            </a:r>
          </a:p>
        </p:txBody>
      </p:sp>
      <p:cxnSp>
        <p:nvCxnSpPr>
          <p:cNvPr id="26" name="Connector 25"/>
          <p:cNvCxnSpPr/>
          <p:nvPr/>
        </p:nvCxnSpPr>
        <p:spPr>
          <a:xfrm>
            <a:off x="822960" y="5303520"/>
            <a:ext cx="10561320" cy="0"/>
          </a:xfrm>
          <a:prstGeom prst="line">
            <a:avLst/>
          </a:prstGeom>
          <a:ln w="12700">
            <a:solidFill>
              <a:srgbClr val="E8DDD3"/>
            </a:solidFill>
          </a:ln>
          <a:effectLst/>
        </p:spPr>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822960" y="548640"/>
            <a:ext cx="9144000" cy="274320"/>
          </a:xfrm>
          <a:prstGeom prst="rect">
            <a:avLst/>
          </a:prstGeom>
          <a:noFill/>
        </p:spPr>
        <p:txBody>
          <a:bodyPr wrap="square" anchor="t" lIns="0" rIns="0" tIns="0" bIns="0">
            <a:spAutoFit/>
          </a:bodyPr>
          <a:lstStyle/>
          <a:p>
            <a:pPr algn="l"/>
            <a:r>
              <a:rPr sz="1100" b="1" spc="220">
                <a:solidFill>
                  <a:srgbClr val="6B6058"/>
                </a:solidFill>
                <a:latin typeface="Avenir Next"/>
              </a:rPr>
              <a:t>THE LEVERAGE</a:t>
            </a:r>
          </a:p>
        </p:txBody>
      </p:sp>
      <p:sp>
        <p:nvSpPr>
          <p:cNvPr id="4" name="TextBox 3"/>
          <p:cNvSpPr txBox="1"/>
          <p:nvPr/>
        </p:nvSpPr>
        <p:spPr>
          <a:xfrm>
            <a:off x="822960" y="896112"/>
            <a:ext cx="10515600" cy="1207008"/>
          </a:xfrm>
          <a:prstGeom prst="rect">
            <a:avLst/>
          </a:prstGeom>
          <a:noFill/>
        </p:spPr>
        <p:txBody>
          <a:bodyPr wrap="square" anchor="t" lIns="0" rIns="0" tIns="0" bIns="0">
            <a:spAutoFit/>
          </a:bodyPr>
          <a:lstStyle/>
          <a:p>
            <a:pPr algn="l">
              <a:lnSpc>
                <a:spcPct val="102000"/>
              </a:lnSpc>
            </a:pPr>
            <a:r>
              <a:rPr sz="3400" b="1">
                <a:solidFill>
                  <a:srgbClr val="1A1410"/>
                </a:solidFill>
                <a:latin typeface="Avenir Next"/>
              </a:rPr>
              <a:t>The leverage is the hospital's own data.</a:t>
            </a:r>
          </a:p>
        </p:txBody>
      </p:sp>
      <p:sp>
        <p:nvSpPr>
          <p:cNvPr id="5" name="TextBox 4"/>
          <p:cNvSpPr txBox="1"/>
          <p:nvPr/>
        </p:nvSpPr>
        <p:spPr>
          <a:xfrm>
            <a:off x="822960" y="2103120"/>
            <a:ext cx="4754880" cy="274320"/>
          </a:xfrm>
          <a:prstGeom prst="rect">
            <a:avLst/>
          </a:prstGeom>
          <a:noFill/>
        </p:spPr>
        <p:txBody>
          <a:bodyPr wrap="square" anchor="t" lIns="0" rIns="0" tIns="0" bIns="0">
            <a:spAutoFit/>
          </a:bodyPr>
          <a:lstStyle/>
          <a:p>
            <a:pPr algn="l"/>
            <a:r>
              <a:rPr sz="1050" b="1" spc="180">
                <a:solidFill>
                  <a:srgbClr val="6B6058"/>
                </a:solidFill>
                <a:latin typeface="Avenir Next"/>
              </a:rPr>
              <a:t>THREE LEVERS, IN ORDER</a:t>
            </a:r>
          </a:p>
        </p:txBody>
      </p:sp>
      <p:sp>
        <p:nvSpPr>
          <p:cNvPr id="6" name="Rounded Rectangle 5"/>
          <p:cNvSpPr/>
          <p:nvPr/>
        </p:nvSpPr>
        <p:spPr>
          <a:xfrm>
            <a:off x="822960" y="2468880"/>
            <a:ext cx="4754880" cy="914400"/>
          </a:xfrm>
          <a:prstGeom prst="roundRect">
            <a:avLst>
              <a:gd name="adj" fmla="val 14000"/>
            </a:avLst>
          </a:prstGeom>
          <a:solidFill>
            <a:srgbClr val="FCE3D8"/>
          </a:solidFill>
          <a:ln w="9525">
            <a:solidFill>
              <a:srgbClr val="E8DDD3"/>
            </a:solidFill>
          </a:ln>
          <a:effectLst/>
        </p:spPr>
        <p:txBody>
          <a:bodyPr rtlCol="0" anchor="ctr"/>
          <a:lstStyle/>
          <a:p>
            <a:pPr algn="ctr"/>
          </a:p>
        </p:txBody>
      </p:sp>
      <p:sp>
        <p:nvSpPr>
          <p:cNvPr id="7" name="TextBox 6"/>
          <p:cNvSpPr txBox="1"/>
          <p:nvPr/>
        </p:nvSpPr>
        <p:spPr>
          <a:xfrm>
            <a:off x="1051560" y="2578608"/>
            <a:ext cx="4389120" cy="365760"/>
          </a:xfrm>
          <a:prstGeom prst="rect">
            <a:avLst/>
          </a:prstGeom>
          <a:noFill/>
        </p:spPr>
        <p:txBody>
          <a:bodyPr wrap="square" anchor="t" lIns="0" rIns="0" tIns="0" bIns="0">
            <a:spAutoFit/>
          </a:bodyPr>
          <a:lstStyle/>
          <a:p>
            <a:pPr algn="l"/>
            <a:r>
              <a:rPr sz="1500" b="1">
                <a:solidFill>
                  <a:srgbClr val="1A1410"/>
                </a:solidFill>
                <a:latin typeface="Avenir Next"/>
              </a:rPr>
              <a:t>Billing errors</a:t>
            </a:r>
          </a:p>
        </p:txBody>
      </p:sp>
      <p:sp>
        <p:nvSpPr>
          <p:cNvPr id="8" name="TextBox 7"/>
          <p:cNvSpPr txBox="1"/>
          <p:nvPr/>
        </p:nvSpPr>
        <p:spPr>
          <a:xfrm>
            <a:off x="1051560" y="2944368"/>
            <a:ext cx="4389120" cy="365760"/>
          </a:xfrm>
          <a:prstGeom prst="rect">
            <a:avLst/>
          </a:prstGeom>
          <a:noFill/>
        </p:spPr>
        <p:txBody>
          <a:bodyPr wrap="square" anchor="t" lIns="0" rIns="0" tIns="0" bIns="0">
            <a:spAutoFit/>
          </a:bodyPr>
          <a:lstStyle/>
          <a:p>
            <a:pPr algn="l"/>
            <a:r>
              <a:rPr sz="1050" b="0">
                <a:solidFill>
                  <a:srgbClr val="6B6058"/>
                </a:solidFill>
                <a:latin typeface="Avenir Next"/>
              </a:rPr>
              <a:t>duplicate · upcode · unbundle, found in the itemized bill</a:t>
            </a:r>
          </a:p>
        </p:txBody>
      </p:sp>
      <p:cxnSp>
        <p:nvCxnSpPr>
          <p:cNvPr id="9" name="Connector 8"/>
          <p:cNvCxnSpPr/>
          <p:nvPr/>
        </p:nvCxnSpPr>
        <p:spPr>
          <a:xfrm>
            <a:off x="3200400" y="3383280"/>
            <a:ext cx="0" cy="201168"/>
          </a:xfrm>
          <a:prstGeom prst="line">
            <a:avLst/>
          </a:prstGeom>
          <a:ln w="15240">
            <a:solidFill>
              <a:srgbClr val="6B6058"/>
            </a:solidFill>
            <a:tailEnd type="triangle" w="med" len="med"/>
          </a:ln>
          <a:effectLst/>
        </p:spPr>
      </p:cxnSp>
      <p:sp>
        <p:nvSpPr>
          <p:cNvPr id="10" name="Rounded Rectangle 9"/>
          <p:cNvSpPr/>
          <p:nvPr/>
        </p:nvSpPr>
        <p:spPr>
          <a:xfrm>
            <a:off x="822960" y="3584448"/>
            <a:ext cx="4754880" cy="914400"/>
          </a:xfrm>
          <a:prstGeom prst="roundRect">
            <a:avLst>
              <a:gd name="adj" fmla="val 14000"/>
            </a:avLst>
          </a:prstGeom>
          <a:solidFill>
            <a:srgbClr val="F6E7CC"/>
          </a:solidFill>
          <a:ln w="9525">
            <a:solidFill>
              <a:srgbClr val="E8DDD3"/>
            </a:solidFill>
          </a:ln>
          <a:effectLst/>
        </p:spPr>
        <p:txBody>
          <a:bodyPr rtlCol="0" anchor="ctr"/>
          <a:lstStyle/>
          <a:p>
            <a:pPr algn="ctr"/>
          </a:p>
        </p:txBody>
      </p:sp>
      <p:sp>
        <p:nvSpPr>
          <p:cNvPr id="11" name="TextBox 10"/>
          <p:cNvSpPr txBox="1"/>
          <p:nvPr/>
        </p:nvSpPr>
        <p:spPr>
          <a:xfrm>
            <a:off x="1051560" y="3694176"/>
            <a:ext cx="4389120" cy="365760"/>
          </a:xfrm>
          <a:prstGeom prst="rect">
            <a:avLst/>
          </a:prstGeom>
          <a:noFill/>
        </p:spPr>
        <p:txBody>
          <a:bodyPr wrap="square" anchor="t" lIns="0" rIns="0" tIns="0" bIns="0">
            <a:spAutoFit/>
          </a:bodyPr>
          <a:lstStyle/>
          <a:p>
            <a:pPr algn="l"/>
            <a:r>
              <a:rPr sz="1500" b="1">
                <a:solidFill>
                  <a:srgbClr val="1A1410"/>
                </a:solidFill>
                <a:latin typeface="Avenir Next"/>
              </a:rPr>
              <a:t>Statutory</a:t>
            </a:r>
          </a:p>
        </p:txBody>
      </p:sp>
      <p:sp>
        <p:nvSpPr>
          <p:cNvPr id="12" name="TextBox 11"/>
          <p:cNvSpPr txBox="1"/>
          <p:nvPr/>
        </p:nvSpPr>
        <p:spPr>
          <a:xfrm>
            <a:off x="1051560" y="4059935"/>
            <a:ext cx="4389120" cy="365760"/>
          </a:xfrm>
          <a:prstGeom prst="rect">
            <a:avLst/>
          </a:prstGeom>
          <a:noFill/>
        </p:spPr>
        <p:txBody>
          <a:bodyPr wrap="square" anchor="t" lIns="0" rIns="0" tIns="0" bIns="0">
            <a:spAutoFit/>
          </a:bodyPr>
          <a:lstStyle/>
          <a:p>
            <a:pPr algn="l"/>
            <a:r>
              <a:rPr sz="1050" b="0">
                <a:solidFill>
                  <a:srgbClr val="6B6058"/>
                </a:solidFill>
                <a:latin typeface="Avenir Next"/>
              </a:rPr>
              <a:t>No Surprises Act · §501(r) charity care for nonprofits</a:t>
            </a:r>
          </a:p>
        </p:txBody>
      </p:sp>
      <p:cxnSp>
        <p:nvCxnSpPr>
          <p:cNvPr id="13" name="Connector 12"/>
          <p:cNvCxnSpPr/>
          <p:nvPr/>
        </p:nvCxnSpPr>
        <p:spPr>
          <a:xfrm>
            <a:off x="3200400" y="4498848"/>
            <a:ext cx="0" cy="201168"/>
          </a:xfrm>
          <a:prstGeom prst="line">
            <a:avLst/>
          </a:prstGeom>
          <a:ln w="15240">
            <a:solidFill>
              <a:srgbClr val="6B6058"/>
            </a:solidFill>
            <a:tailEnd type="triangle" w="med" len="med"/>
          </a:ln>
          <a:effectLst/>
        </p:spPr>
      </p:cxnSp>
      <p:sp>
        <p:nvSpPr>
          <p:cNvPr id="14" name="Rounded Rectangle 13"/>
          <p:cNvSpPr/>
          <p:nvPr/>
        </p:nvSpPr>
        <p:spPr>
          <a:xfrm>
            <a:off x="822960" y="4700016"/>
            <a:ext cx="4754880" cy="914400"/>
          </a:xfrm>
          <a:prstGeom prst="roundRect">
            <a:avLst>
              <a:gd name="adj" fmla="val 14000"/>
            </a:avLst>
          </a:prstGeom>
          <a:solidFill>
            <a:srgbClr val="EDF2EC"/>
          </a:solidFill>
          <a:ln w="9525">
            <a:solidFill>
              <a:srgbClr val="E8DDD3"/>
            </a:solidFill>
          </a:ln>
          <a:effectLst/>
        </p:spPr>
        <p:txBody>
          <a:bodyPr rtlCol="0" anchor="ctr"/>
          <a:lstStyle/>
          <a:p>
            <a:pPr algn="ctr"/>
          </a:p>
        </p:txBody>
      </p:sp>
      <p:sp>
        <p:nvSpPr>
          <p:cNvPr id="15" name="TextBox 14"/>
          <p:cNvSpPr txBox="1"/>
          <p:nvPr/>
        </p:nvSpPr>
        <p:spPr>
          <a:xfrm>
            <a:off x="1051560" y="4809744"/>
            <a:ext cx="4389120" cy="365760"/>
          </a:xfrm>
          <a:prstGeom prst="rect">
            <a:avLst/>
          </a:prstGeom>
          <a:noFill/>
        </p:spPr>
        <p:txBody>
          <a:bodyPr wrap="square" anchor="t" lIns="0" rIns="0" tIns="0" bIns="0">
            <a:spAutoFit/>
          </a:bodyPr>
          <a:lstStyle/>
          <a:p>
            <a:pPr algn="l"/>
            <a:r>
              <a:rPr sz="1500" b="1">
                <a:solidFill>
                  <a:srgbClr val="1A1410"/>
                </a:solidFill>
                <a:latin typeface="Avenir Next"/>
              </a:rPr>
              <a:t>Benchmarks</a:t>
            </a:r>
          </a:p>
        </p:txBody>
      </p:sp>
      <p:sp>
        <p:nvSpPr>
          <p:cNvPr id="16" name="TextBox 15"/>
          <p:cNvSpPr txBox="1"/>
          <p:nvPr/>
        </p:nvSpPr>
        <p:spPr>
          <a:xfrm>
            <a:off x="1051560" y="5175504"/>
            <a:ext cx="4389120" cy="365760"/>
          </a:xfrm>
          <a:prstGeom prst="rect">
            <a:avLst/>
          </a:prstGeom>
          <a:noFill/>
        </p:spPr>
        <p:txBody>
          <a:bodyPr wrap="square" anchor="t" lIns="0" rIns="0" tIns="0" bIns="0">
            <a:spAutoFit/>
          </a:bodyPr>
          <a:lstStyle/>
          <a:p>
            <a:pPr algn="l"/>
            <a:r>
              <a:rPr sz="1050" b="0">
                <a:solidFill>
                  <a:srgbClr val="6B6058"/>
                </a:solidFill>
                <a:latin typeface="Avenir Next"/>
              </a:rPr>
              <a:t>Medicare plus the hospital's own posted price file</a:t>
            </a:r>
          </a:p>
        </p:txBody>
      </p:sp>
      <p:sp>
        <p:nvSpPr>
          <p:cNvPr id="17" name="TextBox 16"/>
          <p:cNvSpPr txBox="1"/>
          <p:nvPr/>
        </p:nvSpPr>
        <p:spPr>
          <a:xfrm>
            <a:off x="6172200" y="2103120"/>
            <a:ext cx="5120640" cy="274320"/>
          </a:xfrm>
          <a:prstGeom prst="rect">
            <a:avLst/>
          </a:prstGeom>
          <a:noFill/>
        </p:spPr>
        <p:txBody>
          <a:bodyPr wrap="square" anchor="t" lIns="0" rIns="0" tIns="0" bIns="0">
            <a:spAutoFit/>
          </a:bodyPr>
          <a:lstStyle/>
          <a:p>
            <a:pPr algn="l"/>
            <a:r>
              <a:rPr sz="1050" b="1" spc="160">
                <a:solidFill>
                  <a:srgbClr val="6B6058"/>
                </a:solidFill>
                <a:latin typeface="Avenir Next"/>
              </a:rPr>
              <a:t>WHAT THE SAME CARE ACTUALLY COSTS</a:t>
            </a:r>
          </a:p>
        </p:txBody>
      </p:sp>
      <p:sp>
        <p:nvSpPr>
          <p:cNvPr id="18" name="TextBox 17"/>
          <p:cNvSpPr txBox="1"/>
          <p:nvPr/>
        </p:nvSpPr>
        <p:spPr>
          <a:xfrm>
            <a:off x="6172200" y="2487168"/>
            <a:ext cx="5120640" cy="457200"/>
          </a:xfrm>
          <a:prstGeom prst="rect">
            <a:avLst/>
          </a:prstGeom>
          <a:noFill/>
        </p:spPr>
        <p:txBody>
          <a:bodyPr wrap="square" anchor="ctr" lIns="0" rIns="0" tIns="0" bIns="0">
            <a:spAutoFit/>
          </a:bodyPr>
          <a:lstStyle/>
          <a:p>
            <a:pPr algn="l"/>
            <a:r>
              <a:rPr sz="1500" b="0">
                <a:solidFill>
                  <a:srgbClr val="6B6058"/>
                </a:solidFill>
                <a:latin typeface="Avenir Next"/>
              </a:rPr>
              <a:t>Medicare pays  </a:t>
            </a:r>
            <a:r>
              <a:rPr sz="2600" b="1">
                <a:solidFill>
                  <a:srgbClr val="1A1410"/>
                </a:solidFill>
                <a:latin typeface="Menlo"/>
              </a:rPr>
              <a:t>$438</a:t>
            </a:r>
          </a:p>
        </p:txBody>
      </p:sp>
      <p:cxnSp>
        <p:nvCxnSpPr>
          <p:cNvPr id="19" name="Connector 18"/>
          <p:cNvCxnSpPr/>
          <p:nvPr/>
        </p:nvCxnSpPr>
        <p:spPr>
          <a:xfrm>
            <a:off x="6172200" y="3154680"/>
            <a:ext cx="201168" cy="0"/>
          </a:xfrm>
          <a:prstGeom prst="line">
            <a:avLst/>
          </a:prstGeom>
          <a:ln w="17780">
            <a:solidFill>
              <a:srgbClr val="1A1410"/>
            </a:solidFill>
          </a:ln>
          <a:effectLst/>
        </p:spPr>
      </p:cxnSp>
      <p:cxnSp>
        <p:nvCxnSpPr>
          <p:cNvPr id="20" name="Connector 19"/>
          <p:cNvCxnSpPr/>
          <p:nvPr/>
        </p:nvCxnSpPr>
        <p:spPr>
          <a:xfrm>
            <a:off x="6172200" y="3154680"/>
            <a:ext cx="0" cy="201168"/>
          </a:xfrm>
          <a:prstGeom prst="line">
            <a:avLst/>
          </a:prstGeom>
          <a:ln w="17780">
            <a:solidFill>
              <a:srgbClr val="1A1410"/>
            </a:solidFill>
          </a:ln>
          <a:effectLst/>
        </p:spPr>
      </p:cxnSp>
      <p:cxnSp>
        <p:nvCxnSpPr>
          <p:cNvPr id="21" name="Connector 20"/>
          <p:cNvCxnSpPr/>
          <p:nvPr/>
        </p:nvCxnSpPr>
        <p:spPr>
          <a:xfrm>
            <a:off x="11183111" y="3154680"/>
            <a:ext cx="201169" cy="0"/>
          </a:xfrm>
          <a:prstGeom prst="line">
            <a:avLst/>
          </a:prstGeom>
          <a:ln w="17780">
            <a:solidFill>
              <a:srgbClr val="1A1410"/>
            </a:solidFill>
          </a:ln>
          <a:effectLst/>
        </p:spPr>
      </p:cxnSp>
      <p:cxnSp>
        <p:nvCxnSpPr>
          <p:cNvPr id="22" name="Connector 21"/>
          <p:cNvCxnSpPr/>
          <p:nvPr/>
        </p:nvCxnSpPr>
        <p:spPr>
          <a:xfrm>
            <a:off x="11384280" y="3154680"/>
            <a:ext cx="0" cy="201168"/>
          </a:xfrm>
          <a:prstGeom prst="line">
            <a:avLst/>
          </a:prstGeom>
          <a:ln w="17780">
            <a:solidFill>
              <a:srgbClr val="1A1410"/>
            </a:solidFill>
          </a:ln>
          <a:effectLst/>
        </p:spPr>
      </p:cxnSp>
      <p:cxnSp>
        <p:nvCxnSpPr>
          <p:cNvPr id="23" name="Connector 22"/>
          <p:cNvCxnSpPr/>
          <p:nvPr/>
        </p:nvCxnSpPr>
        <p:spPr>
          <a:xfrm>
            <a:off x="6172200" y="4663440"/>
            <a:ext cx="201168" cy="0"/>
          </a:xfrm>
          <a:prstGeom prst="line">
            <a:avLst/>
          </a:prstGeom>
          <a:ln w="17780">
            <a:solidFill>
              <a:srgbClr val="1A1410"/>
            </a:solidFill>
          </a:ln>
          <a:effectLst/>
        </p:spPr>
      </p:cxnSp>
      <p:cxnSp>
        <p:nvCxnSpPr>
          <p:cNvPr id="24" name="Connector 23"/>
          <p:cNvCxnSpPr/>
          <p:nvPr/>
        </p:nvCxnSpPr>
        <p:spPr>
          <a:xfrm>
            <a:off x="6172200" y="4462272"/>
            <a:ext cx="0" cy="201168"/>
          </a:xfrm>
          <a:prstGeom prst="line">
            <a:avLst/>
          </a:prstGeom>
          <a:ln w="17780">
            <a:solidFill>
              <a:srgbClr val="1A1410"/>
            </a:solidFill>
          </a:ln>
          <a:effectLst/>
        </p:spPr>
      </p:cxnSp>
      <p:cxnSp>
        <p:nvCxnSpPr>
          <p:cNvPr id="25" name="Connector 24"/>
          <p:cNvCxnSpPr/>
          <p:nvPr/>
        </p:nvCxnSpPr>
        <p:spPr>
          <a:xfrm>
            <a:off x="11183111" y="4663440"/>
            <a:ext cx="201169" cy="0"/>
          </a:xfrm>
          <a:prstGeom prst="line">
            <a:avLst/>
          </a:prstGeom>
          <a:ln w="17780">
            <a:solidFill>
              <a:srgbClr val="1A1410"/>
            </a:solidFill>
          </a:ln>
          <a:effectLst/>
        </p:spPr>
      </p:cxnSp>
      <p:cxnSp>
        <p:nvCxnSpPr>
          <p:cNvPr id="26" name="Connector 25"/>
          <p:cNvCxnSpPr/>
          <p:nvPr/>
        </p:nvCxnSpPr>
        <p:spPr>
          <a:xfrm>
            <a:off x="11384280" y="4462272"/>
            <a:ext cx="0" cy="201168"/>
          </a:xfrm>
          <a:prstGeom prst="line">
            <a:avLst/>
          </a:prstGeom>
          <a:ln w="17780">
            <a:solidFill>
              <a:srgbClr val="1A1410"/>
            </a:solidFill>
          </a:ln>
          <a:effectLst/>
        </p:spPr>
      </p:cxnSp>
      <p:sp>
        <p:nvSpPr>
          <p:cNvPr id="27" name="TextBox 26"/>
          <p:cNvSpPr txBox="1"/>
          <p:nvPr/>
        </p:nvSpPr>
        <p:spPr>
          <a:xfrm>
            <a:off x="6355080" y="3246120"/>
            <a:ext cx="4937760" cy="274320"/>
          </a:xfrm>
          <a:prstGeom prst="rect">
            <a:avLst/>
          </a:prstGeom>
          <a:noFill/>
        </p:spPr>
        <p:txBody>
          <a:bodyPr wrap="square" anchor="t" lIns="0" rIns="0" tIns="0" bIns="0">
            <a:spAutoFit/>
          </a:bodyPr>
          <a:lstStyle/>
          <a:p>
            <a:pPr algn="l"/>
            <a:r>
              <a:rPr sz="1050" b="1" spc="160">
                <a:solidFill>
                  <a:srgbClr val="EF6B45"/>
                </a:solidFill>
                <a:latin typeface="Avenir Next"/>
              </a:rPr>
              <a:t>THEIR POSTED CASH PRICE</a:t>
            </a:r>
          </a:p>
        </p:txBody>
      </p:sp>
      <p:sp>
        <p:nvSpPr>
          <p:cNvPr id="28" name="TextBox 27"/>
          <p:cNvSpPr txBox="1"/>
          <p:nvPr/>
        </p:nvSpPr>
        <p:spPr>
          <a:xfrm>
            <a:off x="6355080" y="3493008"/>
            <a:ext cx="4937760" cy="1005840"/>
          </a:xfrm>
          <a:prstGeom prst="rect">
            <a:avLst/>
          </a:prstGeom>
          <a:noFill/>
        </p:spPr>
        <p:txBody>
          <a:bodyPr wrap="square" anchor="ctr" lIns="0" rIns="0" tIns="0" bIns="0">
            <a:spAutoFit/>
          </a:bodyPr>
          <a:lstStyle/>
          <a:p>
            <a:pPr algn="l"/>
            <a:r>
              <a:rPr sz="6600" b="1">
                <a:solidFill>
                  <a:srgbClr val="EF6B45"/>
                </a:solidFill>
                <a:latin typeface="Menlo"/>
              </a:rPr>
              <a:t>$2,633.25</a:t>
            </a:r>
          </a:p>
        </p:txBody>
      </p:sp>
      <p:sp>
        <p:nvSpPr>
          <p:cNvPr id="29" name="TextBox 28"/>
          <p:cNvSpPr txBox="1"/>
          <p:nvPr/>
        </p:nvSpPr>
        <p:spPr>
          <a:xfrm>
            <a:off x="6172200" y="4846320"/>
            <a:ext cx="5120640" cy="457200"/>
          </a:xfrm>
          <a:prstGeom prst="rect">
            <a:avLst/>
          </a:prstGeom>
          <a:noFill/>
        </p:spPr>
        <p:txBody>
          <a:bodyPr wrap="square" anchor="ctr" lIns="0" rIns="0" tIns="0" bIns="0">
            <a:spAutoFit/>
          </a:bodyPr>
          <a:lstStyle/>
          <a:p>
            <a:pPr algn="l"/>
            <a:r>
              <a:rPr sz="1500" b="0">
                <a:solidFill>
                  <a:srgbClr val="6B6058"/>
                </a:solidFill>
                <a:latin typeface="Avenir Next"/>
              </a:rPr>
              <a:t>What insurers actually pay  </a:t>
            </a:r>
            <a:r>
              <a:rPr sz="2600" b="1">
                <a:solidFill>
                  <a:srgbClr val="1A1410"/>
                </a:solidFill>
                <a:latin typeface="Menlo"/>
              </a:rPr>
              <a:t>$999.30</a:t>
            </a:r>
          </a:p>
        </p:txBody>
      </p:sp>
      <p:sp>
        <p:nvSpPr>
          <p:cNvPr id="30" name="TextBox 29"/>
          <p:cNvSpPr txBox="1"/>
          <p:nvPr/>
        </p:nvSpPr>
        <p:spPr>
          <a:xfrm>
            <a:off x="6172200" y="5532120"/>
            <a:ext cx="5212080" cy="822960"/>
          </a:xfrm>
          <a:prstGeom prst="rect">
            <a:avLst/>
          </a:prstGeom>
          <a:noFill/>
        </p:spPr>
        <p:txBody>
          <a:bodyPr wrap="square" anchor="t" lIns="0" rIns="0" tIns="0" bIns="0">
            <a:spAutoFit/>
          </a:bodyPr>
          <a:lstStyle/>
          <a:p>
            <a:pPr algn="l">
              <a:lnSpc>
                <a:spcPct val="115000"/>
              </a:lnSpc>
            </a:pPr>
            <a:r>
              <a:rPr sz="1350" b="0">
                <a:solidFill>
                  <a:srgbClr val="6B6058"/>
                </a:solidFill>
                <a:latin typeface="Avenir Next"/>
              </a:rPr>
              <a:t>Their cash price is six times Medicare. Their own insurers pay a quarter of it. We cite both, on the 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822960" y="548640"/>
            <a:ext cx="9144000" cy="274320"/>
          </a:xfrm>
          <a:prstGeom prst="rect">
            <a:avLst/>
          </a:prstGeom>
          <a:noFill/>
        </p:spPr>
        <p:txBody>
          <a:bodyPr wrap="square" anchor="t" lIns="0" rIns="0" tIns="0" bIns="0">
            <a:spAutoFit/>
          </a:bodyPr>
          <a:lstStyle/>
          <a:p>
            <a:pPr algn="l"/>
            <a:r>
              <a:rPr sz="1100" b="1" spc="220">
                <a:solidFill>
                  <a:srgbClr val="6B6058"/>
                </a:solidFill>
                <a:latin typeface="Avenir Next"/>
              </a:rPr>
              <a:t>THE HONESTY BOUNDARY</a:t>
            </a:r>
          </a:p>
        </p:txBody>
      </p:sp>
      <p:sp>
        <p:nvSpPr>
          <p:cNvPr id="4" name="TextBox 3"/>
          <p:cNvSpPr txBox="1"/>
          <p:nvPr/>
        </p:nvSpPr>
        <p:spPr>
          <a:xfrm>
            <a:off x="822960" y="896112"/>
            <a:ext cx="10515600" cy="1207008"/>
          </a:xfrm>
          <a:prstGeom prst="rect">
            <a:avLst/>
          </a:prstGeom>
          <a:noFill/>
        </p:spPr>
        <p:txBody>
          <a:bodyPr wrap="square" anchor="t" lIns="0" rIns="0" tIns="0" bIns="0">
            <a:spAutoFit/>
          </a:bodyPr>
          <a:lstStyle/>
          <a:p>
            <a:pPr algn="l">
              <a:lnSpc>
                <a:spcPct val="102000"/>
              </a:lnSpc>
            </a:pPr>
            <a:r>
              <a:rPr sz="3400" b="1">
                <a:solidFill>
                  <a:srgbClr val="1A1410"/>
                </a:solidFill>
                <a:latin typeface="Avenir Next"/>
              </a:rPr>
              <a:t>The LLM is the mouth, not the brain.</a:t>
            </a:r>
          </a:p>
        </p:txBody>
      </p:sp>
      <p:sp>
        <p:nvSpPr>
          <p:cNvPr id="5" name="Rounded Rectangle 4"/>
          <p:cNvSpPr/>
          <p:nvPr/>
        </p:nvSpPr>
        <p:spPr>
          <a:xfrm>
            <a:off x="822960" y="2148840"/>
            <a:ext cx="5029200" cy="2514600"/>
          </a:xfrm>
          <a:prstGeom prst="roundRect">
            <a:avLst>
              <a:gd name="adj" fmla="val 10000"/>
            </a:avLst>
          </a:prstGeom>
          <a:solidFill>
            <a:srgbClr val="EDF2EC"/>
          </a:solidFill>
          <a:ln w="9525">
            <a:solidFill>
              <a:srgbClr val="E8DDD3"/>
            </a:solidFill>
          </a:ln>
          <a:effectLst/>
        </p:spPr>
        <p:txBody>
          <a:bodyPr rtlCol="0" anchor="ctr"/>
          <a:lstStyle/>
          <a:p>
            <a:pPr algn="ctr"/>
          </a:p>
        </p:txBody>
      </p:sp>
      <p:sp>
        <p:nvSpPr>
          <p:cNvPr id="6" name="TextBox 5"/>
          <p:cNvSpPr txBox="1"/>
          <p:nvPr/>
        </p:nvSpPr>
        <p:spPr>
          <a:xfrm>
            <a:off x="1097280" y="2331720"/>
            <a:ext cx="4480560" cy="274320"/>
          </a:xfrm>
          <a:prstGeom prst="rect">
            <a:avLst/>
          </a:prstGeom>
          <a:noFill/>
        </p:spPr>
        <p:txBody>
          <a:bodyPr wrap="square" anchor="t" lIns="0" rIns="0" tIns="0" bIns="0">
            <a:spAutoFit/>
          </a:bodyPr>
          <a:lstStyle/>
          <a:p>
            <a:pPr algn="l"/>
            <a:r>
              <a:rPr sz="1200" b="1" spc="220">
                <a:solidFill>
                  <a:srgbClr val="1A1410"/>
                </a:solidFill>
                <a:latin typeface="Avenir Next"/>
              </a:rPr>
              <a:t>CODE</a:t>
            </a:r>
          </a:p>
        </p:txBody>
      </p:sp>
      <p:sp>
        <p:nvSpPr>
          <p:cNvPr id="7" name="TextBox 6"/>
          <p:cNvSpPr txBox="1"/>
          <p:nvPr/>
        </p:nvSpPr>
        <p:spPr>
          <a:xfrm>
            <a:off x="1097280" y="2651760"/>
            <a:ext cx="4480560" cy="274320"/>
          </a:xfrm>
          <a:prstGeom prst="rect">
            <a:avLst/>
          </a:prstGeom>
          <a:noFill/>
        </p:spPr>
        <p:txBody>
          <a:bodyPr wrap="square" anchor="t" lIns="0" rIns="0" tIns="0" bIns="0">
            <a:spAutoFit/>
          </a:bodyPr>
          <a:lstStyle/>
          <a:p>
            <a:pPr algn="l"/>
            <a:r>
              <a:rPr sz="1250" b="0">
                <a:solidFill>
                  <a:srgbClr val="6B6058"/>
                </a:solidFill>
                <a:latin typeface="Avenir Next"/>
              </a:rPr>
              <a:t>decides what is true</a:t>
            </a:r>
          </a:p>
        </p:txBody>
      </p:sp>
      <p:sp>
        <p:nvSpPr>
          <p:cNvPr id="8" name="TextBox 7"/>
          <p:cNvSpPr txBox="1"/>
          <p:nvPr/>
        </p:nvSpPr>
        <p:spPr>
          <a:xfrm>
            <a:off x="1097280" y="3063240"/>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Computes every number, threshold, legal claim</a:t>
            </a:r>
          </a:p>
        </p:txBody>
      </p:sp>
      <p:sp>
        <p:nvSpPr>
          <p:cNvPr id="9" name="TextBox 8"/>
          <p:cNvSpPr txBox="1"/>
          <p:nvPr/>
        </p:nvSpPr>
        <p:spPr>
          <a:xfrm>
            <a:off x="1097280" y="3447288"/>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The ladder state machine picks the next move</a:t>
            </a:r>
          </a:p>
        </p:txBody>
      </p:sp>
      <p:sp>
        <p:nvSpPr>
          <p:cNvPr id="10" name="TextBox 9"/>
          <p:cNvSpPr txBox="1"/>
          <p:nvPr/>
        </p:nvSpPr>
        <p:spPr>
          <a:xfrm>
            <a:off x="1097280" y="3831336"/>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Sets the floors and the targets</a:t>
            </a:r>
          </a:p>
        </p:txBody>
      </p:sp>
      <p:sp>
        <p:nvSpPr>
          <p:cNvPr id="11" name="TextBox 10"/>
          <p:cNvSpPr txBox="1"/>
          <p:nvPr/>
        </p:nvSpPr>
        <p:spPr>
          <a:xfrm>
            <a:off x="1097280" y="4215384"/>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Runs the post-call honesty audit</a:t>
            </a:r>
          </a:p>
        </p:txBody>
      </p:sp>
      <p:sp>
        <p:nvSpPr>
          <p:cNvPr id="12" name="Rounded Rectangle 11"/>
          <p:cNvSpPr/>
          <p:nvPr/>
        </p:nvSpPr>
        <p:spPr>
          <a:xfrm>
            <a:off x="6355080" y="2148840"/>
            <a:ext cx="5029200" cy="2514600"/>
          </a:xfrm>
          <a:prstGeom prst="roundRect">
            <a:avLst>
              <a:gd name="adj" fmla="val 10000"/>
            </a:avLst>
          </a:prstGeom>
          <a:solidFill>
            <a:srgbClr val="F6E7CC"/>
          </a:solidFill>
          <a:ln w="9525">
            <a:solidFill>
              <a:srgbClr val="E8DDD3"/>
            </a:solidFill>
          </a:ln>
          <a:effectLst/>
        </p:spPr>
        <p:txBody>
          <a:bodyPr rtlCol="0" anchor="ctr"/>
          <a:lstStyle/>
          <a:p>
            <a:pPr algn="ctr"/>
          </a:p>
        </p:txBody>
      </p:sp>
      <p:sp>
        <p:nvSpPr>
          <p:cNvPr id="13" name="TextBox 12"/>
          <p:cNvSpPr txBox="1"/>
          <p:nvPr/>
        </p:nvSpPr>
        <p:spPr>
          <a:xfrm>
            <a:off x="6629400" y="2331720"/>
            <a:ext cx="4480560" cy="274320"/>
          </a:xfrm>
          <a:prstGeom prst="rect">
            <a:avLst/>
          </a:prstGeom>
          <a:noFill/>
        </p:spPr>
        <p:txBody>
          <a:bodyPr wrap="square" anchor="t" lIns="0" rIns="0" tIns="0" bIns="0">
            <a:spAutoFit/>
          </a:bodyPr>
          <a:lstStyle/>
          <a:p>
            <a:pPr algn="l"/>
            <a:r>
              <a:rPr sz="1200" b="1" spc="220">
                <a:solidFill>
                  <a:srgbClr val="1A1410"/>
                </a:solidFill>
                <a:latin typeface="Avenir Next"/>
              </a:rPr>
              <a:t>LLM</a:t>
            </a:r>
          </a:p>
        </p:txBody>
      </p:sp>
      <p:sp>
        <p:nvSpPr>
          <p:cNvPr id="14" name="TextBox 13"/>
          <p:cNvSpPr txBox="1"/>
          <p:nvPr/>
        </p:nvSpPr>
        <p:spPr>
          <a:xfrm>
            <a:off x="6629400" y="2651760"/>
            <a:ext cx="4480560" cy="274320"/>
          </a:xfrm>
          <a:prstGeom prst="rect">
            <a:avLst/>
          </a:prstGeom>
          <a:noFill/>
        </p:spPr>
        <p:txBody>
          <a:bodyPr wrap="square" anchor="t" lIns="0" rIns="0" tIns="0" bIns="0">
            <a:spAutoFit/>
          </a:bodyPr>
          <a:lstStyle/>
          <a:p>
            <a:pPr algn="l"/>
            <a:r>
              <a:rPr sz="1250" b="0">
                <a:solidFill>
                  <a:srgbClr val="6B6058"/>
                </a:solidFill>
                <a:latin typeface="Avenir Next"/>
              </a:rPr>
              <a:t>decides how to say it</a:t>
            </a:r>
          </a:p>
        </p:txBody>
      </p:sp>
      <p:sp>
        <p:nvSpPr>
          <p:cNvPr id="15" name="TextBox 14"/>
          <p:cNvSpPr txBox="1"/>
          <p:nvPr/>
        </p:nvSpPr>
        <p:spPr>
          <a:xfrm>
            <a:off x="6629400" y="3063240"/>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Listens, speaks, recognizes the moment</a:t>
            </a:r>
          </a:p>
        </p:txBody>
      </p:sp>
      <p:sp>
        <p:nvSpPr>
          <p:cNvPr id="16" name="TextBox 15"/>
          <p:cNvSpPr txBox="1"/>
          <p:nvPr/>
        </p:nvSpPr>
        <p:spPr>
          <a:xfrm>
            <a:off x="6629400" y="3447288"/>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Speaks only tool-served facts</a:t>
            </a:r>
          </a:p>
        </p:txBody>
      </p:sp>
      <p:sp>
        <p:nvSpPr>
          <p:cNvPr id="17" name="TextBox 16"/>
          <p:cNvSpPr txBox="1"/>
          <p:nvPr/>
        </p:nvSpPr>
        <p:spPr>
          <a:xfrm>
            <a:off x="6629400" y="3831336"/>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Chooses the words and the tone</a:t>
            </a:r>
          </a:p>
        </p:txBody>
      </p:sp>
      <p:sp>
        <p:nvSpPr>
          <p:cNvPr id="18" name="TextBox 17"/>
          <p:cNvSpPr txBox="1"/>
          <p:nvPr/>
        </p:nvSpPr>
        <p:spPr>
          <a:xfrm>
            <a:off x="6629400" y="4215384"/>
            <a:ext cx="4572000" cy="365760"/>
          </a:xfrm>
          <a:prstGeom prst="rect">
            <a:avLst/>
          </a:prstGeom>
          <a:noFill/>
        </p:spPr>
        <p:txBody>
          <a:bodyPr wrap="square" anchor="t" lIns="0" rIns="0" tIns="0" bIns="0">
            <a:spAutoFit/>
          </a:bodyPr>
          <a:lstStyle/>
          <a:p>
            <a:pPr algn="l"/>
            <a:r>
              <a:rPr sz="1300" b="1">
                <a:solidFill>
                  <a:srgbClr val="1A1410"/>
                </a:solidFill>
                <a:latin typeface="Avenir Next"/>
              </a:rPr>
              <a:t>· </a:t>
            </a:r>
            <a:r>
              <a:rPr sz="1250" b="0">
                <a:solidFill>
                  <a:srgbClr val="1A1410"/>
                </a:solidFill>
                <a:latin typeface="Avenir Next"/>
              </a:rPr>
              <a:t>Never invents a code, a date, or an amount</a:t>
            </a:r>
          </a:p>
        </p:txBody>
      </p:sp>
      <p:sp>
        <p:nvSpPr>
          <p:cNvPr id="19" name="TextBox 18"/>
          <p:cNvSpPr txBox="1"/>
          <p:nvPr/>
        </p:nvSpPr>
        <p:spPr>
          <a:xfrm>
            <a:off x="822960" y="4983480"/>
            <a:ext cx="10545775" cy="548640"/>
          </a:xfrm>
          <a:prstGeom prst="rect">
            <a:avLst/>
          </a:prstGeom>
          <a:noFill/>
        </p:spPr>
        <p:txBody>
          <a:bodyPr wrap="square" anchor="t" lIns="0" rIns="0" tIns="0" bIns="0">
            <a:spAutoFit/>
          </a:bodyPr>
          <a:lstStyle/>
          <a:p>
            <a:pPr algn="ctr"/>
            <a:r>
              <a:rPr sz="2400" b="1">
                <a:solidFill>
                  <a:srgbClr val="EF6B45"/>
                </a:solidFill>
                <a:latin typeface="Avenir Next"/>
              </a:rPr>
              <a:t>It cannot say a number it was not served.</a:t>
            </a:r>
          </a:p>
        </p:txBody>
      </p:sp>
      <p:sp>
        <p:nvSpPr>
          <p:cNvPr id="20" name="TextBox 19"/>
          <p:cNvSpPr txBox="1"/>
          <p:nvPr/>
        </p:nvSpPr>
        <p:spPr>
          <a:xfrm>
            <a:off x="822960" y="5806440"/>
            <a:ext cx="10545775" cy="457200"/>
          </a:xfrm>
          <a:prstGeom prst="rect">
            <a:avLst/>
          </a:prstGeom>
          <a:noFill/>
        </p:spPr>
        <p:txBody>
          <a:bodyPr wrap="square" anchor="t" lIns="0" rIns="0" tIns="0" bIns="0">
            <a:spAutoFit/>
          </a:bodyPr>
          <a:lstStyle/>
          <a:p>
            <a:pPr algn="ctr"/>
            <a:r>
              <a:rPr sz="1500" b="0">
                <a:solidFill>
                  <a:srgbClr val="6B6058"/>
                </a:solidFill>
                <a:latin typeface="Avenir Next"/>
              </a:rPr>
              <a:t>Asked if it is an AI, it says yes. </a:t>
            </a:r>
            <a:r>
              <a:rPr sz="1500" b="1">
                <a:solidFill>
                  <a:srgbClr val="1A1410"/>
                </a:solidFill>
                <a:latin typeface="Avenir Next"/>
              </a:rPr>
              <a:t>Every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822960" y="457200"/>
            <a:ext cx="9144000" cy="274320"/>
          </a:xfrm>
          <a:prstGeom prst="rect">
            <a:avLst/>
          </a:prstGeom>
          <a:noFill/>
        </p:spPr>
        <p:txBody>
          <a:bodyPr wrap="square" anchor="t" lIns="0" rIns="0" tIns="0" bIns="0">
            <a:spAutoFit/>
          </a:bodyPr>
          <a:lstStyle/>
          <a:p>
            <a:pPr algn="l"/>
            <a:r>
              <a:rPr sz="1100" b="1" spc="220">
                <a:solidFill>
                  <a:srgbClr val="6B6058"/>
                </a:solidFill>
                <a:latin typeface="Avenir Next"/>
              </a:rPr>
              <a:t>WATCH IT WORK</a:t>
            </a:r>
          </a:p>
        </p:txBody>
      </p:sp>
      <p:sp>
        <p:nvSpPr>
          <p:cNvPr id="4" name="TextBox 3"/>
          <p:cNvSpPr txBox="1"/>
          <p:nvPr/>
        </p:nvSpPr>
        <p:spPr>
          <a:xfrm>
            <a:off x="822960" y="786384"/>
            <a:ext cx="10515600" cy="1207008"/>
          </a:xfrm>
          <a:prstGeom prst="rect">
            <a:avLst/>
          </a:prstGeom>
          <a:noFill/>
        </p:spPr>
        <p:txBody>
          <a:bodyPr wrap="square" anchor="t" lIns="0" rIns="0" tIns="0" bIns="0">
            <a:spAutoFit/>
          </a:bodyPr>
          <a:lstStyle/>
          <a:p>
            <a:pPr algn="l">
              <a:lnSpc>
                <a:spcPct val="102000"/>
              </a:lnSpc>
            </a:pPr>
            <a:r>
              <a:rPr sz="3400" b="1">
                <a:solidFill>
                  <a:srgbClr val="1A1410"/>
                </a:solidFill>
                <a:latin typeface="Avenir Next"/>
              </a:rPr>
              <a:t>Watch the price move.</a:t>
            </a:r>
          </a:p>
        </p:txBody>
      </p:sp>
      <p:sp>
        <p:nvSpPr>
          <p:cNvPr id="5" name="TextBox 4"/>
          <p:cNvSpPr txBox="1"/>
          <p:nvPr/>
        </p:nvSpPr>
        <p:spPr>
          <a:xfrm>
            <a:off x="868680" y="1444752"/>
            <a:ext cx="2514600" cy="640080"/>
          </a:xfrm>
          <a:prstGeom prst="rect">
            <a:avLst/>
          </a:prstGeom>
          <a:noFill/>
        </p:spPr>
        <p:txBody>
          <a:bodyPr wrap="square" anchor="ctr" lIns="0" rIns="0" tIns="0" bIns="0">
            <a:spAutoFit/>
          </a:bodyPr>
          <a:lstStyle/>
          <a:p>
            <a:pPr algn="l"/>
            <a:r>
              <a:rPr sz="3700" b="1">
                <a:solidFill>
                  <a:srgbClr val="1A1410"/>
                </a:solidFill>
                <a:latin typeface="Menlo"/>
              </a:rPr>
              <a:t>$4,287</a:t>
            </a:r>
          </a:p>
        </p:txBody>
      </p:sp>
      <p:cxnSp>
        <p:nvCxnSpPr>
          <p:cNvPr id="6" name="Connector 5"/>
          <p:cNvCxnSpPr/>
          <p:nvPr/>
        </p:nvCxnSpPr>
        <p:spPr>
          <a:xfrm>
            <a:off x="2606039" y="1755648"/>
            <a:ext cx="950976" cy="237744"/>
          </a:xfrm>
          <a:prstGeom prst="line">
            <a:avLst/>
          </a:prstGeom>
          <a:ln w="17780">
            <a:solidFill>
              <a:srgbClr val="6B6058"/>
            </a:solidFill>
            <a:tailEnd type="triangle" w="med" len="med"/>
          </a:ln>
          <a:effectLst/>
        </p:spPr>
      </p:cxnSp>
      <p:sp>
        <p:nvSpPr>
          <p:cNvPr id="7" name="TextBox 6"/>
          <p:cNvSpPr txBox="1"/>
          <p:nvPr/>
        </p:nvSpPr>
        <p:spPr>
          <a:xfrm>
            <a:off x="3630168" y="1682496"/>
            <a:ext cx="2514600" cy="640080"/>
          </a:xfrm>
          <a:prstGeom prst="rect">
            <a:avLst/>
          </a:prstGeom>
          <a:noFill/>
        </p:spPr>
        <p:txBody>
          <a:bodyPr wrap="square" anchor="ctr" lIns="0" rIns="0" tIns="0" bIns="0">
            <a:spAutoFit/>
          </a:bodyPr>
          <a:lstStyle/>
          <a:p>
            <a:pPr algn="l"/>
            <a:r>
              <a:rPr sz="3700" b="1">
                <a:solidFill>
                  <a:srgbClr val="1A1410"/>
                </a:solidFill>
                <a:latin typeface="Menlo"/>
              </a:rPr>
              <a:t>$3,875</a:t>
            </a:r>
          </a:p>
        </p:txBody>
      </p:sp>
      <p:cxnSp>
        <p:nvCxnSpPr>
          <p:cNvPr id="8" name="Connector 7"/>
          <p:cNvCxnSpPr/>
          <p:nvPr/>
        </p:nvCxnSpPr>
        <p:spPr>
          <a:xfrm>
            <a:off x="5367527" y="1993392"/>
            <a:ext cx="950977" cy="237744"/>
          </a:xfrm>
          <a:prstGeom prst="line">
            <a:avLst/>
          </a:prstGeom>
          <a:ln w="17780">
            <a:solidFill>
              <a:srgbClr val="6B6058"/>
            </a:solidFill>
            <a:tailEnd type="triangle" w="med" len="med"/>
          </a:ln>
          <a:effectLst/>
        </p:spPr>
      </p:cxnSp>
      <p:sp>
        <p:nvSpPr>
          <p:cNvPr id="9" name="TextBox 8"/>
          <p:cNvSpPr txBox="1"/>
          <p:nvPr/>
        </p:nvSpPr>
        <p:spPr>
          <a:xfrm>
            <a:off x="6391656" y="1920240"/>
            <a:ext cx="2514600" cy="640080"/>
          </a:xfrm>
          <a:prstGeom prst="rect">
            <a:avLst/>
          </a:prstGeom>
          <a:noFill/>
        </p:spPr>
        <p:txBody>
          <a:bodyPr wrap="square" anchor="ctr" lIns="0" rIns="0" tIns="0" bIns="0">
            <a:spAutoFit/>
          </a:bodyPr>
          <a:lstStyle/>
          <a:p>
            <a:pPr algn="l"/>
            <a:r>
              <a:rPr sz="3700" b="1">
                <a:solidFill>
                  <a:srgbClr val="1A1410"/>
                </a:solidFill>
                <a:latin typeface="Menlo"/>
              </a:rPr>
              <a:t>$2,400</a:t>
            </a:r>
          </a:p>
        </p:txBody>
      </p:sp>
      <p:cxnSp>
        <p:nvCxnSpPr>
          <p:cNvPr id="10" name="Connector 9"/>
          <p:cNvCxnSpPr/>
          <p:nvPr/>
        </p:nvCxnSpPr>
        <p:spPr>
          <a:xfrm>
            <a:off x="8129016" y="2231136"/>
            <a:ext cx="950976" cy="237743"/>
          </a:xfrm>
          <a:prstGeom prst="line">
            <a:avLst/>
          </a:prstGeom>
          <a:ln w="17780">
            <a:solidFill>
              <a:srgbClr val="6B6058"/>
            </a:solidFill>
            <a:tailEnd type="triangle" w="med" len="med"/>
          </a:ln>
          <a:effectLst/>
        </p:spPr>
      </p:cxnSp>
      <p:sp>
        <p:nvSpPr>
          <p:cNvPr id="11" name="TextBox 10"/>
          <p:cNvSpPr txBox="1"/>
          <p:nvPr/>
        </p:nvSpPr>
        <p:spPr>
          <a:xfrm>
            <a:off x="9153144" y="2157984"/>
            <a:ext cx="2514600" cy="640080"/>
          </a:xfrm>
          <a:prstGeom prst="rect">
            <a:avLst/>
          </a:prstGeom>
          <a:noFill/>
        </p:spPr>
        <p:txBody>
          <a:bodyPr wrap="square" anchor="ctr" lIns="0" rIns="0" tIns="0" bIns="0">
            <a:spAutoFit/>
          </a:bodyPr>
          <a:lstStyle/>
          <a:p>
            <a:pPr algn="l"/>
            <a:r>
              <a:rPr sz="3700" b="1">
                <a:solidFill>
                  <a:srgbClr val="EF6B45"/>
                </a:solidFill>
                <a:latin typeface="Menlo"/>
              </a:rPr>
              <a:t>$1,650</a:t>
            </a:r>
          </a:p>
        </p:txBody>
      </p:sp>
      <p:sp>
        <p:nvSpPr>
          <p:cNvPr id="12" name="TextBox 11"/>
          <p:cNvSpPr txBox="1"/>
          <p:nvPr/>
        </p:nvSpPr>
        <p:spPr>
          <a:xfrm>
            <a:off x="1828800" y="2724912"/>
            <a:ext cx="2651760" cy="274320"/>
          </a:xfrm>
          <a:prstGeom prst="rect">
            <a:avLst/>
          </a:prstGeom>
          <a:noFill/>
        </p:spPr>
        <p:txBody>
          <a:bodyPr wrap="square" anchor="t" lIns="0" rIns="0" tIns="0" bIns="0">
            <a:spAutoFit/>
          </a:bodyPr>
          <a:lstStyle/>
          <a:p>
            <a:pPr algn="ctr"/>
            <a:r>
              <a:rPr sz="1000" b="0">
                <a:solidFill>
                  <a:srgbClr val="6B6058"/>
                </a:solidFill>
                <a:latin typeface="Menlo"/>
              </a:rPr>
              <a:t>duplicate removed</a:t>
            </a:r>
          </a:p>
        </p:txBody>
      </p:sp>
      <p:sp>
        <p:nvSpPr>
          <p:cNvPr id="13" name="TextBox 12"/>
          <p:cNvSpPr txBox="1"/>
          <p:nvPr/>
        </p:nvSpPr>
        <p:spPr>
          <a:xfrm>
            <a:off x="4590288" y="2724912"/>
            <a:ext cx="2651760" cy="274320"/>
          </a:xfrm>
          <a:prstGeom prst="rect">
            <a:avLst/>
          </a:prstGeom>
          <a:noFill/>
        </p:spPr>
        <p:txBody>
          <a:bodyPr wrap="square" anchor="t" lIns="0" rIns="0" tIns="0" bIns="0">
            <a:spAutoFit/>
          </a:bodyPr>
          <a:lstStyle/>
          <a:p>
            <a:pPr algn="ctr"/>
            <a:r>
              <a:rPr sz="1000" b="0">
                <a:solidFill>
                  <a:srgbClr val="6B6058"/>
                </a:solidFill>
                <a:latin typeface="Menlo"/>
              </a:rPr>
              <a:t>benchmark cited</a:t>
            </a:r>
          </a:p>
        </p:txBody>
      </p:sp>
      <p:sp>
        <p:nvSpPr>
          <p:cNvPr id="14" name="TextBox 13"/>
          <p:cNvSpPr txBox="1"/>
          <p:nvPr/>
        </p:nvSpPr>
        <p:spPr>
          <a:xfrm>
            <a:off x="7351776" y="2724912"/>
            <a:ext cx="2651760" cy="274320"/>
          </a:xfrm>
          <a:prstGeom prst="rect">
            <a:avLst/>
          </a:prstGeom>
          <a:noFill/>
        </p:spPr>
        <p:txBody>
          <a:bodyPr wrap="square" anchor="t" lIns="0" rIns="0" tIns="0" bIns="0">
            <a:spAutoFit/>
          </a:bodyPr>
          <a:lstStyle/>
          <a:p>
            <a:pPr algn="ctr"/>
            <a:r>
              <a:rPr sz="1000" b="0">
                <a:solidFill>
                  <a:srgbClr val="6B6058"/>
                </a:solidFill>
                <a:latin typeface="Menlo"/>
              </a:rPr>
              <a:t>settled under the ceiling</a:t>
            </a:r>
          </a:p>
        </p:txBody>
      </p:sp>
      <p:sp>
        <p:nvSpPr>
          <p:cNvPr id="15" name="TextBox 14"/>
          <p:cNvSpPr txBox="1"/>
          <p:nvPr/>
        </p:nvSpPr>
        <p:spPr>
          <a:xfrm>
            <a:off x="822960" y="3127248"/>
            <a:ext cx="5166360" cy="228600"/>
          </a:xfrm>
          <a:prstGeom prst="rect">
            <a:avLst/>
          </a:prstGeom>
          <a:noFill/>
        </p:spPr>
        <p:txBody>
          <a:bodyPr wrap="square" anchor="t" lIns="0" rIns="0" tIns="0" bIns="0">
            <a:spAutoFit/>
          </a:bodyPr>
          <a:lstStyle/>
          <a:p>
            <a:pPr algn="l"/>
            <a:r>
              <a:rPr sz="950" b="1" spc="160">
                <a:solidFill>
                  <a:srgbClr val="6B6058"/>
                </a:solidFill>
                <a:latin typeface="Avenir Next"/>
              </a:rPr>
              <a:t>WAR ROOM · LIVE</a:t>
            </a:r>
          </a:p>
        </p:txBody>
      </p:sp>
      <p:sp>
        <p:nvSpPr>
          <p:cNvPr id="16" name="TextBox 15"/>
          <p:cNvSpPr txBox="1"/>
          <p:nvPr/>
        </p:nvSpPr>
        <p:spPr>
          <a:xfrm>
            <a:off x="6199632" y="3127248"/>
            <a:ext cx="5166360" cy="228600"/>
          </a:xfrm>
          <a:prstGeom prst="rect">
            <a:avLst/>
          </a:prstGeom>
          <a:noFill/>
        </p:spPr>
        <p:txBody>
          <a:bodyPr wrap="square" anchor="t" lIns="0" rIns="0" tIns="0" bIns="0">
            <a:spAutoFit/>
          </a:bodyPr>
          <a:lstStyle/>
          <a:p>
            <a:pPr algn="l"/>
            <a:r>
              <a:rPr sz="950" b="1" spc="160">
                <a:solidFill>
                  <a:srgbClr val="6B6058"/>
                </a:solidFill>
                <a:latin typeface="Avenir Next"/>
              </a:rPr>
              <a:t>RANKED EVIDENCE REPORT</a:t>
            </a:r>
          </a:p>
        </p:txBody>
      </p:sp>
      <p:pic>
        <p:nvPicPr>
          <p:cNvPr id="17" name="Picture 16" descr="warroom.png"/>
          <p:cNvPicPr>
            <a:picLocks noChangeAspect="1"/>
          </p:cNvPicPr>
          <p:nvPr/>
        </p:nvPicPr>
        <p:blipFill>
          <a:blip r:embed="rId2"/>
          <a:stretch>
            <a:fillRect/>
          </a:stretch>
        </p:blipFill>
        <p:spPr>
          <a:xfrm>
            <a:off x="822960" y="3346704"/>
            <a:ext cx="5166360" cy="2807208"/>
          </a:xfrm>
          <a:prstGeom prst="rect">
            <a:avLst/>
          </a:prstGeom>
          <a:ln w="15875">
            <a:solidFill>
              <a:srgbClr val="E8DDD3"/>
            </a:solidFill>
          </a:ln>
          <a:effectLst/>
        </p:spPr>
      </p:pic>
      <p:pic>
        <p:nvPicPr>
          <p:cNvPr id="18" name="Picture 17" descr="report.png"/>
          <p:cNvPicPr>
            <a:picLocks noChangeAspect="1"/>
          </p:cNvPicPr>
          <p:nvPr/>
        </p:nvPicPr>
        <p:blipFill>
          <a:blip r:embed="rId3"/>
          <a:stretch>
            <a:fillRect/>
          </a:stretch>
        </p:blipFill>
        <p:spPr>
          <a:xfrm>
            <a:off x="6199632" y="3346704"/>
            <a:ext cx="5166360" cy="2807208"/>
          </a:xfrm>
          <a:prstGeom prst="rect">
            <a:avLst/>
          </a:prstGeom>
          <a:ln w="15875">
            <a:solidFill>
              <a:srgbClr val="E8DDD3"/>
            </a:solidFill>
          </a:ln>
          <a:effectLst/>
        </p:spPr>
      </p:pic>
      <p:sp>
        <p:nvSpPr>
          <p:cNvPr id="19" name="TextBox 18"/>
          <p:cNvSpPr txBox="1"/>
          <p:nvPr/>
        </p:nvSpPr>
        <p:spPr>
          <a:xfrm>
            <a:off x="822960" y="6327648"/>
            <a:ext cx="10607040" cy="274320"/>
          </a:xfrm>
          <a:prstGeom prst="rect">
            <a:avLst/>
          </a:prstGeom>
          <a:noFill/>
        </p:spPr>
        <p:txBody>
          <a:bodyPr wrap="square" anchor="t" lIns="0" rIns="0" tIns="0" bIns="0">
            <a:spAutoFit/>
          </a:bodyPr>
          <a:lstStyle/>
          <a:p>
            <a:pPr algn="l"/>
            <a:r>
              <a:rPr sz="1050" b="1">
                <a:solidFill>
                  <a:srgbClr val="1A1410"/>
                </a:solidFill>
                <a:latin typeface="Avenir Next"/>
              </a:rPr>
              <a:t>Three counterparty styles:  </a:t>
            </a:r>
            <a:r>
              <a:rPr sz="1050" b="0">
                <a:solidFill>
                  <a:srgbClr val="6B6058"/>
                </a:solidFill>
                <a:latin typeface="Avenir Next"/>
              </a:rPr>
              <a:t>stonewall + hangup → documented decline   ·   policy-citer → charity app started   ·   collections → $980 → $392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txBody>
          <a:bodyPr rtlCol="0" anchor="ctr"/>
          <a:lstStyle/>
          <a:p>
            <a:pPr algn="ctr"/>
          </a:p>
        </p:txBody>
      </p:sp>
      <p:sp>
        <p:nvSpPr>
          <p:cNvPr id="3" name="TextBox 2"/>
          <p:cNvSpPr txBox="1"/>
          <p:nvPr/>
        </p:nvSpPr>
        <p:spPr>
          <a:xfrm>
            <a:off x="822960" y="548640"/>
            <a:ext cx="9144000" cy="274320"/>
          </a:xfrm>
          <a:prstGeom prst="rect">
            <a:avLst/>
          </a:prstGeom>
          <a:noFill/>
        </p:spPr>
        <p:txBody>
          <a:bodyPr wrap="square" anchor="t" lIns="0" rIns="0" tIns="0" bIns="0">
            <a:spAutoFit/>
          </a:bodyPr>
          <a:lstStyle/>
          <a:p>
            <a:pPr algn="l"/>
            <a:r>
              <a:rPr sz="1100" b="1" spc="220">
                <a:solidFill>
                  <a:srgbClr val="6B6058"/>
                </a:solidFill>
                <a:latin typeface="Avenir Next"/>
              </a:rPr>
              <a:t>ONE CONFIG, ANY MARKET</a:t>
            </a:r>
          </a:p>
        </p:txBody>
      </p:sp>
      <p:sp>
        <p:nvSpPr>
          <p:cNvPr id="4" name="TextBox 3"/>
          <p:cNvSpPr txBox="1"/>
          <p:nvPr/>
        </p:nvSpPr>
        <p:spPr>
          <a:xfrm>
            <a:off x="822960" y="896112"/>
            <a:ext cx="10515600" cy="1207008"/>
          </a:xfrm>
          <a:prstGeom prst="rect">
            <a:avLst/>
          </a:prstGeom>
          <a:noFill/>
        </p:spPr>
        <p:txBody>
          <a:bodyPr wrap="square" anchor="t" lIns="0" rIns="0" tIns="0" bIns="0">
            <a:spAutoFit/>
          </a:bodyPr>
          <a:lstStyle/>
          <a:p>
            <a:pPr algn="l">
              <a:lnSpc>
                <a:spcPct val="102000"/>
              </a:lnSpc>
            </a:pPr>
            <a:r>
              <a:rPr sz="3400" b="1">
                <a:solidFill>
                  <a:srgbClr val="1A1410"/>
                </a:solidFill>
                <a:latin typeface="Avenir Next"/>
              </a:rPr>
              <a:t>One config file is a new market.</a:t>
            </a:r>
          </a:p>
        </p:txBody>
      </p:sp>
      <p:sp>
        <p:nvSpPr>
          <p:cNvPr id="5" name="Rounded Rectangle 4"/>
          <p:cNvSpPr/>
          <p:nvPr/>
        </p:nvSpPr>
        <p:spPr>
          <a:xfrm>
            <a:off x="822960" y="2011680"/>
            <a:ext cx="5120640" cy="2788920"/>
          </a:xfrm>
          <a:prstGeom prst="roundRect">
            <a:avLst>
              <a:gd name="adj" fmla="val 6000"/>
            </a:avLst>
          </a:prstGeom>
          <a:solidFill>
            <a:srgbClr val="221C18"/>
          </a:solidFill>
          <a:ln>
            <a:noFill/>
          </a:ln>
          <a:effectLst/>
        </p:spPr>
        <p:txBody>
          <a:bodyPr rtlCol="0" anchor="ctr"/>
          <a:lstStyle/>
          <a:p>
            <a:pPr algn="ctr"/>
          </a:p>
        </p:txBody>
      </p:sp>
      <p:sp>
        <p:nvSpPr>
          <p:cNvPr id="6" name="TextBox 5"/>
          <p:cNvSpPr txBox="1"/>
          <p:nvPr/>
        </p:nvSpPr>
        <p:spPr>
          <a:xfrm>
            <a:off x="1078992" y="2194560"/>
            <a:ext cx="4663440" cy="274320"/>
          </a:xfrm>
          <a:prstGeom prst="rect">
            <a:avLst/>
          </a:prstGeom>
          <a:noFill/>
        </p:spPr>
        <p:txBody>
          <a:bodyPr wrap="square" anchor="t" lIns="0" rIns="0" tIns="0" bIns="0">
            <a:spAutoFit/>
          </a:bodyPr>
          <a:lstStyle/>
          <a:p>
            <a:pPr algn="l"/>
            <a:r>
              <a:rPr sz="1150" b="1">
                <a:solidFill>
                  <a:srgbClr val="C98A2E"/>
                </a:solidFill>
                <a:latin typeface="Menlo"/>
              </a:rPr>
              <a:t>config/verticals/medical_bills.yaml</a:t>
            </a:r>
          </a:p>
        </p:txBody>
      </p:sp>
      <p:sp>
        <p:nvSpPr>
          <p:cNvPr id="7" name="TextBox 6"/>
          <p:cNvSpPr txBox="1"/>
          <p:nvPr/>
        </p:nvSpPr>
        <p:spPr>
          <a:xfrm>
            <a:off x="1078992" y="2606040"/>
            <a:ext cx="4663440" cy="2103120"/>
          </a:xfrm>
          <a:prstGeom prst="rect">
            <a:avLst/>
          </a:prstGeom>
          <a:noFill/>
        </p:spPr>
        <p:txBody>
          <a:bodyPr wrap="square" anchor="t" lIns="0" rIns="0" tIns="0" bIns="0">
            <a:spAutoFit/>
          </a:bodyPr>
          <a:lstStyle/>
          <a:p>
            <a:pPr algn="l">
              <a:lnSpc>
                <a:spcPct val="122000"/>
              </a:lnSpc>
            </a:pPr>
            <a:r>
              <a:rPr sz="1050" b="0">
                <a:solidFill>
                  <a:srgbClr val="F5F1EC"/>
                </a:solidFill>
                <a:latin typeface="Menlo"/>
              </a:rPr>
              <a:t>vertical: medical_bills</a:t>
            </a:r>
          </a:p>
          <a:p>
            <a:pPr algn="l">
              <a:lnSpc>
                <a:spcPct val="122000"/>
              </a:lnSpc>
            </a:pPr>
            <a:r>
              <a:rPr sz="1050" b="0">
                <a:solidFill>
                  <a:srgbClr val="F5F1EC"/>
                </a:solidFill>
                <a:latin typeface="Menlo"/>
              </a:rPr>
              <a:t>red_flags:</a:t>
            </a:r>
          </a:p>
          <a:p>
            <a:pPr algn="l">
              <a:lnSpc>
                <a:spcPct val="122000"/>
              </a:lnSpc>
            </a:pPr>
            <a:r>
              <a:rPr sz="1050" b="0">
                <a:solidFill>
                  <a:srgbClr val="F5F1EC"/>
                </a:solidFill>
                <a:latin typeface="Menlo"/>
              </a:rPr>
              <a:t>  duplicate: {match_on: [cpt, date_of_service]}</a:t>
            </a:r>
          </a:p>
          <a:p>
            <a:pPr algn="l">
              <a:lnSpc>
                <a:spcPct val="122000"/>
              </a:lnSpc>
            </a:pPr>
            <a:r>
              <a:rPr sz="1050" b="0">
                <a:solidFill>
                  <a:srgbClr val="F5F1EC"/>
                </a:solidFill>
                <a:latin typeface="Menlo"/>
              </a:rPr>
              <a:t>  unbundle:  {ncci_table: seed/ncci_pairs.json}</a:t>
            </a:r>
          </a:p>
          <a:p>
            <a:pPr algn="l">
              <a:lnSpc>
                <a:spcPct val="122000"/>
              </a:lnSpc>
            </a:pPr>
            <a:r>
              <a:rPr sz="1050" b="0">
                <a:solidFill>
                  <a:srgbClr val="F5F1EC"/>
                </a:solidFill>
                <a:latin typeface="Menlo"/>
              </a:rPr>
              <a:t>benchmark: {band_low: 1.5, band_high: 2.5}</a:t>
            </a:r>
          </a:p>
          <a:p>
            <a:pPr algn="l">
              <a:lnSpc>
                <a:spcPct val="122000"/>
              </a:lnSpc>
            </a:pPr>
            <a:r>
              <a:rPr sz="1050" b="0">
                <a:solidFill>
                  <a:srgbClr val="F5F1EC"/>
                </a:solidFill>
                <a:latin typeface="Menlo"/>
              </a:rPr>
              <a:t>ladder:</a:t>
            </a:r>
          </a:p>
          <a:p>
            <a:pPr algn="l">
              <a:lnSpc>
                <a:spcPct val="122000"/>
              </a:lnSpc>
            </a:pPr>
            <a:r>
              <a:rPr sz="1050" b="0">
                <a:solidFill>
                  <a:srgbClr val="F5F1EC"/>
                </a:solidFill>
                <a:latin typeface="Menlo"/>
              </a:rPr>
              <a:t>  provider: [open_and_hold_account,</a:t>
            </a:r>
          </a:p>
          <a:p>
            <a:pPr algn="l">
              <a:lnSpc>
                <a:spcPct val="122000"/>
              </a:lnSpc>
            </a:pPr>
            <a:r>
              <a:rPr sz="1050" b="0">
                <a:solidFill>
                  <a:srgbClr val="F5F1EC"/>
                </a:solidFill>
                <a:latin typeface="Menlo"/>
              </a:rPr>
              <a:t>    reach_authority, line_item_disputes]</a:t>
            </a:r>
          </a:p>
        </p:txBody>
      </p:sp>
      <p:sp>
        <p:nvSpPr>
          <p:cNvPr id="8" name="Rounded Rectangle 7"/>
          <p:cNvSpPr/>
          <p:nvPr/>
        </p:nvSpPr>
        <p:spPr>
          <a:xfrm>
            <a:off x="6245352" y="2011680"/>
            <a:ext cx="5120640" cy="2788920"/>
          </a:xfrm>
          <a:prstGeom prst="roundRect">
            <a:avLst>
              <a:gd name="adj" fmla="val 6000"/>
            </a:avLst>
          </a:prstGeom>
          <a:solidFill>
            <a:srgbClr val="221C18"/>
          </a:solidFill>
          <a:ln>
            <a:noFill/>
          </a:ln>
          <a:effectLst/>
        </p:spPr>
        <p:txBody>
          <a:bodyPr rtlCol="0" anchor="ctr"/>
          <a:lstStyle/>
          <a:p>
            <a:pPr algn="ctr"/>
          </a:p>
        </p:txBody>
      </p:sp>
      <p:sp>
        <p:nvSpPr>
          <p:cNvPr id="9" name="TextBox 8"/>
          <p:cNvSpPr txBox="1"/>
          <p:nvPr/>
        </p:nvSpPr>
        <p:spPr>
          <a:xfrm>
            <a:off x="6501384" y="2194560"/>
            <a:ext cx="4663440" cy="274320"/>
          </a:xfrm>
          <a:prstGeom prst="rect">
            <a:avLst/>
          </a:prstGeom>
          <a:noFill/>
        </p:spPr>
        <p:txBody>
          <a:bodyPr wrap="square" anchor="t" lIns="0" rIns="0" tIns="0" bIns="0">
            <a:spAutoFit/>
          </a:bodyPr>
          <a:lstStyle/>
          <a:p>
            <a:pPr algn="l"/>
            <a:r>
              <a:rPr sz="1150" b="1">
                <a:solidFill>
                  <a:srgbClr val="C98A2E"/>
                </a:solidFill>
                <a:latin typeface="Menlo"/>
              </a:rPr>
              <a:t>config/verticals/moving.yaml</a:t>
            </a:r>
          </a:p>
        </p:txBody>
      </p:sp>
      <p:sp>
        <p:nvSpPr>
          <p:cNvPr id="10" name="TextBox 9"/>
          <p:cNvSpPr txBox="1"/>
          <p:nvPr/>
        </p:nvSpPr>
        <p:spPr>
          <a:xfrm>
            <a:off x="6501384" y="2606040"/>
            <a:ext cx="4663440" cy="2103120"/>
          </a:xfrm>
          <a:prstGeom prst="rect">
            <a:avLst/>
          </a:prstGeom>
          <a:noFill/>
        </p:spPr>
        <p:txBody>
          <a:bodyPr wrap="square" anchor="t" lIns="0" rIns="0" tIns="0" bIns="0">
            <a:spAutoFit/>
          </a:bodyPr>
          <a:lstStyle/>
          <a:p>
            <a:pPr algn="l">
              <a:lnSpc>
                <a:spcPct val="122000"/>
              </a:lnSpc>
            </a:pPr>
            <a:r>
              <a:rPr sz="1050" b="0">
                <a:solidFill>
                  <a:srgbClr val="F5F1EC"/>
                </a:solidFill>
                <a:latin typeface="Menlo"/>
              </a:rPr>
              <a:t>vertical: moving</a:t>
            </a:r>
          </a:p>
          <a:p>
            <a:pPr algn="l">
              <a:lnSpc>
                <a:spcPct val="122000"/>
              </a:lnSpc>
            </a:pPr>
            <a:r>
              <a:rPr sz="1050" b="0">
                <a:solidFill>
                  <a:srgbClr val="F5F1EC"/>
                </a:solidFill>
                <a:latin typeface="Menlo"/>
              </a:rPr>
              <a:t>red_flags:</a:t>
            </a:r>
          </a:p>
          <a:p>
            <a:pPr algn="l">
              <a:lnSpc>
                <a:spcPct val="122000"/>
              </a:lnSpc>
            </a:pPr>
            <a:r>
              <a:rPr sz="1050" b="0">
                <a:solidFill>
                  <a:srgbClr val="F5F1EC"/>
                </a:solidFill>
                <a:latin typeface="Menlo"/>
              </a:rPr>
              <a:t>  lowball: {flag_below_market_pct: 30}</a:t>
            </a:r>
          </a:p>
          <a:p>
            <a:pPr algn="l">
              <a:lnSpc>
                <a:spcPct val="122000"/>
              </a:lnSpc>
            </a:pPr>
            <a:r>
              <a:rPr sz="1050" b="0">
                <a:solidFill>
                  <a:srgbClr val="F5F1EC"/>
                </a:solidFill>
                <a:latin typeface="Menlo"/>
              </a:rPr>
              <a:t>benchmark: {sources: [fmcsa, movebuddha]}</a:t>
            </a:r>
          </a:p>
          <a:p>
            <a:pPr algn="l">
              <a:lnSpc>
                <a:spcPct val="122000"/>
              </a:lnSpc>
            </a:pPr>
            <a:r>
              <a:rPr sz="1050" b="0">
                <a:solidFill>
                  <a:srgbClr val="F5F1EC"/>
                </a:solidFill>
                <a:latin typeface="Menlo"/>
              </a:rPr>
              <a:t>ladder:</a:t>
            </a:r>
          </a:p>
          <a:p>
            <a:pPr algn="l">
              <a:lnSpc>
                <a:spcPct val="122000"/>
              </a:lnSpc>
            </a:pPr>
            <a:r>
              <a:rPr sz="1050" b="0">
                <a:solidFill>
                  <a:srgbClr val="F5F1EC"/>
                </a:solidFill>
                <a:latin typeface="Menlo"/>
              </a:rPr>
              <a:t>  default: [describe_job_verbatim,</a:t>
            </a:r>
          </a:p>
          <a:p>
            <a:pPr algn="l">
              <a:lnSpc>
                <a:spcPct val="122000"/>
              </a:lnSpc>
            </a:pPr>
            <a:r>
              <a:rPr sz="1050" b="0">
                <a:solidFill>
                  <a:srgbClr val="F5F1EC"/>
                </a:solidFill>
                <a:latin typeface="Menlo"/>
              </a:rPr>
              <a:t>    itemized_quote_ask, competing_bid_leverage]</a:t>
            </a:r>
          </a:p>
          <a:p>
            <a:pPr algn="l">
              <a:lnSpc>
                <a:spcPct val="122000"/>
              </a:lnSpc>
            </a:pPr>
            <a:r>
              <a:rPr sz="1050" b="0">
                <a:solidFill>
                  <a:srgbClr val="F5F1EC"/>
                </a:solidFill>
                <a:latin typeface="Menlo"/>
              </a:rPr>
              <a:t>personas: [hard_sell_upseller, lowballer]</a:t>
            </a:r>
          </a:p>
        </p:txBody>
      </p:sp>
      <p:sp>
        <p:nvSpPr>
          <p:cNvPr id="11" name="TextBox 10"/>
          <p:cNvSpPr txBox="1"/>
          <p:nvPr/>
        </p:nvSpPr>
        <p:spPr>
          <a:xfrm>
            <a:off x="822960" y="5029200"/>
            <a:ext cx="10607040" cy="457200"/>
          </a:xfrm>
          <a:prstGeom prst="rect">
            <a:avLst/>
          </a:prstGeom>
          <a:noFill/>
        </p:spPr>
        <p:txBody>
          <a:bodyPr wrap="square" anchor="t" lIns="0" rIns="0" tIns="0" bIns="0">
            <a:spAutoFit/>
          </a:bodyPr>
          <a:lstStyle/>
          <a:p>
            <a:pPr algn="l"/>
            <a:r>
              <a:rPr sz="1600" b="1">
                <a:solidFill>
                  <a:srgbClr val="1A1410"/>
                </a:solidFill>
                <a:latin typeface="Avenir Next"/>
              </a:rPr>
              <a:t>Contractors, auto repair, freight: </a:t>
            </a:r>
            <a:r>
              <a:rPr sz="1600" b="0">
                <a:solidFill>
                  <a:srgbClr val="6B6058"/>
                </a:solidFill>
                <a:latin typeface="Avenir Next"/>
              </a:rPr>
              <a:t>every phone-priced market is one config file away.</a:t>
            </a:r>
          </a:p>
        </p:txBody>
      </p:sp>
      <p:sp>
        <p:nvSpPr>
          <p:cNvPr id="12" name="TextBox 11"/>
          <p:cNvSpPr txBox="1"/>
          <p:nvPr/>
        </p:nvSpPr>
        <p:spPr>
          <a:xfrm>
            <a:off x="822960" y="5806440"/>
            <a:ext cx="10545775" cy="640080"/>
          </a:xfrm>
          <a:prstGeom prst="rect">
            <a:avLst/>
          </a:prstGeom>
          <a:noFill/>
        </p:spPr>
        <p:txBody>
          <a:bodyPr wrap="square" anchor="t" lIns="0" rIns="0" tIns="0" bIns="0">
            <a:spAutoFit/>
          </a:bodyPr>
          <a:lstStyle/>
          <a:p>
            <a:pPr algn="ctr"/>
            <a:r>
              <a:rPr sz="2600" b="1">
                <a:solidFill>
                  <a:srgbClr val="1A1410"/>
                </a:solidFill>
                <a:latin typeface="Avenir Next"/>
              </a:rPr>
              <a:t>Live now. Try it:  </a:t>
            </a:r>
            <a:r>
              <a:rPr sz="2600" b="1">
                <a:solidFill>
                  <a:srgbClr val="EF6B45"/>
                </a:solidFill>
                <a:latin typeface="Menlo"/>
              </a:rPr>
              <a:t>hagglfor.me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